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5" r:id="rId9"/>
    <p:sldId id="266" r:id="rId10"/>
    <p:sldId id="267" r:id="rId11"/>
    <p:sldId id="268" r:id="rId12"/>
    <p:sldId id="269" r:id="rId13"/>
    <p:sldId id="270" r:id="rId14"/>
    <p:sldId id="271" r:id="rId15"/>
    <p:sldId id="272" r:id="rId16"/>
    <p:sldId id="273" r:id="rId17"/>
    <p:sldId id="274" r:id="rId18"/>
    <p:sldId id="275" r:id="rId19"/>
    <p:sldId id="276" r:id="rId20"/>
    <p:sldId id="277" r:id="rId21"/>
    <p:sldId id="278" r:id="rId22"/>
    <p:sldId id="279" r:id="rId23"/>
    <p:sldId id="280" r:id="rId24"/>
    <p:sldId id="281" r:id="rId25"/>
    <p:sldId id="282" r:id="rId26"/>
    <p:sldId id="283" r:id="rId27"/>
    <p:sldId id="284" r:id="rId28"/>
    <p:sldId id="285" r:id="rId29"/>
    <p:sldId id="286" r:id="rId30"/>
    <p:sldId id="287" r:id="rId31"/>
    <p:sldId id="288" r:id="rId32"/>
    <p:sldId id="289" r:id="rId33"/>
    <p:sldId id="290" r:id="rId34"/>
    <p:sldId id="291" r:id="rId35"/>
    <p:sldId id="292" r:id="rId36"/>
    <p:sldId id="293" r:id="rId37"/>
    <p:sldId id="294" r:id="rId38"/>
    <p:sldId id="295" r:id="rId39"/>
    <p:sldId id="296" r:id="rId40"/>
    <p:sldId id="297" r:id="rId41"/>
    <p:sldId id="298" r:id="rId42"/>
    <p:sldId id="299" r:id="rId43"/>
    <p:sldId id="300" r:id="rId44"/>
    <p:sldId id="301" r:id="rId45"/>
    <p:sldId id="302" r:id="rId46"/>
    <p:sldId id="303" r:id="rId47"/>
    <p:sldId id="304" r:id="rId48"/>
    <p:sldId id="305" r:id="rId49"/>
    <p:sldId id="306" r:id="rId50"/>
    <p:sldId id="307" r:id="rId51"/>
  </p:sldIdLst>
  <p:sldSz cx="9144000" cy="6858000"/>
  <p:notesSz cx="9144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howGuides="1"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4" Type="http://schemas.openxmlformats.org/officeDocument/2006/relationships/tableStyles" Target="tableStyles.xml"/><Relationship Id="rId53" Type="http://schemas.openxmlformats.org/officeDocument/2006/relationships/viewProps" Target="viewProps.xml"/><Relationship Id="rId52" Type="http://schemas.openxmlformats.org/officeDocument/2006/relationships/presProps" Target="presProps.xml"/><Relationship Id="rId51" Type="http://schemas.openxmlformats.org/officeDocument/2006/relationships/slide" Target="slides/slide49.xml"/><Relationship Id="rId50" Type="http://schemas.openxmlformats.org/officeDocument/2006/relationships/slide" Target="slides/slide48.xml"/><Relationship Id="rId5" Type="http://schemas.openxmlformats.org/officeDocument/2006/relationships/slide" Target="slides/slide3.xml"/><Relationship Id="rId49" Type="http://schemas.openxmlformats.org/officeDocument/2006/relationships/slide" Target="slides/slide47.xml"/><Relationship Id="rId48" Type="http://schemas.openxmlformats.org/officeDocument/2006/relationships/slide" Target="slides/slide46.xml"/><Relationship Id="rId47" Type="http://schemas.openxmlformats.org/officeDocument/2006/relationships/slide" Target="slides/slide45.xml"/><Relationship Id="rId46" Type="http://schemas.openxmlformats.org/officeDocument/2006/relationships/slide" Target="slides/slide44.xml"/><Relationship Id="rId45" Type="http://schemas.openxmlformats.org/officeDocument/2006/relationships/slide" Target="slides/slide43.xml"/><Relationship Id="rId44" Type="http://schemas.openxmlformats.org/officeDocument/2006/relationships/slide" Target="slides/slide42.xml"/><Relationship Id="rId43" Type="http://schemas.openxmlformats.org/officeDocument/2006/relationships/slide" Target="slides/slide41.xml"/><Relationship Id="rId42" Type="http://schemas.openxmlformats.org/officeDocument/2006/relationships/slide" Target="slides/slide40.xml"/><Relationship Id="rId41" Type="http://schemas.openxmlformats.org/officeDocument/2006/relationships/slide" Target="slides/slide39.xml"/><Relationship Id="rId40" Type="http://schemas.openxmlformats.org/officeDocument/2006/relationships/slide" Target="slides/slide38.xml"/><Relationship Id="rId4" Type="http://schemas.openxmlformats.org/officeDocument/2006/relationships/slide" Target="slides/slide2.xml"/><Relationship Id="rId39" Type="http://schemas.openxmlformats.org/officeDocument/2006/relationships/slide" Target="slides/slide37.xml"/><Relationship Id="rId38" Type="http://schemas.openxmlformats.org/officeDocument/2006/relationships/slide" Target="slides/slide36.xml"/><Relationship Id="rId37" Type="http://schemas.openxmlformats.org/officeDocument/2006/relationships/slide" Target="slides/slide35.xml"/><Relationship Id="rId36" Type="http://schemas.openxmlformats.org/officeDocument/2006/relationships/slide" Target="slides/slide34.xml"/><Relationship Id="rId35" Type="http://schemas.openxmlformats.org/officeDocument/2006/relationships/slide" Target="slides/slide33.xml"/><Relationship Id="rId34" Type="http://schemas.openxmlformats.org/officeDocument/2006/relationships/slide" Target="slides/slide32.xml"/><Relationship Id="rId33" Type="http://schemas.openxmlformats.org/officeDocument/2006/relationships/slide" Target="slides/slide31.xml"/><Relationship Id="rId32" Type="http://schemas.openxmlformats.org/officeDocument/2006/relationships/slide" Target="slides/slide30.xml"/><Relationship Id="rId31" Type="http://schemas.openxmlformats.org/officeDocument/2006/relationships/slide" Target="slides/slide29.xml"/><Relationship Id="rId30" Type="http://schemas.openxmlformats.org/officeDocument/2006/relationships/slide" Target="slides/slide28.xml"/><Relationship Id="rId3" Type="http://schemas.openxmlformats.org/officeDocument/2006/relationships/slide" Target="slides/slide1.xml"/><Relationship Id="rId29" Type="http://schemas.openxmlformats.org/officeDocument/2006/relationships/slide" Target="slides/slide27.xml"/><Relationship Id="rId28" Type="http://schemas.openxmlformats.org/officeDocument/2006/relationships/slide" Target="slides/slide26.xml"/><Relationship Id="rId27" Type="http://schemas.openxmlformats.org/officeDocument/2006/relationships/slide" Target="slides/slide25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 showMasterSp="0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535940" y="136016"/>
            <a:ext cx="8072119" cy="170878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 showMasterSp="0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000" b="0" i="0">
                <a:solidFill>
                  <a:schemeClr val="tx1"/>
                </a:solidFill>
                <a:latin typeface="Calibri" panose="020F0502020204030204"/>
                <a:cs typeface="Calibri" panose="020F0502020204030204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chemeClr val="tx1"/>
                </a:solidFill>
                <a:latin typeface="Calibri" panose="020F0502020204030204"/>
                <a:cs typeface="Calibri" panose="020F0502020204030204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 showMasterSp="0">
  <p:cSld name="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000" b="0" i="0">
                <a:solidFill>
                  <a:schemeClr val="tx1"/>
                </a:solidFill>
                <a:latin typeface="Calibri" panose="020F0502020204030204"/>
                <a:cs typeface="Calibri" panose="020F0502020204030204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 showMasterSp="0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000" b="0" i="0">
                <a:solidFill>
                  <a:schemeClr val="tx1"/>
                </a:solidFill>
                <a:latin typeface="Calibri" panose="020F0502020204030204"/>
                <a:cs typeface="Calibri" panose="020F0502020204030204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 showMasterSp="0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7" Type="http://schemas.openxmlformats.org/officeDocument/2006/relationships/theme" Target="../theme/theme1.xml"/><Relationship Id="rId6" Type="http://schemas.openxmlformats.org/officeDocument/2006/relationships/image" Target="../media/image1.png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903481" y="1430748"/>
            <a:ext cx="7031496" cy="4254709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707542" y="328040"/>
            <a:ext cx="7728915" cy="13061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000" b="0" i="0">
                <a:solidFill>
                  <a:schemeClr val="tx1"/>
                </a:solidFill>
                <a:latin typeface="Calibri" panose="020F0502020204030204"/>
                <a:cs typeface="Calibri" panose="020F0502020204030204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700887" y="1802638"/>
            <a:ext cx="7742224" cy="43180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chemeClr val="tx1"/>
                </a:solidFill>
                <a:latin typeface="Calibri" panose="020F0502020204030204"/>
                <a:cs typeface="Calibri" panose="020F0502020204030204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image" Target="../media/image11.png"/><Relationship Id="rId8" Type="http://schemas.openxmlformats.org/officeDocument/2006/relationships/image" Target="../media/image10.png"/><Relationship Id="rId7" Type="http://schemas.openxmlformats.org/officeDocument/2006/relationships/image" Target="../media/image9.png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3" Type="http://schemas.openxmlformats.org/officeDocument/2006/relationships/slideLayout" Target="../slideLayouts/slideLayout3.xml"/><Relationship Id="rId12" Type="http://schemas.openxmlformats.org/officeDocument/2006/relationships/image" Target="../media/image14.png"/><Relationship Id="rId11" Type="http://schemas.openxmlformats.org/officeDocument/2006/relationships/image" Target="../media/image13.png"/><Relationship Id="rId10" Type="http://schemas.openxmlformats.org/officeDocument/2006/relationships/image" Target="../media/image12.png"/><Relationship Id="rId1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15.jpe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16.jpe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17.jpe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18.jpe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9" Type="http://schemas.openxmlformats.org/officeDocument/2006/relationships/image" Target="../media/image27.png"/><Relationship Id="rId8" Type="http://schemas.openxmlformats.org/officeDocument/2006/relationships/image" Target="../media/image26.png"/><Relationship Id="rId7" Type="http://schemas.openxmlformats.org/officeDocument/2006/relationships/image" Target="../media/image25.png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Relationship Id="rId3" Type="http://schemas.openxmlformats.org/officeDocument/2006/relationships/image" Target="../media/image21.png"/><Relationship Id="rId21" Type="http://schemas.openxmlformats.org/officeDocument/2006/relationships/slideLayout" Target="../slideLayouts/slideLayout2.xml"/><Relationship Id="rId20" Type="http://schemas.openxmlformats.org/officeDocument/2006/relationships/image" Target="../media/image38.png"/><Relationship Id="rId2" Type="http://schemas.openxmlformats.org/officeDocument/2006/relationships/image" Target="../media/image20.png"/><Relationship Id="rId19" Type="http://schemas.openxmlformats.org/officeDocument/2006/relationships/image" Target="../media/image37.png"/><Relationship Id="rId18" Type="http://schemas.openxmlformats.org/officeDocument/2006/relationships/image" Target="../media/image36.png"/><Relationship Id="rId17" Type="http://schemas.openxmlformats.org/officeDocument/2006/relationships/image" Target="../media/image35.png"/><Relationship Id="rId16" Type="http://schemas.openxmlformats.org/officeDocument/2006/relationships/image" Target="../media/image34.png"/><Relationship Id="rId15" Type="http://schemas.openxmlformats.org/officeDocument/2006/relationships/image" Target="../media/image33.png"/><Relationship Id="rId14" Type="http://schemas.openxmlformats.org/officeDocument/2006/relationships/image" Target="../media/image32.png"/><Relationship Id="rId13" Type="http://schemas.openxmlformats.org/officeDocument/2006/relationships/image" Target="../media/image31.png"/><Relationship Id="rId12" Type="http://schemas.openxmlformats.org/officeDocument/2006/relationships/image" Target="../media/image30.png"/><Relationship Id="rId11" Type="http://schemas.openxmlformats.org/officeDocument/2006/relationships/image" Target="../media/image29.png"/><Relationship Id="rId10" Type="http://schemas.openxmlformats.org/officeDocument/2006/relationships/image" Target="../media/image28.png"/><Relationship Id="rId1" Type="http://schemas.openxmlformats.org/officeDocument/2006/relationships/image" Target="../media/image19.png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9.png"/></Relationships>
</file>

<file path=ppt/slides/_rels/slide29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2.xml"/><Relationship Id="rId6" Type="http://schemas.openxmlformats.org/officeDocument/2006/relationships/image" Target="../media/image45.png"/><Relationship Id="rId5" Type="http://schemas.openxmlformats.org/officeDocument/2006/relationships/image" Target="../media/image44.png"/><Relationship Id="rId4" Type="http://schemas.openxmlformats.org/officeDocument/2006/relationships/image" Target="../media/image43.png"/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image" Target="../media/image40.png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9" Type="http://schemas.openxmlformats.org/officeDocument/2006/relationships/image" Target="../media/image49.png"/><Relationship Id="rId8" Type="http://schemas.openxmlformats.org/officeDocument/2006/relationships/image" Target="../media/image48.png"/><Relationship Id="rId7" Type="http://schemas.openxmlformats.org/officeDocument/2006/relationships/image" Target="../media/image31.png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47.png"/><Relationship Id="rId3" Type="http://schemas.openxmlformats.org/officeDocument/2006/relationships/image" Target="../media/image46.png"/><Relationship Id="rId2" Type="http://schemas.openxmlformats.org/officeDocument/2006/relationships/image" Target="../media/image20.png"/><Relationship Id="rId16" Type="http://schemas.openxmlformats.org/officeDocument/2006/relationships/slideLayout" Target="../slideLayouts/slideLayout2.xml"/><Relationship Id="rId15" Type="http://schemas.openxmlformats.org/officeDocument/2006/relationships/image" Target="../media/image55.png"/><Relationship Id="rId14" Type="http://schemas.openxmlformats.org/officeDocument/2006/relationships/image" Target="../media/image54.png"/><Relationship Id="rId13" Type="http://schemas.openxmlformats.org/officeDocument/2006/relationships/image" Target="../media/image53.png"/><Relationship Id="rId12" Type="http://schemas.openxmlformats.org/officeDocument/2006/relationships/image" Target="../media/image52.png"/><Relationship Id="rId11" Type="http://schemas.openxmlformats.org/officeDocument/2006/relationships/image" Target="../media/image51.png"/><Relationship Id="rId10" Type="http://schemas.openxmlformats.org/officeDocument/2006/relationships/image" Target="../media/image50.png"/><Relationship Id="rId1" Type="http://schemas.openxmlformats.org/officeDocument/2006/relationships/image" Target="../media/image19.png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56.jpeg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57.jpeg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58.jpeg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9.jpeg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60.jpeg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61.jpeg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62.jpeg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63.jpeg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64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56336" y="671321"/>
            <a:ext cx="7766684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b="1" spc="-2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Introduction</a:t>
            </a:r>
            <a:r>
              <a:rPr sz="4400" b="1" spc="-7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4400" b="1" spc="-4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to</a:t>
            </a:r>
            <a:r>
              <a:rPr sz="4400" b="1" spc="-2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4400" b="1" spc="-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Machine</a:t>
            </a:r>
            <a:r>
              <a:rPr sz="4400" b="1" spc="-7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4400" b="1" spc="-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Learning</a:t>
            </a:r>
            <a:endParaRPr sz="4400">
              <a:latin typeface="Calibri" panose="020F0502020204030204"/>
              <a:cs typeface="Calibri" panose="020F0502020204030204"/>
            </a:endParaRPr>
          </a:p>
        </p:txBody>
      </p:sp>
      <p:pic>
        <p:nvPicPr>
          <p:cNvPr id="4" name="object 4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1828800" y="1729740"/>
            <a:ext cx="5486400" cy="3528059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612007" y="609676"/>
            <a:ext cx="192214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b="1" spc="-10" dirty="0">
                <a:solidFill>
                  <a:srgbClr val="001F5F"/>
                </a:solidFill>
                <a:latin typeface="Calibri" panose="020F0502020204030204"/>
                <a:cs typeface="Calibri" panose="020F0502020204030204"/>
              </a:rPr>
              <a:t>Syllabus</a:t>
            </a:r>
            <a:endParaRPr sz="44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07542" y="1842261"/>
            <a:ext cx="7458709" cy="32442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065" indent="0">
              <a:lnSpc>
                <a:spcPct val="100000"/>
              </a:lnSpc>
              <a:spcBef>
                <a:spcPts val="100"/>
              </a:spcBef>
              <a:buFont typeface="Arial MT"/>
              <a:buNone/>
              <a:tabLst>
                <a:tab pos="185420" algn="l"/>
              </a:tabLst>
            </a:pPr>
            <a:r>
              <a:rPr sz="2100" b="1" dirty="0">
                <a:latin typeface="Calibri" panose="020F0502020204030204"/>
                <a:cs typeface="Calibri" panose="020F0502020204030204"/>
              </a:rPr>
              <a:t>UNIT</a:t>
            </a:r>
            <a:r>
              <a:rPr sz="2100" b="1" spc="-50" dirty="0">
                <a:latin typeface="Calibri" panose="020F0502020204030204"/>
                <a:cs typeface="Calibri" panose="020F0502020204030204"/>
              </a:rPr>
              <a:t> </a:t>
            </a:r>
            <a:r>
              <a:rPr sz="2100" b="1" dirty="0">
                <a:latin typeface="Calibri" panose="020F0502020204030204"/>
                <a:cs typeface="Calibri" panose="020F0502020204030204"/>
              </a:rPr>
              <a:t>1</a:t>
            </a:r>
            <a:endParaRPr sz="2100" b="1">
              <a:latin typeface="Calibri" panose="020F0502020204030204"/>
              <a:cs typeface="Calibri" panose="020F0502020204030204"/>
            </a:endParaRPr>
          </a:p>
          <a:p>
            <a:pPr marL="184785" marR="5080" indent="-172720" algn="just">
              <a:lnSpc>
                <a:spcPct val="100000"/>
              </a:lnSpc>
              <a:buFont typeface="Arial MT"/>
              <a:buChar char="•"/>
              <a:tabLst>
                <a:tab pos="185420" algn="l"/>
              </a:tabLst>
            </a:pPr>
            <a:r>
              <a:rPr sz="2100" spc="-10" dirty="0">
                <a:latin typeface="Calibri" panose="020F0502020204030204"/>
                <a:cs typeface="Calibri" panose="020F0502020204030204"/>
              </a:rPr>
              <a:t>Introduction to </a:t>
            </a:r>
            <a:r>
              <a:rPr sz="2100" dirty="0">
                <a:latin typeface="Calibri" panose="020F0502020204030204"/>
                <a:cs typeface="Calibri" panose="020F0502020204030204"/>
              </a:rPr>
              <a:t>Machine Learning, </a:t>
            </a:r>
            <a:r>
              <a:rPr sz="2100" spc="-15" dirty="0">
                <a:latin typeface="Calibri" panose="020F0502020204030204"/>
                <a:cs typeface="Calibri" panose="020F0502020204030204"/>
              </a:rPr>
              <a:t>Why </a:t>
            </a:r>
            <a:r>
              <a:rPr sz="2100" dirty="0">
                <a:latin typeface="Calibri" panose="020F0502020204030204"/>
                <a:cs typeface="Calibri" panose="020F0502020204030204"/>
              </a:rPr>
              <a:t>Machine learning, </a:t>
            </a:r>
            <a:r>
              <a:rPr sz="2100" spc="-20" dirty="0">
                <a:latin typeface="Calibri" panose="020F0502020204030204"/>
                <a:cs typeface="Calibri" panose="020F0502020204030204"/>
              </a:rPr>
              <a:t>Types </a:t>
            </a:r>
            <a:r>
              <a:rPr sz="2100" spc="-5" dirty="0">
                <a:latin typeface="Calibri" panose="020F0502020204030204"/>
                <a:cs typeface="Calibri" panose="020F0502020204030204"/>
              </a:rPr>
              <a:t>of </a:t>
            </a:r>
            <a:r>
              <a:rPr sz="2100" spc="-459" dirty="0">
                <a:latin typeface="Calibri" panose="020F0502020204030204"/>
                <a:cs typeface="Calibri" panose="020F0502020204030204"/>
              </a:rPr>
              <a:t> </a:t>
            </a:r>
            <a:r>
              <a:rPr sz="2100" dirty="0">
                <a:latin typeface="Calibri" panose="020F0502020204030204"/>
                <a:cs typeface="Calibri" panose="020F0502020204030204"/>
              </a:rPr>
              <a:t>Machine</a:t>
            </a:r>
            <a:r>
              <a:rPr sz="2100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sz="2100" spc="-5" dirty="0">
                <a:latin typeface="Calibri" panose="020F0502020204030204"/>
                <a:cs typeface="Calibri" panose="020F0502020204030204"/>
              </a:rPr>
              <a:t>Learning</a:t>
            </a:r>
            <a:r>
              <a:rPr sz="2100" spc="-10" dirty="0">
                <a:latin typeface="Calibri" panose="020F0502020204030204"/>
                <a:cs typeface="Calibri" panose="020F0502020204030204"/>
              </a:rPr>
              <a:t> Problems,</a:t>
            </a:r>
            <a:r>
              <a:rPr sz="2100" spc="40" dirty="0">
                <a:latin typeface="Calibri" panose="020F0502020204030204"/>
                <a:cs typeface="Calibri" panose="020F0502020204030204"/>
              </a:rPr>
              <a:t> </a:t>
            </a:r>
            <a:r>
              <a:rPr sz="2100" spc="-5" dirty="0">
                <a:latin typeface="Calibri" panose="020F0502020204030204"/>
                <a:cs typeface="Calibri" panose="020F0502020204030204"/>
              </a:rPr>
              <a:t>Applications</a:t>
            </a:r>
            <a:r>
              <a:rPr sz="2100" spc="-10" dirty="0">
                <a:latin typeface="Calibri" panose="020F0502020204030204"/>
                <a:cs typeface="Calibri" panose="020F0502020204030204"/>
              </a:rPr>
              <a:t> </a:t>
            </a:r>
            <a:r>
              <a:rPr sz="2100" spc="-5" dirty="0">
                <a:latin typeface="Calibri" panose="020F0502020204030204"/>
                <a:cs typeface="Calibri" panose="020F0502020204030204"/>
              </a:rPr>
              <a:t>of</a:t>
            </a:r>
            <a:r>
              <a:rPr sz="2100" spc="5" dirty="0">
                <a:latin typeface="Calibri" panose="020F0502020204030204"/>
                <a:cs typeface="Calibri" panose="020F0502020204030204"/>
              </a:rPr>
              <a:t> </a:t>
            </a:r>
            <a:r>
              <a:rPr sz="2100" dirty="0">
                <a:latin typeface="Calibri" panose="020F0502020204030204"/>
                <a:cs typeface="Calibri" panose="020F0502020204030204"/>
              </a:rPr>
              <a:t>Machine</a:t>
            </a:r>
            <a:r>
              <a:rPr sz="2100" spc="-10" dirty="0">
                <a:latin typeface="Calibri" panose="020F0502020204030204"/>
                <a:cs typeface="Calibri" panose="020F0502020204030204"/>
              </a:rPr>
              <a:t> </a:t>
            </a:r>
            <a:r>
              <a:rPr sz="2100" spc="-5" dirty="0">
                <a:latin typeface="Calibri" panose="020F0502020204030204"/>
                <a:cs typeface="Calibri" panose="020F0502020204030204"/>
              </a:rPr>
              <a:t>Learning. </a:t>
            </a:r>
            <a:r>
              <a:rPr sz="2100" dirty="0">
                <a:latin typeface="Calibri" panose="020F0502020204030204"/>
                <a:cs typeface="Calibri" panose="020F0502020204030204"/>
              </a:rPr>
              <a:t> </a:t>
            </a:r>
            <a:r>
              <a:rPr sz="2100" spc="-5" dirty="0">
                <a:latin typeface="Calibri" panose="020F0502020204030204"/>
                <a:cs typeface="Calibri" panose="020F0502020204030204"/>
              </a:rPr>
              <a:t>Supervised</a:t>
            </a:r>
            <a:r>
              <a:rPr sz="2100" spc="10" dirty="0">
                <a:latin typeface="Calibri" panose="020F0502020204030204"/>
                <a:cs typeface="Calibri" panose="020F0502020204030204"/>
              </a:rPr>
              <a:t> </a:t>
            </a:r>
            <a:r>
              <a:rPr sz="2100" dirty="0">
                <a:latin typeface="Calibri" panose="020F0502020204030204"/>
                <a:cs typeface="Calibri" panose="020F0502020204030204"/>
              </a:rPr>
              <a:t>Machine Learning-</a:t>
            </a:r>
            <a:r>
              <a:rPr sz="2100" spc="-5" dirty="0">
                <a:latin typeface="Calibri" panose="020F0502020204030204"/>
                <a:cs typeface="Calibri" panose="020F0502020204030204"/>
              </a:rPr>
              <a:t> </a:t>
            </a:r>
            <a:r>
              <a:rPr sz="2100" spc="-15" dirty="0">
                <a:latin typeface="Calibri" panose="020F0502020204030204"/>
                <a:cs typeface="Calibri" panose="020F0502020204030204"/>
              </a:rPr>
              <a:t>Regression</a:t>
            </a:r>
            <a:r>
              <a:rPr sz="2100" spc="30" dirty="0">
                <a:latin typeface="Calibri" panose="020F0502020204030204"/>
                <a:cs typeface="Calibri" panose="020F0502020204030204"/>
              </a:rPr>
              <a:t> </a:t>
            </a:r>
            <a:r>
              <a:rPr sz="2100" dirty="0">
                <a:latin typeface="Calibri" panose="020F0502020204030204"/>
                <a:cs typeface="Calibri" panose="020F0502020204030204"/>
              </a:rPr>
              <a:t>and</a:t>
            </a:r>
            <a:r>
              <a:rPr sz="2100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sz="2100" spc="-5" dirty="0">
                <a:latin typeface="Calibri" panose="020F0502020204030204"/>
                <a:cs typeface="Calibri" panose="020F0502020204030204"/>
              </a:rPr>
              <a:t>Classification.</a:t>
            </a:r>
            <a:r>
              <a:rPr sz="2100" spc="35" dirty="0">
                <a:latin typeface="Calibri" panose="020F0502020204030204"/>
                <a:cs typeface="Calibri" panose="020F0502020204030204"/>
              </a:rPr>
              <a:t> </a:t>
            </a:r>
            <a:r>
              <a:rPr sz="2100" dirty="0">
                <a:latin typeface="Calibri" panose="020F0502020204030204"/>
                <a:cs typeface="Calibri" panose="020F0502020204030204"/>
              </a:rPr>
              <a:t>Binary </a:t>
            </a:r>
            <a:r>
              <a:rPr sz="2100" spc="-459" dirty="0">
                <a:latin typeface="Calibri" panose="020F0502020204030204"/>
                <a:cs typeface="Calibri" panose="020F0502020204030204"/>
              </a:rPr>
              <a:t> </a:t>
            </a:r>
            <a:r>
              <a:rPr sz="2100" spc="-20" dirty="0">
                <a:latin typeface="Calibri" panose="020F0502020204030204"/>
                <a:cs typeface="Calibri" panose="020F0502020204030204"/>
              </a:rPr>
              <a:t>Classifier,</a:t>
            </a:r>
            <a:r>
              <a:rPr sz="2100" spc="55" dirty="0">
                <a:latin typeface="Calibri" panose="020F0502020204030204"/>
                <a:cs typeface="Calibri" panose="020F0502020204030204"/>
              </a:rPr>
              <a:t> </a:t>
            </a:r>
            <a:r>
              <a:rPr sz="2100" spc="-5" dirty="0">
                <a:latin typeface="Calibri" panose="020F0502020204030204"/>
                <a:cs typeface="Calibri" panose="020F0502020204030204"/>
              </a:rPr>
              <a:t>Multiclass</a:t>
            </a:r>
            <a:r>
              <a:rPr sz="2100" spc="5" dirty="0">
                <a:latin typeface="Calibri" panose="020F0502020204030204"/>
                <a:cs typeface="Calibri" panose="020F0502020204030204"/>
              </a:rPr>
              <a:t> </a:t>
            </a:r>
            <a:r>
              <a:rPr sz="2100" spc="-5" dirty="0">
                <a:latin typeface="Calibri" panose="020F0502020204030204"/>
                <a:cs typeface="Calibri" panose="020F0502020204030204"/>
              </a:rPr>
              <a:t>Classification,</a:t>
            </a:r>
            <a:r>
              <a:rPr sz="2100" spc="40" dirty="0">
                <a:latin typeface="Calibri" panose="020F0502020204030204"/>
                <a:cs typeface="Calibri" panose="020F0502020204030204"/>
              </a:rPr>
              <a:t> </a:t>
            </a:r>
            <a:r>
              <a:rPr sz="2100" dirty="0">
                <a:latin typeface="Calibri" panose="020F0502020204030204"/>
                <a:cs typeface="Calibri" panose="020F0502020204030204"/>
              </a:rPr>
              <a:t>Multilabel</a:t>
            </a:r>
            <a:r>
              <a:rPr sz="2100" spc="-10" dirty="0">
                <a:latin typeface="Calibri" panose="020F0502020204030204"/>
                <a:cs typeface="Calibri" panose="020F0502020204030204"/>
              </a:rPr>
              <a:t> Classification. </a:t>
            </a:r>
            <a:r>
              <a:rPr sz="2100" spc="-5" dirty="0">
                <a:latin typeface="Calibri" panose="020F0502020204030204"/>
                <a:cs typeface="Calibri" panose="020F0502020204030204"/>
              </a:rPr>
              <a:t> </a:t>
            </a:r>
            <a:r>
              <a:rPr sz="2100" spc="-15" dirty="0">
                <a:latin typeface="Calibri" panose="020F0502020204030204"/>
                <a:cs typeface="Calibri" panose="020F0502020204030204"/>
              </a:rPr>
              <a:t>Performance</a:t>
            </a:r>
            <a:r>
              <a:rPr sz="2100" spc="10" dirty="0">
                <a:latin typeface="Calibri" panose="020F0502020204030204"/>
                <a:cs typeface="Calibri" panose="020F0502020204030204"/>
              </a:rPr>
              <a:t> </a:t>
            </a:r>
            <a:r>
              <a:rPr sz="2100" spc="-5" dirty="0">
                <a:latin typeface="Calibri" panose="020F0502020204030204"/>
                <a:cs typeface="Calibri" panose="020F0502020204030204"/>
              </a:rPr>
              <a:t>Measures-</a:t>
            </a:r>
            <a:r>
              <a:rPr sz="2100" spc="25" dirty="0">
                <a:latin typeface="Calibri" panose="020F0502020204030204"/>
                <a:cs typeface="Calibri" panose="020F0502020204030204"/>
              </a:rPr>
              <a:t> </a:t>
            </a:r>
            <a:r>
              <a:rPr sz="2100" spc="-10" dirty="0">
                <a:latin typeface="Calibri" panose="020F0502020204030204"/>
                <a:cs typeface="Calibri" panose="020F0502020204030204"/>
              </a:rPr>
              <a:t>Confusion</a:t>
            </a:r>
            <a:r>
              <a:rPr sz="2100" spc="30" dirty="0">
                <a:latin typeface="Calibri" panose="020F0502020204030204"/>
                <a:cs typeface="Calibri" panose="020F0502020204030204"/>
              </a:rPr>
              <a:t> </a:t>
            </a:r>
            <a:r>
              <a:rPr sz="2100" spc="-5" dirty="0">
                <a:latin typeface="Calibri" panose="020F0502020204030204"/>
                <a:cs typeface="Calibri" panose="020F0502020204030204"/>
              </a:rPr>
              <a:t>Matrix, </a:t>
            </a:r>
            <a:r>
              <a:rPr sz="2100" spc="-25" dirty="0">
                <a:latin typeface="Calibri" panose="020F0502020204030204"/>
                <a:cs typeface="Calibri" panose="020F0502020204030204"/>
              </a:rPr>
              <a:t>Accuracy,</a:t>
            </a:r>
            <a:r>
              <a:rPr sz="2100" spc="5" dirty="0">
                <a:latin typeface="Calibri" panose="020F0502020204030204"/>
                <a:cs typeface="Calibri" panose="020F0502020204030204"/>
              </a:rPr>
              <a:t> </a:t>
            </a:r>
            <a:r>
              <a:rPr sz="2100" spc="-5" dirty="0">
                <a:latin typeface="Calibri" panose="020F0502020204030204"/>
                <a:cs typeface="Calibri" panose="020F0502020204030204"/>
              </a:rPr>
              <a:t>Precision</a:t>
            </a:r>
            <a:r>
              <a:rPr sz="2100" spc="40" dirty="0">
                <a:latin typeface="Calibri" panose="020F0502020204030204"/>
                <a:cs typeface="Calibri" panose="020F0502020204030204"/>
              </a:rPr>
              <a:t> </a:t>
            </a:r>
            <a:r>
              <a:rPr sz="2100" dirty="0">
                <a:latin typeface="Calibri" panose="020F0502020204030204"/>
                <a:cs typeface="Calibri" panose="020F0502020204030204"/>
              </a:rPr>
              <a:t>&amp; </a:t>
            </a:r>
            <a:r>
              <a:rPr sz="2100" spc="5" dirty="0">
                <a:latin typeface="Calibri" panose="020F0502020204030204"/>
                <a:cs typeface="Calibri" panose="020F0502020204030204"/>
              </a:rPr>
              <a:t> </a:t>
            </a:r>
            <a:r>
              <a:rPr sz="2100" spc="-10" dirty="0">
                <a:latin typeface="Calibri" panose="020F0502020204030204"/>
                <a:cs typeface="Calibri" panose="020F0502020204030204"/>
              </a:rPr>
              <a:t>recall,</a:t>
            </a:r>
            <a:r>
              <a:rPr sz="2100" dirty="0">
                <a:latin typeface="Calibri" panose="020F0502020204030204"/>
                <a:cs typeface="Calibri" panose="020F0502020204030204"/>
              </a:rPr>
              <a:t> </a:t>
            </a:r>
            <a:r>
              <a:rPr sz="2100" spc="-15" dirty="0">
                <a:latin typeface="Calibri" panose="020F0502020204030204"/>
                <a:cs typeface="Calibri" panose="020F0502020204030204"/>
              </a:rPr>
              <a:t>ROC</a:t>
            </a:r>
            <a:r>
              <a:rPr sz="2100" spc="-5" dirty="0">
                <a:latin typeface="Calibri" panose="020F0502020204030204"/>
                <a:cs typeface="Calibri" panose="020F0502020204030204"/>
              </a:rPr>
              <a:t> Curve.</a:t>
            </a:r>
            <a:r>
              <a:rPr sz="2100" spc="15" dirty="0">
                <a:latin typeface="Calibri" panose="020F0502020204030204"/>
                <a:cs typeface="Calibri" panose="020F0502020204030204"/>
              </a:rPr>
              <a:t> </a:t>
            </a:r>
            <a:r>
              <a:rPr sz="2100" spc="-5" dirty="0">
                <a:latin typeface="Calibri" panose="020F0502020204030204"/>
                <a:cs typeface="Calibri" panose="020F0502020204030204"/>
              </a:rPr>
              <a:t>Advanced</a:t>
            </a:r>
            <a:r>
              <a:rPr sz="2100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sz="2100" dirty="0">
                <a:latin typeface="Calibri" panose="020F0502020204030204"/>
                <a:cs typeface="Calibri" panose="020F0502020204030204"/>
              </a:rPr>
              <a:t>Python-</a:t>
            </a:r>
            <a:r>
              <a:rPr sz="2100" spc="-5" dirty="0">
                <a:latin typeface="Calibri" panose="020F0502020204030204"/>
                <a:cs typeface="Calibri" panose="020F0502020204030204"/>
              </a:rPr>
              <a:t> </a:t>
            </a:r>
            <a:r>
              <a:rPr sz="2100" spc="-25" dirty="0">
                <a:latin typeface="Calibri" panose="020F0502020204030204"/>
                <a:cs typeface="Calibri" panose="020F0502020204030204"/>
              </a:rPr>
              <a:t>NumPy,</a:t>
            </a:r>
            <a:r>
              <a:rPr sz="2100" spc="-10" dirty="0">
                <a:latin typeface="Calibri" panose="020F0502020204030204"/>
                <a:cs typeface="Calibri" panose="020F0502020204030204"/>
              </a:rPr>
              <a:t> Pandas.</a:t>
            </a:r>
            <a:r>
              <a:rPr sz="2100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sz="2100" dirty="0">
                <a:latin typeface="Calibri" panose="020F0502020204030204"/>
                <a:cs typeface="Calibri" panose="020F0502020204030204"/>
              </a:rPr>
              <a:t>Python </a:t>
            </a:r>
            <a:r>
              <a:rPr sz="2100" spc="5" dirty="0">
                <a:latin typeface="Calibri" panose="020F0502020204030204"/>
                <a:cs typeface="Calibri" panose="020F0502020204030204"/>
              </a:rPr>
              <a:t> </a:t>
            </a:r>
            <a:r>
              <a:rPr sz="2100" dirty="0">
                <a:latin typeface="Calibri" panose="020F0502020204030204"/>
                <a:cs typeface="Calibri" panose="020F0502020204030204"/>
              </a:rPr>
              <a:t>Machine</a:t>
            </a:r>
            <a:r>
              <a:rPr sz="2100" spc="-5" dirty="0">
                <a:latin typeface="Calibri" panose="020F0502020204030204"/>
                <a:cs typeface="Calibri" panose="020F0502020204030204"/>
              </a:rPr>
              <a:t> Learning</a:t>
            </a:r>
            <a:r>
              <a:rPr sz="2100" spc="5" dirty="0">
                <a:latin typeface="Calibri" panose="020F0502020204030204"/>
                <a:cs typeface="Calibri" panose="020F0502020204030204"/>
              </a:rPr>
              <a:t> </a:t>
            </a:r>
            <a:r>
              <a:rPr sz="2100" spc="-10" dirty="0">
                <a:latin typeface="Calibri" panose="020F0502020204030204"/>
                <a:cs typeface="Calibri" panose="020F0502020204030204"/>
              </a:rPr>
              <a:t>Library</a:t>
            </a:r>
            <a:r>
              <a:rPr sz="2100" spc="15" dirty="0">
                <a:latin typeface="Calibri" panose="020F0502020204030204"/>
                <a:cs typeface="Calibri" panose="020F0502020204030204"/>
              </a:rPr>
              <a:t> </a:t>
            </a:r>
            <a:r>
              <a:rPr sz="2100" spc="-5" dirty="0">
                <a:latin typeface="Calibri" panose="020F0502020204030204"/>
                <a:cs typeface="Calibri" panose="020F0502020204030204"/>
              </a:rPr>
              <a:t>Scikit-Learn, Linear</a:t>
            </a:r>
            <a:r>
              <a:rPr sz="2100" spc="5" dirty="0">
                <a:latin typeface="Calibri" panose="020F0502020204030204"/>
                <a:cs typeface="Calibri" panose="020F0502020204030204"/>
              </a:rPr>
              <a:t> </a:t>
            </a:r>
            <a:r>
              <a:rPr sz="2100" spc="-15" dirty="0">
                <a:latin typeface="Calibri" panose="020F0502020204030204"/>
                <a:cs typeface="Calibri" panose="020F0502020204030204"/>
              </a:rPr>
              <a:t>Regression</a:t>
            </a:r>
            <a:r>
              <a:rPr sz="2100" spc="50" dirty="0">
                <a:latin typeface="Calibri" panose="020F0502020204030204"/>
                <a:cs typeface="Calibri" panose="020F0502020204030204"/>
              </a:rPr>
              <a:t> </a:t>
            </a:r>
            <a:r>
              <a:rPr sz="2100" dirty="0">
                <a:latin typeface="Calibri" panose="020F0502020204030204"/>
                <a:cs typeface="Calibri" panose="020F0502020204030204"/>
              </a:rPr>
              <a:t>with</a:t>
            </a:r>
            <a:r>
              <a:rPr sz="2100" spc="10" dirty="0">
                <a:latin typeface="Calibri" panose="020F0502020204030204"/>
                <a:cs typeface="Calibri" panose="020F0502020204030204"/>
              </a:rPr>
              <a:t> </a:t>
            </a:r>
            <a:r>
              <a:rPr sz="2100" spc="-10" dirty="0">
                <a:latin typeface="Calibri" panose="020F0502020204030204"/>
                <a:cs typeface="Calibri" panose="020F0502020204030204"/>
              </a:rPr>
              <a:t>one </a:t>
            </a:r>
            <a:r>
              <a:rPr sz="2100" spc="-5" dirty="0">
                <a:latin typeface="Calibri" panose="020F0502020204030204"/>
                <a:cs typeface="Calibri" panose="020F0502020204030204"/>
              </a:rPr>
              <a:t> </a:t>
            </a:r>
            <a:r>
              <a:rPr sz="2100" spc="-15" dirty="0">
                <a:latin typeface="Calibri" panose="020F0502020204030204"/>
                <a:cs typeface="Calibri" panose="020F0502020204030204"/>
              </a:rPr>
              <a:t>Variable,</a:t>
            </a:r>
            <a:r>
              <a:rPr sz="2100" spc="-10" dirty="0">
                <a:latin typeface="Calibri" panose="020F0502020204030204"/>
                <a:cs typeface="Calibri" panose="020F0502020204030204"/>
              </a:rPr>
              <a:t> </a:t>
            </a:r>
            <a:r>
              <a:rPr sz="2100" dirty="0">
                <a:latin typeface="Calibri" panose="020F0502020204030204"/>
                <a:cs typeface="Calibri" panose="020F0502020204030204"/>
              </a:rPr>
              <a:t>Linear </a:t>
            </a:r>
            <a:r>
              <a:rPr sz="2100" spc="-10" dirty="0">
                <a:latin typeface="Calibri" panose="020F0502020204030204"/>
                <a:cs typeface="Calibri" panose="020F0502020204030204"/>
              </a:rPr>
              <a:t>Regression</a:t>
            </a:r>
            <a:r>
              <a:rPr sz="2100" spc="30" dirty="0">
                <a:latin typeface="Calibri" panose="020F0502020204030204"/>
                <a:cs typeface="Calibri" panose="020F0502020204030204"/>
              </a:rPr>
              <a:t> </a:t>
            </a:r>
            <a:r>
              <a:rPr sz="2100" dirty="0">
                <a:latin typeface="Calibri" panose="020F0502020204030204"/>
                <a:cs typeface="Calibri" panose="020F0502020204030204"/>
              </a:rPr>
              <a:t>with Multiple</a:t>
            </a:r>
            <a:r>
              <a:rPr sz="2100" spc="-10" dirty="0">
                <a:latin typeface="Calibri" panose="020F0502020204030204"/>
                <a:cs typeface="Calibri" panose="020F0502020204030204"/>
              </a:rPr>
              <a:t> </a:t>
            </a:r>
            <a:r>
              <a:rPr sz="2100" spc="-15" dirty="0">
                <a:latin typeface="Calibri" panose="020F0502020204030204"/>
                <a:cs typeface="Calibri" panose="020F0502020204030204"/>
              </a:rPr>
              <a:t>Variables,</a:t>
            </a:r>
            <a:r>
              <a:rPr sz="2100" spc="15" dirty="0">
                <a:latin typeface="Calibri" panose="020F0502020204030204"/>
                <a:cs typeface="Calibri" panose="020F0502020204030204"/>
              </a:rPr>
              <a:t> </a:t>
            </a:r>
            <a:r>
              <a:rPr sz="2100" spc="-10" dirty="0">
                <a:latin typeface="Calibri" panose="020F0502020204030204"/>
                <a:cs typeface="Calibri" panose="020F0502020204030204"/>
              </a:rPr>
              <a:t>Logistic </a:t>
            </a:r>
            <a:r>
              <a:rPr sz="2100" spc="-5" dirty="0">
                <a:latin typeface="Calibri" panose="020F0502020204030204"/>
                <a:cs typeface="Calibri" panose="020F0502020204030204"/>
              </a:rPr>
              <a:t> </a:t>
            </a:r>
            <a:r>
              <a:rPr sz="2100" spc="-15" dirty="0">
                <a:latin typeface="Calibri" panose="020F0502020204030204"/>
                <a:cs typeface="Calibri" panose="020F0502020204030204"/>
              </a:rPr>
              <a:t>Regression.</a:t>
            </a:r>
            <a:endParaRPr sz="2100">
              <a:latin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07542" y="1842261"/>
            <a:ext cx="7596505" cy="38855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065" indent="0">
              <a:lnSpc>
                <a:spcPct val="100000"/>
              </a:lnSpc>
              <a:spcBef>
                <a:spcPts val="100"/>
              </a:spcBef>
              <a:buFont typeface="Arial MT"/>
              <a:buNone/>
              <a:tabLst>
                <a:tab pos="185420" algn="l"/>
              </a:tabLst>
            </a:pPr>
            <a:r>
              <a:rPr sz="2100" b="1" dirty="0">
                <a:latin typeface="Calibri" panose="020F0502020204030204"/>
                <a:cs typeface="Calibri" panose="020F0502020204030204"/>
              </a:rPr>
              <a:t>UNIT</a:t>
            </a:r>
            <a:r>
              <a:rPr sz="2100" b="1" spc="-110" dirty="0">
                <a:latin typeface="Calibri" panose="020F0502020204030204"/>
                <a:cs typeface="Calibri" panose="020F0502020204030204"/>
              </a:rPr>
              <a:t> </a:t>
            </a:r>
            <a:r>
              <a:rPr sz="2100" b="1" dirty="0">
                <a:latin typeface="Calibri" panose="020F0502020204030204"/>
                <a:cs typeface="Calibri" panose="020F0502020204030204"/>
              </a:rPr>
              <a:t>2</a:t>
            </a:r>
            <a:endParaRPr sz="2100">
              <a:latin typeface="Calibri" panose="020F0502020204030204"/>
              <a:cs typeface="Calibri" panose="020F0502020204030204"/>
            </a:endParaRPr>
          </a:p>
          <a:p>
            <a:pPr marL="184785" marR="149860" indent="-172720" algn="just">
              <a:lnSpc>
                <a:spcPct val="100000"/>
              </a:lnSpc>
              <a:buFont typeface="Arial MT"/>
              <a:buChar char="•"/>
              <a:tabLst>
                <a:tab pos="185420" algn="l"/>
              </a:tabLst>
            </a:pPr>
            <a:r>
              <a:rPr sz="2100" spc="-5" dirty="0">
                <a:latin typeface="Calibri" panose="020F0502020204030204"/>
                <a:cs typeface="Calibri" panose="020F0502020204030204"/>
              </a:rPr>
              <a:t>Supervised</a:t>
            </a:r>
            <a:r>
              <a:rPr sz="2100" spc="10" dirty="0">
                <a:latin typeface="Calibri" panose="020F0502020204030204"/>
                <a:cs typeface="Calibri" panose="020F0502020204030204"/>
              </a:rPr>
              <a:t> </a:t>
            </a:r>
            <a:r>
              <a:rPr sz="2100" dirty="0">
                <a:latin typeface="Calibri" panose="020F0502020204030204"/>
                <a:cs typeface="Calibri" panose="020F0502020204030204"/>
              </a:rPr>
              <a:t>learning </a:t>
            </a:r>
            <a:r>
              <a:rPr sz="2100" spc="-5" dirty="0">
                <a:latin typeface="Calibri" panose="020F0502020204030204"/>
                <a:cs typeface="Calibri" panose="020F0502020204030204"/>
              </a:rPr>
              <a:t>Algorithms:</a:t>
            </a:r>
            <a:r>
              <a:rPr sz="2100" spc="20" dirty="0">
                <a:latin typeface="Calibri" panose="020F0502020204030204"/>
                <a:cs typeface="Calibri" panose="020F0502020204030204"/>
              </a:rPr>
              <a:t> </a:t>
            </a:r>
            <a:r>
              <a:rPr sz="2100" spc="-5" dirty="0">
                <a:latin typeface="Calibri" panose="020F0502020204030204"/>
                <a:cs typeface="Calibri" panose="020F0502020204030204"/>
              </a:rPr>
              <a:t>Decision</a:t>
            </a:r>
            <a:r>
              <a:rPr sz="2100" spc="5" dirty="0">
                <a:latin typeface="Calibri" panose="020F0502020204030204"/>
                <a:cs typeface="Calibri" panose="020F0502020204030204"/>
              </a:rPr>
              <a:t> </a:t>
            </a:r>
            <a:r>
              <a:rPr sz="2100" spc="-30" dirty="0">
                <a:latin typeface="Calibri" panose="020F0502020204030204"/>
                <a:cs typeface="Calibri" panose="020F0502020204030204"/>
              </a:rPr>
              <a:t>Trees,</a:t>
            </a:r>
            <a:r>
              <a:rPr sz="2100" spc="30" dirty="0">
                <a:latin typeface="Calibri" panose="020F0502020204030204"/>
                <a:cs typeface="Calibri" panose="020F0502020204030204"/>
              </a:rPr>
              <a:t> </a:t>
            </a:r>
            <a:r>
              <a:rPr sz="2100" spc="-40" dirty="0">
                <a:latin typeface="Calibri" panose="020F0502020204030204"/>
                <a:cs typeface="Calibri" panose="020F0502020204030204"/>
              </a:rPr>
              <a:t>Tree</a:t>
            </a:r>
            <a:r>
              <a:rPr sz="2100" spc="5" dirty="0">
                <a:latin typeface="Calibri" panose="020F0502020204030204"/>
                <a:cs typeface="Calibri" panose="020F0502020204030204"/>
              </a:rPr>
              <a:t> </a:t>
            </a:r>
            <a:r>
              <a:rPr sz="2100" spc="-5" dirty="0">
                <a:latin typeface="Calibri" panose="020F0502020204030204"/>
                <a:cs typeface="Calibri" panose="020F0502020204030204"/>
              </a:rPr>
              <a:t>pruning,</a:t>
            </a:r>
            <a:r>
              <a:rPr sz="2100" spc="5" dirty="0">
                <a:latin typeface="Calibri" panose="020F0502020204030204"/>
                <a:cs typeface="Calibri" panose="020F0502020204030204"/>
              </a:rPr>
              <a:t> Rule- </a:t>
            </a:r>
            <a:r>
              <a:rPr sz="2100" spc="-459" dirty="0">
                <a:latin typeface="Calibri" panose="020F0502020204030204"/>
                <a:cs typeface="Calibri" panose="020F0502020204030204"/>
              </a:rPr>
              <a:t> </a:t>
            </a:r>
            <a:r>
              <a:rPr sz="2100" spc="-5" dirty="0">
                <a:latin typeface="Calibri" panose="020F0502020204030204"/>
                <a:cs typeface="Calibri" panose="020F0502020204030204"/>
              </a:rPr>
              <a:t>base </a:t>
            </a:r>
            <a:r>
              <a:rPr sz="2100" spc="-10" dirty="0">
                <a:latin typeface="Calibri" panose="020F0502020204030204"/>
                <a:cs typeface="Calibri" panose="020F0502020204030204"/>
              </a:rPr>
              <a:t>Classification,</a:t>
            </a:r>
            <a:r>
              <a:rPr sz="2100" spc="35" dirty="0">
                <a:latin typeface="Calibri" panose="020F0502020204030204"/>
                <a:cs typeface="Calibri" panose="020F0502020204030204"/>
              </a:rPr>
              <a:t> </a:t>
            </a:r>
            <a:r>
              <a:rPr sz="2100" spc="-10" dirty="0">
                <a:latin typeface="Calibri" panose="020F0502020204030204"/>
                <a:cs typeface="Calibri" panose="020F0502020204030204"/>
              </a:rPr>
              <a:t>Naïve</a:t>
            </a:r>
            <a:r>
              <a:rPr sz="2100" spc="5" dirty="0">
                <a:latin typeface="Calibri" panose="020F0502020204030204"/>
                <a:cs typeface="Calibri" panose="020F0502020204030204"/>
              </a:rPr>
              <a:t> </a:t>
            </a:r>
            <a:r>
              <a:rPr sz="2100" spc="-15" dirty="0">
                <a:latin typeface="Calibri" panose="020F0502020204030204"/>
                <a:cs typeface="Calibri" panose="020F0502020204030204"/>
              </a:rPr>
              <a:t>Bayes,</a:t>
            </a:r>
            <a:r>
              <a:rPr sz="2100" spc="15" dirty="0">
                <a:latin typeface="Calibri" panose="020F0502020204030204"/>
                <a:cs typeface="Calibri" panose="020F0502020204030204"/>
              </a:rPr>
              <a:t> </a:t>
            </a:r>
            <a:r>
              <a:rPr sz="2100" spc="-10" dirty="0">
                <a:latin typeface="Calibri" panose="020F0502020204030204"/>
                <a:cs typeface="Calibri" panose="020F0502020204030204"/>
              </a:rPr>
              <a:t>Bayesian</a:t>
            </a:r>
            <a:r>
              <a:rPr sz="2100" spc="-5" dirty="0">
                <a:latin typeface="Calibri" panose="020F0502020204030204"/>
                <a:cs typeface="Calibri" panose="020F0502020204030204"/>
              </a:rPr>
              <a:t> </a:t>
            </a:r>
            <a:r>
              <a:rPr sz="2100" spc="-10" dirty="0">
                <a:latin typeface="Calibri" panose="020F0502020204030204"/>
                <a:cs typeface="Calibri" panose="020F0502020204030204"/>
              </a:rPr>
              <a:t>Network.</a:t>
            </a:r>
            <a:r>
              <a:rPr sz="2100" spc="5" dirty="0">
                <a:latin typeface="Calibri" panose="020F0502020204030204"/>
                <a:cs typeface="Calibri" panose="020F0502020204030204"/>
              </a:rPr>
              <a:t> </a:t>
            </a:r>
            <a:r>
              <a:rPr sz="2100" spc="-5" dirty="0">
                <a:latin typeface="Calibri" panose="020F0502020204030204"/>
                <a:cs typeface="Calibri" panose="020F0502020204030204"/>
              </a:rPr>
              <a:t>Support</a:t>
            </a:r>
            <a:r>
              <a:rPr sz="2100" spc="10" dirty="0">
                <a:latin typeface="Calibri" panose="020F0502020204030204"/>
                <a:cs typeface="Calibri" panose="020F0502020204030204"/>
              </a:rPr>
              <a:t> </a:t>
            </a:r>
            <a:r>
              <a:rPr sz="2100" spc="-25" dirty="0">
                <a:latin typeface="Calibri" panose="020F0502020204030204"/>
                <a:cs typeface="Calibri" panose="020F0502020204030204"/>
              </a:rPr>
              <a:t>Vector </a:t>
            </a:r>
            <a:r>
              <a:rPr sz="2100" spc="-459" dirty="0">
                <a:latin typeface="Calibri" panose="020F0502020204030204"/>
                <a:cs typeface="Calibri" panose="020F0502020204030204"/>
              </a:rPr>
              <a:t> </a:t>
            </a:r>
            <a:r>
              <a:rPr sz="2100" spc="-5" dirty="0">
                <a:latin typeface="Calibri" panose="020F0502020204030204"/>
                <a:cs typeface="Calibri" panose="020F0502020204030204"/>
              </a:rPr>
              <a:t>Machines,</a:t>
            </a:r>
            <a:r>
              <a:rPr sz="2100" spc="5" dirty="0">
                <a:latin typeface="Calibri" panose="020F0502020204030204"/>
                <a:cs typeface="Calibri" panose="020F0502020204030204"/>
              </a:rPr>
              <a:t> </a:t>
            </a:r>
            <a:r>
              <a:rPr sz="2100" spc="-10" dirty="0">
                <a:latin typeface="Calibri" panose="020F0502020204030204"/>
                <a:cs typeface="Calibri" panose="020F0502020204030204"/>
              </a:rPr>
              <a:t>k-Nearest</a:t>
            </a:r>
            <a:r>
              <a:rPr sz="2100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sz="2100" spc="-25" dirty="0">
                <a:latin typeface="Calibri" panose="020F0502020204030204"/>
                <a:cs typeface="Calibri" panose="020F0502020204030204"/>
              </a:rPr>
              <a:t>Neighbor,</a:t>
            </a:r>
            <a:r>
              <a:rPr sz="2100" spc="25" dirty="0">
                <a:latin typeface="Calibri" panose="020F0502020204030204"/>
                <a:cs typeface="Calibri" panose="020F0502020204030204"/>
              </a:rPr>
              <a:t> </a:t>
            </a:r>
            <a:r>
              <a:rPr sz="2100" spc="-5" dirty="0">
                <a:latin typeface="Calibri" panose="020F0502020204030204"/>
                <a:cs typeface="Calibri" panose="020F0502020204030204"/>
              </a:rPr>
              <a:t>Ensemble</a:t>
            </a:r>
            <a:r>
              <a:rPr sz="2100" spc="15" dirty="0">
                <a:latin typeface="Calibri" panose="020F0502020204030204"/>
                <a:cs typeface="Calibri" panose="020F0502020204030204"/>
              </a:rPr>
              <a:t> </a:t>
            </a:r>
            <a:r>
              <a:rPr sz="2100" spc="-5" dirty="0">
                <a:latin typeface="Calibri" panose="020F0502020204030204"/>
                <a:cs typeface="Calibri" panose="020F0502020204030204"/>
              </a:rPr>
              <a:t>Learning</a:t>
            </a:r>
            <a:r>
              <a:rPr sz="2100" spc="5" dirty="0">
                <a:latin typeface="Calibri" panose="020F0502020204030204"/>
                <a:cs typeface="Calibri" panose="020F0502020204030204"/>
              </a:rPr>
              <a:t> </a:t>
            </a:r>
            <a:r>
              <a:rPr sz="2100" dirty="0">
                <a:latin typeface="Calibri" panose="020F0502020204030204"/>
                <a:cs typeface="Calibri" panose="020F0502020204030204"/>
              </a:rPr>
              <a:t>and</a:t>
            </a:r>
            <a:r>
              <a:rPr sz="2100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sz="2100" dirty="0">
                <a:latin typeface="Calibri" panose="020F0502020204030204"/>
                <a:cs typeface="Calibri" panose="020F0502020204030204"/>
              </a:rPr>
              <a:t>Random </a:t>
            </a:r>
            <a:r>
              <a:rPr sz="2100" spc="5" dirty="0">
                <a:latin typeface="Calibri" panose="020F0502020204030204"/>
                <a:cs typeface="Calibri" panose="020F0502020204030204"/>
              </a:rPr>
              <a:t> </a:t>
            </a:r>
            <a:r>
              <a:rPr sz="2100" spc="-20" dirty="0">
                <a:latin typeface="Calibri" panose="020F0502020204030204"/>
                <a:cs typeface="Calibri" panose="020F0502020204030204"/>
              </a:rPr>
              <a:t>Forest</a:t>
            </a:r>
            <a:r>
              <a:rPr sz="2100" spc="10" dirty="0">
                <a:latin typeface="Calibri" panose="020F0502020204030204"/>
                <a:cs typeface="Calibri" panose="020F0502020204030204"/>
              </a:rPr>
              <a:t> </a:t>
            </a:r>
            <a:r>
              <a:rPr sz="2100" spc="-5" dirty="0">
                <a:latin typeface="Calibri" panose="020F0502020204030204"/>
                <a:cs typeface="Calibri" panose="020F0502020204030204"/>
              </a:rPr>
              <a:t>algorithm.</a:t>
            </a:r>
            <a:endParaRPr sz="2100">
              <a:latin typeface="Calibri" panose="020F0502020204030204"/>
              <a:cs typeface="Calibri" panose="020F0502020204030204"/>
            </a:endParaRPr>
          </a:p>
          <a:p>
            <a:pPr>
              <a:lnSpc>
                <a:spcPct val="100000"/>
              </a:lnSpc>
              <a:spcBef>
                <a:spcPts val="20"/>
              </a:spcBef>
              <a:buFont typeface="Arial MT"/>
              <a:buChar char="•"/>
            </a:pPr>
            <a:endParaRPr sz="2050">
              <a:latin typeface="Calibri" panose="020F0502020204030204"/>
              <a:cs typeface="Calibri" panose="020F0502020204030204"/>
            </a:endParaRPr>
          </a:p>
          <a:p>
            <a:pPr marL="12065" indent="0">
              <a:lnSpc>
                <a:spcPct val="100000"/>
              </a:lnSpc>
              <a:buFont typeface="Arial MT"/>
              <a:buNone/>
              <a:tabLst>
                <a:tab pos="185420" algn="l"/>
              </a:tabLst>
            </a:pPr>
            <a:r>
              <a:rPr sz="2100" b="1" spc="-5" dirty="0">
                <a:latin typeface="Calibri" panose="020F0502020204030204"/>
                <a:cs typeface="Calibri" panose="020F0502020204030204"/>
              </a:rPr>
              <a:t>UNIT</a:t>
            </a:r>
            <a:r>
              <a:rPr sz="2100" b="1" spc="-35" dirty="0">
                <a:latin typeface="Calibri" panose="020F0502020204030204"/>
                <a:cs typeface="Calibri" panose="020F0502020204030204"/>
              </a:rPr>
              <a:t> </a:t>
            </a:r>
            <a:r>
              <a:rPr sz="2100" b="1" dirty="0">
                <a:latin typeface="Calibri" panose="020F0502020204030204"/>
                <a:cs typeface="Calibri" panose="020F0502020204030204"/>
              </a:rPr>
              <a:t>3</a:t>
            </a:r>
            <a:endParaRPr sz="2100" b="1">
              <a:latin typeface="Calibri" panose="020F0502020204030204"/>
              <a:cs typeface="Calibri" panose="020F0502020204030204"/>
            </a:endParaRPr>
          </a:p>
          <a:p>
            <a:pPr marL="184785" marR="5080" indent="-172720" algn="just">
              <a:lnSpc>
                <a:spcPct val="100000"/>
              </a:lnSpc>
              <a:buFont typeface="Arial MT"/>
              <a:buChar char="•"/>
              <a:tabLst>
                <a:tab pos="185420" algn="l"/>
              </a:tabLst>
            </a:pPr>
            <a:r>
              <a:rPr sz="2100" spc="-5" dirty="0">
                <a:latin typeface="Calibri" panose="020F0502020204030204"/>
                <a:cs typeface="Calibri" panose="020F0502020204030204"/>
              </a:rPr>
              <a:t>Artificial</a:t>
            </a:r>
            <a:r>
              <a:rPr sz="2100" spc="15" dirty="0">
                <a:latin typeface="Calibri" panose="020F0502020204030204"/>
                <a:cs typeface="Calibri" panose="020F0502020204030204"/>
              </a:rPr>
              <a:t> </a:t>
            </a:r>
            <a:r>
              <a:rPr sz="2100" spc="-10" dirty="0">
                <a:latin typeface="Calibri" panose="020F0502020204030204"/>
                <a:cs typeface="Calibri" panose="020F0502020204030204"/>
              </a:rPr>
              <a:t>Neural</a:t>
            </a:r>
            <a:r>
              <a:rPr sz="2100" dirty="0">
                <a:latin typeface="Calibri" panose="020F0502020204030204"/>
                <a:cs typeface="Calibri" panose="020F0502020204030204"/>
              </a:rPr>
              <a:t> </a:t>
            </a:r>
            <a:r>
              <a:rPr sz="2100" spc="-10" dirty="0">
                <a:latin typeface="Calibri" panose="020F0502020204030204"/>
                <a:cs typeface="Calibri" panose="020F0502020204030204"/>
              </a:rPr>
              <a:t>Networks,</a:t>
            </a:r>
            <a:r>
              <a:rPr sz="2100" spc="35" dirty="0">
                <a:latin typeface="Calibri" panose="020F0502020204030204"/>
                <a:cs typeface="Calibri" panose="020F0502020204030204"/>
              </a:rPr>
              <a:t> </a:t>
            </a:r>
            <a:r>
              <a:rPr sz="2100" spc="-5" dirty="0">
                <a:latin typeface="Calibri" panose="020F0502020204030204"/>
                <a:cs typeface="Calibri" panose="020F0502020204030204"/>
              </a:rPr>
              <a:t>HebbNet,</a:t>
            </a:r>
            <a:r>
              <a:rPr sz="2100" spc="5" dirty="0">
                <a:latin typeface="Calibri" panose="020F0502020204030204"/>
                <a:cs typeface="Calibri" panose="020F0502020204030204"/>
              </a:rPr>
              <a:t> </a:t>
            </a:r>
            <a:r>
              <a:rPr sz="2100" spc="-15" dirty="0">
                <a:latin typeface="Calibri" panose="020F0502020204030204"/>
                <a:cs typeface="Calibri" panose="020F0502020204030204"/>
              </a:rPr>
              <a:t>Perceptron,</a:t>
            </a:r>
            <a:r>
              <a:rPr sz="2100" spc="30" dirty="0">
                <a:latin typeface="Calibri" panose="020F0502020204030204"/>
                <a:cs typeface="Calibri" panose="020F0502020204030204"/>
              </a:rPr>
              <a:t> </a:t>
            </a:r>
            <a:r>
              <a:rPr sz="2100" dirty="0">
                <a:latin typeface="Calibri" panose="020F0502020204030204"/>
                <a:cs typeface="Calibri" panose="020F0502020204030204"/>
              </a:rPr>
              <a:t>Adaline,</a:t>
            </a:r>
            <a:r>
              <a:rPr sz="2100" spc="15" dirty="0">
                <a:latin typeface="Calibri" panose="020F0502020204030204"/>
                <a:cs typeface="Calibri" panose="020F0502020204030204"/>
              </a:rPr>
              <a:t> </a:t>
            </a:r>
            <a:r>
              <a:rPr sz="2100" spc="-10" dirty="0">
                <a:latin typeface="Calibri" panose="020F0502020204030204"/>
                <a:cs typeface="Calibri" panose="020F0502020204030204"/>
              </a:rPr>
              <a:t>Multilayer </a:t>
            </a:r>
            <a:r>
              <a:rPr sz="2100" spc="-459" dirty="0">
                <a:latin typeface="Calibri" panose="020F0502020204030204"/>
                <a:cs typeface="Calibri" panose="020F0502020204030204"/>
              </a:rPr>
              <a:t> </a:t>
            </a:r>
            <a:r>
              <a:rPr sz="2100" spc="-10" dirty="0">
                <a:latin typeface="Calibri" panose="020F0502020204030204"/>
                <a:cs typeface="Calibri" panose="020F0502020204030204"/>
              </a:rPr>
              <a:t>Neural</a:t>
            </a:r>
            <a:r>
              <a:rPr sz="2100" spc="-5" dirty="0">
                <a:latin typeface="Calibri" panose="020F0502020204030204"/>
                <a:cs typeface="Calibri" panose="020F0502020204030204"/>
              </a:rPr>
              <a:t> </a:t>
            </a:r>
            <a:r>
              <a:rPr sz="2100" spc="-10" dirty="0">
                <a:latin typeface="Calibri" panose="020F0502020204030204"/>
                <a:cs typeface="Calibri" panose="020F0502020204030204"/>
              </a:rPr>
              <a:t>Network,</a:t>
            </a:r>
            <a:r>
              <a:rPr sz="2100" spc="5" dirty="0">
                <a:latin typeface="Calibri" panose="020F0502020204030204"/>
                <a:cs typeface="Calibri" panose="020F0502020204030204"/>
              </a:rPr>
              <a:t> </a:t>
            </a:r>
            <a:r>
              <a:rPr sz="2100" spc="-10" dirty="0">
                <a:latin typeface="Calibri" panose="020F0502020204030204"/>
                <a:cs typeface="Calibri" panose="020F0502020204030204"/>
              </a:rPr>
              <a:t>Architecture,</a:t>
            </a:r>
            <a:r>
              <a:rPr sz="2100" spc="10" dirty="0">
                <a:latin typeface="Calibri" panose="020F0502020204030204"/>
                <a:cs typeface="Calibri" panose="020F0502020204030204"/>
              </a:rPr>
              <a:t> </a:t>
            </a:r>
            <a:r>
              <a:rPr sz="2100" spc="-10" dirty="0">
                <a:latin typeface="Calibri" panose="020F0502020204030204"/>
                <a:cs typeface="Calibri" panose="020F0502020204030204"/>
              </a:rPr>
              <a:t>Activation</a:t>
            </a:r>
            <a:r>
              <a:rPr sz="2100" spc="5" dirty="0">
                <a:latin typeface="Calibri" panose="020F0502020204030204"/>
                <a:cs typeface="Calibri" panose="020F0502020204030204"/>
              </a:rPr>
              <a:t> </a:t>
            </a:r>
            <a:r>
              <a:rPr sz="2100" spc="-5" dirty="0">
                <a:latin typeface="Calibri" panose="020F0502020204030204"/>
                <a:cs typeface="Calibri" panose="020F0502020204030204"/>
              </a:rPr>
              <a:t>Functions,</a:t>
            </a:r>
            <a:r>
              <a:rPr sz="2100" spc="10" dirty="0">
                <a:latin typeface="Calibri" panose="020F0502020204030204"/>
                <a:cs typeface="Calibri" panose="020F0502020204030204"/>
              </a:rPr>
              <a:t> </a:t>
            </a:r>
            <a:r>
              <a:rPr sz="2100" spc="-5" dirty="0">
                <a:latin typeface="Calibri" panose="020F0502020204030204"/>
                <a:cs typeface="Calibri" panose="020F0502020204030204"/>
              </a:rPr>
              <a:t>Loss</a:t>
            </a:r>
            <a:r>
              <a:rPr sz="2100" spc="10" dirty="0">
                <a:latin typeface="Calibri" panose="020F0502020204030204"/>
                <a:cs typeface="Calibri" panose="020F0502020204030204"/>
              </a:rPr>
              <a:t> </a:t>
            </a:r>
            <a:r>
              <a:rPr sz="2100" spc="-5" dirty="0">
                <a:latin typeface="Calibri" panose="020F0502020204030204"/>
                <a:cs typeface="Calibri" panose="020F0502020204030204"/>
              </a:rPr>
              <a:t>Function, </a:t>
            </a:r>
            <a:r>
              <a:rPr sz="2100" dirty="0">
                <a:latin typeface="Calibri" panose="020F0502020204030204"/>
                <a:cs typeface="Calibri" panose="020F0502020204030204"/>
              </a:rPr>
              <a:t> </a:t>
            </a:r>
            <a:r>
              <a:rPr sz="2100" spc="-5" dirty="0">
                <a:latin typeface="Calibri" panose="020F0502020204030204"/>
                <a:cs typeface="Calibri" panose="020F0502020204030204"/>
              </a:rPr>
              <a:t>Hyper</a:t>
            </a:r>
            <a:r>
              <a:rPr sz="2100" spc="10" dirty="0">
                <a:latin typeface="Calibri" panose="020F0502020204030204"/>
                <a:cs typeface="Calibri" panose="020F0502020204030204"/>
              </a:rPr>
              <a:t> </a:t>
            </a:r>
            <a:r>
              <a:rPr sz="2100" spc="-15" dirty="0">
                <a:latin typeface="Calibri" panose="020F0502020204030204"/>
                <a:cs typeface="Calibri" panose="020F0502020204030204"/>
              </a:rPr>
              <a:t>parameters,</a:t>
            </a:r>
            <a:r>
              <a:rPr sz="2100" spc="-5" dirty="0">
                <a:latin typeface="Calibri" panose="020F0502020204030204"/>
                <a:cs typeface="Calibri" panose="020F0502020204030204"/>
              </a:rPr>
              <a:t> </a:t>
            </a:r>
            <a:r>
              <a:rPr sz="2100" spc="-10" dirty="0">
                <a:latin typeface="Calibri" panose="020F0502020204030204"/>
                <a:cs typeface="Calibri" panose="020F0502020204030204"/>
              </a:rPr>
              <a:t>Gradient</a:t>
            </a:r>
            <a:r>
              <a:rPr sz="2100" spc="5" dirty="0">
                <a:latin typeface="Calibri" panose="020F0502020204030204"/>
                <a:cs typeface="Calibri" panose="020F0502020204030204"/>
              </a:rPr>
              <a:t> </a:t>
            </a:r>
            <a:r>
              <a:rPr sz="2100" spc="-10" dirty="0">
                <a:latin typeface="Calibri" panose="020F0502020204030204"/>
                <a:cs typeface="Calibri" panose="020F0502020204030204"/>
              </a:rPr>
              <a:t>Descent,</a:t>
            </a:r>
            <a:r>
              <a:rPr sz="2100" spc="5" dirty="0">
                <a:latin typeface="Calibri" panose="020F0502020204030204"/>
                <a:cs typeface="Calibri" panose="020F0502020204030204"/>
              </a:rPr>
              <a:t> </a:t>
            </a:r>
            <a:r>
              <a:rPr sz="2100" spc="-10" dirty="0">
                <a:latin typeface="Calibri" panose="020F0502020204030204"/>
                <a:cs typeface="Calibri" panose="020F0502020204030204"/>
              </a:rPr>
              <a:t>Backpropagation,</a:t>
            </a:r>
            <a:r>
              <a:rPr sz="2100" spc="-30" dirty="0">
                <a:latin typeface="Calibri" panose="020F0502020204030204"/>
                <a:cs typeface="Calibri" panose="020F0502020204030204"/>
              </a:rPr>
              <a:t> </a:t>
            </a:r>
            <a:r>
              <a:rPr sz="2100" spc="-20" dirty="0">
                <a:latin typeface="Calibri" panose="020F0502020204030204"/>
                <a:cs typeface="Calibri" panose="020F0502020204030204"/>
              </a:rPr>
              <a:t>Variants</a:t>
            </a:r>
            <a:r>
              <a:rPr sz="2100" dirty="0">
                <a:latin typeface="Calibri" panose="020F0502020204030204"/>
                <a:cs typeface="Calibri" panose="020F0502020204030204"/>
              </a:rPr>
              <a:t> </a:t>
            </a:r>
            <a:r>
              <a:rPr sz="2100" spc="-5" dirty="0">
                <a:latin typeface="Calibri" panose="020F0502020204030204"/>
                <a:cs typeface="Calibri" panose="020F0502020204030204"/>
              </a:rPr>
              <a:t>of </a:t>
            </a:r>
            <a:r>
              <a:rPr sz="2100" dirty="0">
                <a:latin typeface="Calibri" panose="020F0502020204030204"/>
                <a:cs typeface="Calibri" panose="020F0502020204030204"/>
              </a:rPr>
              <a:t> </a:t>
            </a:r>
            <a:r>
              <a:rPr sz="2100" spc="-10" dirty="0">
                <a:latin typeface="Calibri" panose="020F0502020204030204"/>
                <a:cs typeface="Calibri" panose="020F0502020204030204"/>
              </a:rPr>
              <a:t>Backpropagation,</a:t>
            </a:r>
            <a:r>
              <a:rPr sz="2100" spc="-15" dirty="0">
                <a:latin typeface="Calibri" panose="020F0502020204030204"/>
                <a:cs typeface="Calibri" panose="020F0502020204030204"/>
              </a:rPr>
              <a:t> Avoiding</a:t>
            </a:r>
            <a:r>
              <a:rPr sz="2100" spc="10" dirty="0">
                <a:latin typeface="Calibri" panose="020F0502020204030204"/>
                <a:cs typeface="Calibri" panose="020F0502020204030204"/>
              </a:rPr>
              <a:t> </a:t>
            </a:r>
            <a:r>
              <a:rPr sz="2100" spc="-10" dirty="0">
                <a:latin typeface="Calibri" panose="020F0502020204030204"/>
                <a:cs typeface="Calibri" panose="020F0502020204030204"/>
              </a:rPr>
              <a:t>overfitting</a:t>
            </a:r>
            <a:r>
              <a:rPr sz="2100" spc="25" dirty="0">
                <a:latin typeface="Calibri" panose="020F0502020204030204"/>
                <a:cs typeface="Calibri" panose="020F0502020204030204"/>
              </a:rPr>
              <a:t> </a:t>
            </a:r>
            <a:r>
              <a:rPr sz="2100" spc="-10" dirty="0">
                <a:latin typeface="Calibri" panose="020F0502020204030204"/>
                <a:cs typeface="Calibri" panose="020F0502020204030204"/>
              </a:rPr>
              <a:t>through</a:t>
            </a:r>
            <a:r>
              <a:rPr sz="2100" spc="-5" dirty="0">
                <a:latin typeface="Calibri" panose="020F0502020204030204"/>
                <a:cs typeface="Calibri" panose="020F0502020204030204"/>
              </a:rPr>
              <a:t> </a:t>
            </a:r>
            <a:r>
              <a:rPr sz="2100" spc="-10" dirty="0">
                <a:latin typeface="Calibri" panose="020F0502020204030204"/>
                <a:cs typeface="Calibri" panose="020F0502020204030204"/>
              </a:rPr>
              <a:t>Regularization, </a:t>
            </a:r>
            <a:r>
              <a:rPr sz="2100" spc="-5" dirty="0">
                <a:latin typeface="Calibri" panose="020F0502020204030204"/>
                <a:cs typeface="Calibri" panose="020F0502020204030204"/>
              </a:rPr>
              <a:t> Applications</a:t>
            </a:r>
            <a:r>
              <a:rPr sz="2100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sz="2100" spc="-5" dirty="0">
                <a:latin typeface="Calibri" panose="020F0502020204030204"/>
                <a:cs typeface="Calibri" panose="020F0502020204030204"/>
              </a:rPr>
              <a:t>of</a:t>
            </a:r>
            <a:r>
              <a:rPr sz="2100" spc="5" dirty="0">
                <a:latin typeface="Calibri" panose="020F0502020204030204"/>
                <a:cs typeface="Calibri" panose="020F0502020204030204"/>
              </a:rPr>
              <a:t> </a:t>
            </a:r>
            <a:r>
              <a:rPr sz="2100" spc="-10" dirty="0">
                <a:latin typeface="Calibri" panose="020F0502020204030204"/>
                <a:cs typeface="Calibri" panose="020F0502020204030204"/>
              </a:rPr>
              <a:t>Neural</a:t>
            </a:r>
            <a:r>
              <a:rPr sz="2100" dirty="0">
                <a:latin typeface="Calibri" panose="020F0502020204030204"/>
                <a:cs typeface="Calibri" panose="020F0502020204030204"/>
              </a:rPr>
              <a:t> </a:t>
            </a:r>
            <a:r>
              <a:rPr sz="2100" spc="-10" dirty="0">
                <a:latin typeface="Calibri" panose="020F0502020204030204"/>
                <a:cs typeface="Calibri" panose="020F0502020204030204"/>
              </a:rPr>
              <a:t>Networks.</a:t>
            </a:r>
            <a:endParaRPr sz="21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612007" y="609676"/>
            <a:ext cx="192214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b="1" spc="-10" dirty="0">
                <a:solidFill>
                  <a:srgbClr val="001F5F"/>
                </a:solidFill>
                <a:latin typeface="Calibri" panose="020F0502020204030204"/>
                <a:cs typeface="Calibri" panose="020F0502020204030204"/>
              </a:rPr>
              <a:t>Syllabus</a:t>
            </a:r>
            <a:endParaRPr sz="4400">
              <a:latin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07542" y="1842261"/>
            <a:ext cx="7696834" cy="16281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065" indent="0">
              <a:lnSpc>
                <a:spcPct val="100000"/>
              </a:lnSpc>
              <a:spcBef>
                <a:spcPts val="100"/>
              </a:spcBef>
              <a:buFont typeface="Arial MT"/>
              <a:buNone/>
              <a:tabLst>
                <a:tab pos="185420" algn="l"/>
              </a:tabLst>
            </a:pPr>
            <a:r>
              <a:rPr sz="2100" b="1" dirty="0">
                <a:latin typeface="Calibri" panose="020F0502020204030204"/>
                <a:cs typeface="Calibri" panose="020F0502020204030204"/>
              </a:rPr>
              <a:t>UNIT</a:t>
            </a:r>
            <a:r>
              <a:rPr sz="2100" b="1" spc="-110" dirty="0">
                <a:latin typeface="Calibri" panose="020F0502020204030204"/>
                <a:cs typeface="Calibri" panose="020F0502020204030204"/>
              </a:rPr>
              <a:t> </a:t>
            </a:r>
            <a:r>
              <a:rPr sz="2100" b="1" dirty="0">
                <a:latin typeface="Calibri" panose="020F0502020204030204"/>
                <a:cs typeface="Calibri" panose="020F0502020204030204"/>
              </a:rPr>
              <a:t>4</a:t>
            </a:r>
            <a:endParaRPr sz="2100" b="1">
              <a:latin typeface="Calibri" panose="020F0502020204030204"/>
              <a:cs typeface="Calibri" panose="020F0502020204030204"/>
            </a:endParaRPr>
          </a:p>
          <a:p>
            <a:pPr marL="184785" marR="5080" indent="-172720" algn="just">
              <a:lnSpc>
                <a:spcPct val="100000"/>
              </a:lnSpc>
              <a:buFont typeface="Arial MT"/>
              <a:buChar char="•"/>
              <a:tabLst>
                <a:tab pos="185420" algn="l"/>
              </a:tabLst>
            </a:pPr>
            <a:r>
              <a:rPr sz="2100" spc="-5" dirty="0">
                <a:latin typeface="Calibri" panose="020F0502020204030204"/>
                <a:cs typeface="Calibri" panose="020F0502020204030204"/>
              </a:rPr>
              <a:t>Unsupervised</a:t>
            </a:r>
            <a:r>
              <a:rPr sz="2100" spc="25" dirty="0">
                <a:latin typeface="Calibri" panose="020F0502020204030204"/>
                <a:cs typeface="Calibri" panose="020F0502020204030204"/>
              </a:rPr>
              <a:t> </a:t>
            </a:r>
            <a:r>
              <a:rPr sz="2100" dirty="0">
                <a:latin typeface="Calibri" panose="020F0502020204030204"/>
                <a:cs typeface="Calibri" panose="020F0502020204030204"/>
              </a:rPr>
              <a:t>learning</a:t>
            </a:r>
            <a:r>
              <a:rPr sz="2100" spc="10" dirty="0">
                <a:latin typeface="Calibri" panose="020F0502020204030204"/>
                <a:cs typeface="Calibri" panose="020F0502020204030204"/>
              </a:rPr>
              <a:t> </a:t>
            </a:r>
            <a:r>
              <a:rPr sz="2100" spc="-5" dirty="0">
                <a:latin typeface="Calibri" panose="020F0502020204030204"/>
                <a:cs typeface="Calibri" panose="020F0502020204030204"/>
              </a:rPr>
              <a:t>algorithms:</a:t>
            </a:r>
            <a:r>
              <a:rPr sz="2100" spc="5" dirty="0">
                <a:latin typeface="Calibri" panose="020F0502020204030204"/>
                <a:cs typeface="Calibri" panose="020F0502020204030204"/>
              </a:rPr>
              <a:t> </a:t>
            </a:r>
            <a:r>
              <a:rPr sz="2100" spc="-10" dirty="0">
                <a:latin typeface="Calibri" panose="020F0502020204030204"/>
                <a:cs typeface="Calibri" panose="020F0502020204030204"/>
              </a:rPr>
              <a:t>Introduction</a:t>
            </a:r>
            <a:r>
              <a:rPr sz="2100" dirty="0">
                <a:latin typeface="Calibri" panose="020F0502020204030204"/>
                <a:cs typeface="Calibri" panose="020F0502020204030204"/>
              </a:rPr>
              <a:t> </a:t>
            </a:r>
            <a:r>
              <a:rPr sz="2100" spc="-15" dirty="0">
                <a:latin typeface="Calibri" panose="020F0502020204030204"/>
                <a:cs typeface="Calibri" panose="020F0502020204030204"/>
              </a:rPr>
              <a:t>to</a:t>
            </a:r>
            <a:r>
              <a:rPr sz="2100" spc="-5" dirty="0">
                <a:latin typeface="Calibri" panose="020F0502020204030204"/>
                <a:cs typeface="Calibri" panose="020F0502020204030204"/>
              </a:rPr>
              <a:t> </a:t>
            </a:r>
            <a:r>
              <a:rPr sz="2100" spc="-10" dirty="0">
                <a:latin typeface="Calibri" panose="020F0502020204030204"/>
                <a:cs typeface="Calibri" panose="020F0502020204030204"/>
              </a:rPr>
              <a:t>Clustering,</a:t>
            </a:r>
            <a:r>
              <a:rPr sz="2100" spc="35" dirty="0">
                <a:latin typeface="Calibri" panose="020F0502020204030204"/>
                <a:cs typeface="Calibri" panose="020F0502020204030204"/>
              </a:rPr>
              <a:t> </a:t>
            </a:r>
            <a:r>
              <a:rPr sz="2100" spc="10" dirty="0">
                <a:latin typeface="Calibri" panose="020F0502020204030204"/>
                <a:cs typeface="Calibri" panose="020F0502020204030204"/>
              </a:rPr>
              <a:t>K- </a:t>
            </a:r>
            <a:r>
              <a:rPr sz="2100" spc="15" dirty="0">
                <a:latin typeface="Calibri" panose="020F0502020204030204"/>
                <a:cs typeface="Calibri" panose="020F0502020204030204"/>
              </a:rPr>
              <a:t> </a:t>
            </a:r>
            <a:r>
              <a:rPr sz="2100" dirty="0">
                <a:latin typeface="Calibri" panose="020F0502020204030204"/>
                <a:cs typeface="Calibri" panose="020F0502020204030204"/>
              </a:rPr>
              <a:t>means</a:t>
            </a:r>
            <a:r>
              <a:rPr sz="2100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sz="2100" spc="-10" dirty="0">
                <a:latin typeface="Calibri" panose="020F0502020204030204"/>
                <a:cs typeface="Calibri" panose="020F0502020204030204"/>
              </a:rPr>
              <a:t>Clustering,</a:t>
            </a:r>
            <a:r>
              <a:rPr sz="2100" spc="45" dirty="0">
                <a:latin typeface="Calibri" panose="020F0502020204030204"/>
                <a:cs typeface="Calibri" panose="020F0502020204030204"/>
              </a:rPr>
              <a:t> </a:t>
            </a:r>
            <a:r>
              <a:rPr sz="2100" spc="-10" dirty="0">
                <a:latin typeface="Calibri" panose="020F0502020204030204"/>
                <a:cs typeface="Calibri" panose="020F0502020204030204"/>
              </a:rPr>
              <a:t>Hierarchical</a:t>
            </a:r>
            <a:r>
              <a:rPr sz="2100" spc="10" dirty="0">
                <a:latin typeface="Calibri" panose="020F0502020204030204"/>
                <a:cs typeface="Calibri" panose="020F0502020204030204"/>
              </a:rPr>
              <a:t> </a:t>
            </a:r>
            <a:r>
              <a:rPr sz="2100" spc="-10" dirty="0">
                <a:latin typeface="Calibri" panose="020F0502020204030204"/>
                <a:cs typeface="Calibri" panose="020F0502020204030204"/>
              </a:rPr>
              <a:t>Clustering,</a:t>
            </a:r>
            <a:r>
              <a:rPr sz="2100" spc="70" dirty="0">
                <a:latin typeface="Calibri" panose="020F0502020204030204"/>
                <a:cs typeface="Calibri" panose="020F0502020204030204"/>
              </a:rPr>
              <a:t> </a:t>
            </a:r>
            <a:r>
              <a:rPr sz="2100" spc="-10" dirty="0">
                <a:latin typeface="Calibri" panose="020F0502020204030204"/>
                <a:cs typeface="Calibri" panose="020F0502020204030204"/>
              </a:rPr>
              <a:t>Kohonen</a:t>
            </a:r>
            <a:r>
              <a:rPr sz="2100" spc="5" dirty="0">
                <a:latin typeface="Calibri" panose="020F0502020204030204"/>
                <a:cs typeface="Calibri" panose="020F0502020204030204"/>
              </a:rPr>
              <a:t> </a:t>
            </a:r>
            <a:r>
              <a:rPr sz="2100" spc="-10" dirty="0">
                <a:latin typeface="Calibri" panose="020F0502020204030204"/>
                <a:cs typeface="Calibri" panose="020F0502020204030204"/>
              </a:rPr>
              <a:t>Self-Organizing </a:t>
            </a:r>
            <a:r>
              <a:rPr sz="2100" spc="-5" dirty="0">
                <a:latin typeface="Calibri" panose="020F0502020204030204"/>
                <a:cs typeface="Calibri" panose="020F0502020204030204"/>
              </a:rPr>
              <a:t> Maps. </a:t>
            </a:r>
            <a:r>
              <a:rPr sz="2100" spc="-10" dirty="0">
                <a:latin typeface="Calibri" panose="020F0502020204030204"/>
                <a:cs typeface="Calibri" panose="020F0502020204030204"/>
              </a:rPr>
              <a:t>Implementation</a:t>
            </a:r>
            <a:r>
              <a:rPr sz="2100" spc="15" dirty="0">
                <a:latin typeface="Calibri" panose="020F0502020204030204"/>
                <a:cs typeface="Calibri" panose="020F0502020204030204"/>
              </a:rPr>
              <a:t> </a:t>
            </a:r>
            <a:r>
              <a:rPr sz="2100" spc="-5" dirty="0">
                <a:latin typeface="Calibri" panose="020F0502020204030204"/>
                <a:cs typeface="Calibri" panose="020F0502020204030204"/>
              </a:rPr>
              <a:t>of</a:t>
            </a:r>
            <a:r>
              <a:rPr sz="2100" spc="15" dirty="0">
                <a:latin typeface="Calibri" panose="020F0502020204030204"/>
                <a:cs typeface="Calibri" panose="020F0502020204030204"/>
              </a:rPr>
              <a:t> </a:t>
            </a:r>
            <a:r>
              <a:rPr sz="2100" spc="-5" dirty="0">
                <a:latin typeface="Calibri" panose="020F0502020204030204"/>
                <a:cs typeface="Calibri" panose="020F0502020204030204"/>
              </a:rPr>
              <a:t>Unsupervised</a:t>
            </a:r>
            <a:r>
              <a:rPr sz="2100" spc="40" dirty="0">
                <a:latin typeface="Calibri" panose="020F0502020204030204"/>
                <a:cs typeface="Calibri" panose="020F0502020204030204"/>
              </a:rPr>
              <a:t> </a:t>
            </a:r>
            <a:r>
              <a:rPr sz="2100" spc="-5" dirty="0">
                <a:latin typeface="Calibri" panose="020F0502020204030204"/>
                <a:cs typeface="Calibri" panose="020F0502020204030204"/>
              </a:rPr>
              <a:t>algorithms.</a:t>
            </a:r>
            <a:r>
              <a:rPr sz="2100" dirty="0">
                <a:latin typeface="Calibri" panose="020F0502020204030204"/>
                <a:cs typeface="Calibri" panose="020F0502020204030204"/>
              </a:rPr>
              <a:t> </a:t>
            </a:r>
            <a:r>
              <a:rPr sz="2100" spc="-15" dirty="0">
                <a:latin typeface="Calibri" panose="020F0502020204030204"/>
                <a:cs typeface="Calibri" panose="020F0502020204030204"/>
              </a:rPr>
              <a:t>Feature</a:t>
            </a:r>
            <a:r>
              <a:rPr sz="2100" spc="15" dirty="0">
                <a:latin typeface="Calibri" panose="020F0502020204030204"/>
                <a:cs typeface="Calibri" panose="020F0502020204030204"/>
              </a:rPr>
              <a:t> </a:t>
            </a:r>
            <a:r>
              <a:rPr sz="2100" spc="-5" dirty="0">
                <a:latin typeface="Calibri" panose="020F0502020204030204"/>
                <a:cs typeface="Calibri" panose="020F0502020204030204"/>
              </a:rPr>
              <a:t>selection </a:t>
            </a:r>
            <a:r>
              <a:rPr sz="2100" spc="-459" dirty="0">
                <a:latin typeface="Calibri" panose="020F0502020204030204"/>
                <a:cs typeface="Calibri" panose="020F0502020204030204"/>
              </a:rPr>
              <a:t> </a:t>
            </a:r>
            <a:r>
              <a:rPr sz="2100" dirty="0">
                <a:latin typeface="Calibri" panose="020F0502020204030204"/>
                <a:cs typeface="Calibri" panose="020F0502020204030204"/>
              </a:rPr>
              <a:t>and</a:t>
            </a:r>
            <a:r>
              <a:rPr sz="2100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sz="2100" spc="-5" dirty="0">
                <a:latin typeface="Calibri" panose="020F0502020204030204"/>
                <a:cs typeface="Calibri" panose="020F0502020204030204"/>
              </a:rPr>
              <a:t>Dimensionality</a:t>
            </a:r>
            <a:r>
              <a:rPr sz="2100" spc="10" dirty="0">
                <a:latin typeface="Calibri" panose="020F0502020204030204"/>
                <a:cs typeface="Calibri" panose="020F0502020204030204"/>
              </a:rPr>
              <a:t> </a:t>
            </a:r>
            <a:r>
              <a:rPr sz="2100" spc="-5" dirty="0">
                <a:latin typeface="Calibri" panose="020F0502020204030204"/>
                <a:cs typeface="Calibri" panose="020F0502020204030204"/>
              </a:rPr>
              <a:t>reduction,</a:t>
            </a:r>
            <a:r>
              <a:rPr sz="2100" spc="10" dirty="0">
                <a:latin typeface="Calibri" panose="020F0502020204030204"/>
                <a:cs typeface="Calibri" panose="020F0502020204030204"/>
              </a:rPr>
              <a:t> </a:t>
            </a:r>
            <a:r>
              <a:rPr sz="2100" spc="-5" dirty="0">
                <a:latin typeface="Calibri" panose="020F0502020204030204"/>
                <a:cs typeface="Calibri" panose="020F0502020204030204"/>
              </a:rPr>
              <a:t>Principal</a:t>
            </a:r>
            <a:r>
              <a:rPr sz="2100" spc="10" dirty="0">
                <a:latin typeface="Calibri" panose="020F0502020204030204"/>
                <a:cs typeface="Calibri" panose="020F0502020204030204"/>
              </a:rPr>
              <a:t> </a:t>
            </a:r>
            <a:r>
              <a:rPr sz="2100" spc="-10" dirty="0">
                <a:latin typeface="Calibri" panose="020F0502020204030204"/>
                <a:cs typeface="Calibri" panose="020F0502020204030204"/>
              </a:rPr>
              <a:t>Component</a:t>
            </a:r>
            <a:r>
              <a:rPr sz="2100" spc="15" dirty="0">
                <a:latin typeface="Calibri" panose="020F0502020204030204"/>
                <a:cs typeface="Calibri" panose="020F0502020204030204"/>
              </a:rPr>
              <a:t> </a:t>
            </a:r>
            <a:r>
              <a:rPr sz="2100" spc="-10" dirty="0">
                <a:latin typeface="Calibri" panose="020F0502020204030204"/>
                <a:cs typeface="Calibri" panose="020F0502020204030204"/>
              </a:rPr>
              <a:t>Analysis.</a:t>
            </a:r>
            <a:endParaRPr sz="21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612007" y="609676"/>
            <a:ext cx="192214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b="1" spc="-10" dirty="0">
                <a:solidFill>
                  <a:srgbClr val="001F5F"/>
                </a:solidFill>
                <a:latin typeface="Calibri" panose="020F0502020204030204"/>
                <a:cs typeface="Calibri" panose="020F0502020204030204"/>
              </a:rPr>
              <a:t>Syllabus</a:t>
            </a:r>
            <a:endParaRPr sz="4400">
              <a:latin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741546" y="609676"/>
            <a:ext cx="1663064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b="1" dirty="0">
                <a:solidFill>
                  <a:srgbClr val="001F5F"/>
                </a:solidFill>
                <a:latin typeface="Calibri" panose="020F0502020204030204"/>
                <a:cs typeface="Calibri" panose="020F0502020204030204"/>
              </a:rPr>
              <a:t>BOO</a:t>
            </a:r>
            <a:r>
              <a:rPr sz="4400" b="1" spc="-40" dirty="0">
                <a:solidFill>
                  <a:srgbClr val="001F5F"/>
                </a:solidFill>
                <a:latin typeface="Calibri" panose="020F0502020204030204"/>
                <a:cs typeface="Calibri" panose="020F0502020204030204"/>
              </a:rPr>
              <a:t>K</a:t>
            </a:r>
            <a:r>
              <a:rPr sz="4400" b="1" dirty="0">
                <a:solidFill>
                  <a:srgbClr val="001F5F"/>
                </a:solidFill>
                <a:latin typeface="Calibri" panose="020F0502020204030204"/>
                <a:cs typeface="Calibri" panose="020F0502020204030204"/>
              </a:rPr>
              <a:t>S</a:t>
            </a:r>
            <a:endParaRPr sz="44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07542" y="1741067"/>
            <a:ext cx="7722870" cy="3967479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184785" indent="-172720">
              <a:lnSpc>
                <a:spcPct val="100000"/>
              </a:lnSpc>
              <a:spcBef>
                <a:spcPts val="675"/>
              </a:spcBef>
              <a:buFont typeface="Arial MT"/>
              <a:buChar char="•"/>
              <a:tabLst>
                <a:tab pos="185420" algn="l"/>
              </a:tabLst>
            </a:pPr>
            <a:r>
              <a:rPr sz="1900" b="1" spc="-1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TEXT</a:t>
            </a:r>
            <a:r>
              <a:rPr sz="1900" b="1" spc="-3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900" b="1" spc="-1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BOOKS:</a:t>
            </a:r>
            <a:endParaRPr sz="1900">
              <a:latin typeface="Calibri" panose="020F0502020204030204"/>
              <a:cs typeface="Calibri" panose="020F0502020204030204"/>
            </a:endParaRPr>
          </a:p>
          <a:p>
            <a:pPr marL="184785" indent="-172720">
              <a:lnSpc>
                <a:spcPts val="2165"/>
              </a:lnSpc>
              <a:spcBef>
                <a:spcPts val="575"/>
              </a:spcBef>
              <a:buFont typeface="Arial MT"/>
              <a:buChar char="•"/>
              <a:tabLst>
                <a:tab pos="185420" algn="l"/>
              </a:tabLst>
            </a:pPr>
            <a:r>
              <a:rPr sz="1900" spc="-10" dirty="0">
                <a:latin typeface="Calibri" panose="020F0502020204030204"/>
                <a:cs typeface="Calibri" panose="020F0502020204030204"/>
              </a:rPr>
              <a:t>TB1.</a:t>
            </a:r>
            <a:r>
              <a:rPr sz="1900" spc="10" dirty="0">
                <a:latin typeface="Calibri" panose="020F0502020204030204"/>
                <a:cs typeface="Calibri" panose="020F0502020204030204"/>
              </a:rPr>
              <a:t> </a:t>
            </a:r>
            <a:r>
              <a:rPr sz="1900" spc="-10" dirty="0">
                <a:latin typeface="Calibri" panose="020F0502020204030204"/>
                <a:cs typeface="Calibri" panose="020F0502020204030204"/>
              </a:rPr>
              <a:t>GeronAurelien,</a:t>
            </a:r>
            <a:r>
              <a:rPr sz="1900" spc="45" dirty="0">
                <a:latin typeface="Calibri" panose="020F0502020204030204"/>
                <a:cs typeface="Calibri" panose="020F0502020204030204"/>
              </a:rPr>
              <a:t> </a:t>
            </a:r>
            <a:r>
              <a:rPr sz="1900" spc="-5" dirty="0">
                <a:latin typeface="Calibri" panose="020F0502020204030204"/>
                <a:cs typeface="Calibri" panose="020F0502020204030204"/>
              </a:rPr>
              <a:t>“Hands-On</a:t>
            </a:r>
            <a:r>
              <a:rPr sz="1900" spc="50" dirty="0">
                <a:latin typeface="Calibri" panose="020F0502020204030204"/>
                <a:cs typeface="Calibri" panose="020F0502020204030204"/>
              </a:rPr>
              <a:t> </a:t>
            </a:r>
            <a:r>
              <a:rPr sz="1900" spc="-5" dirty="0">
                <a:latin typeface="Calibri" panose="020F0502020204030204"/>
                <a:cs typeface="Calibri" panose="020F0502020204030204"/>
              </a:rPr>
              <a:t>Machine</a:t>
            </a:r>
            <a:r>
              <a:rPr sz="1900" spc="20" dirty="0">
                <a:latin typeface="Calibri" panose="020F0502020204030204"/>
                <a:cs typeface="Calibri" panose="020F0502020204030204"/>
              </a:rPr>
              <a:t> </a:t>
            </a:r>
            <a:r>
              <a:rPr sz="1900" spc="-10" dirty="0">
                <a:latin typeface="Calibri" panose="020F0502020204030204"/>
                <a:cs typeface="Calibri" panose="020F0502020204030204"/>
              </a:rPr>
              <a:t>Learning</a:t>
            </a:r>
            <a:r>
              <a:rPr sz="1900" spc="20" dirty="0">
                <a:latin typeface="Calibri" panose="020F0502020204030204"/>
                <a:cs typeface="Calibri" panose="020F0502020204030204"/>
              </a:rPr>
              <a:t> </a:t>
            </a:r>
            <a:r>
              <a:rPr sz="1900" spc="-5" dirty="0">
                <a:latin typeface="Calibri" panose="020F0502020204030204"/>
                <a:cs typeface="Calibri" panose="020F0502020204030204"/>
              </a:rPr>
              <a:t>with</a:t>
            </a:r>
            <a:r>
              <a:rPr sz="1900" spc="20" dirty="0">
                <a:latin typeface="Calibri" panose="020F0502020204030204"/>
                <a:cs typeface="Calibri" panose="020F0502020204030204"/>
              </a:rPr>
              <a:t> </a:t>
            </a:r>
            <a:r>
              <a:rPr sz="1900" spc="-5" dirty="0">
                <a:latin typeface="Calibri" panose="020F0502020204030204"/>
                <a:cs typeface="Calibri" panose="020F0502020204030204"/>
              </a:rPr>
              <a:t>Scikit-Learn</a:t>
            </a:r>
            <a:r>
              <a:rPr sz="1900" spc="30" dirty="0">
                <a:latin typeface="Calibri" panose="020F0502020204030204"/>
                <a:cs typeface="Calibri" panose="020F0502020204030204"/>
              </a:rPr>
              <a:t> </a:t>
            </a:r>
            <a:r>
              <a:rPr sz="1900" spc="-5" dirty="0">
                <a:latin typeface="Calibri" panose="020F0502020204030204"/>
                <a:cs typeface="Calibri" panose="020F0502020204030204"/>
              </a:rPr>
              <a:t>&amp;</a:t>
            </a:r>
            <a:endParaRPr sz="1900">
              <a:latin typeface="Calibri" panose="020F0502020204030204"/>
              <a:cs typeface="Calibri" panose="020F0502020204030204"/>
            </a:endParaRPr>
          </a:p>
          <a:p>
            <a:pPr marL="184785">
              <a:lnSpc>
                <a:spcPts val="2165"/>
              </a:lnSpc>
            </a:pPr>
            <a:r>
              <a:rPr sz="1900" spc="-30" dirty="0">
                <a:latin typeface="Calibri" panose="020F0502020204030204"/>
                <a:cs typeface="Calibri" panose="020F0502020204030204"/>
              </a:rPr>
              <a:t>TensorFlow”,</a:t>
            </a:r>
            <a:r>
              <a:rPr sz="1900" spc="10" dirty="0">
                <a:latin typeface="Calibri" panose="020F0502020204030204"/>
                <a:cs typeface="Calibri" panose="020F0502020204030204"/>
              </a:rPr>
              <a:t> </a:t>
            </a:r>
            <a:r>
              <a:rPr sz="1900" spc="-50" dirty="0">
                <a:latin typeface="Calibri" panose="020F0502020204030204"/>
                <a:cs typeface="Calibri" panose="020F0502020204030204"/>
              </a:rPr>
              <a:t>O‟REILLY,</a:t>
            </a:r>
            <a:r>
              <a:rPr sz="1900" spc="15" dirty="0">
                <a:latin typeface="Calibri" panose="020F0502020204030204"/>
                <a:cs typeface="Calibri" panose="020F0502020204030204"/>
              </a:rPr>
              <a:t> </a:t>
            </a:r>
            <a:r>
              <a:rPr sz="1900" spc="-20" dirty="0">
                <a:latin typeface="Calibri" panose="020F0502020204030204"/>
                <a:cs typeface="Calibri" panose="020F0502020204030204"/>
              </a:rPr>
              <a:t>First</a:t>
            </a:r>
            <a:r>
              <a:rPr sz="1900" spc="-10" dirty="0">
                <a:latin typeface="Calibri" panose="020F0502020204030204"/>
                <a:cs typeface="Calibri" panose="020F0502020204030204"/>
              </a:rPr>
              <a:t> Edition,</a:t>
            </a:r>
            <a:r>
              <a:rPr sz="1900" spc="10" dirty="0">
                <a:latin typeface="Calibri" panose="020F0502020204030204"/>
                <a:cs typeface="Calibri" panose="020F0502020204030204"/>
              </a:rPr>
              <a:t> </a:t>
            </a:r>
            <a:r>
              <a:rPr sz="1900" spc="-5" dirty="0">
                <a:latin typeface="Calibri" panose="020F0502020204030204"/>
                <a:cs typeface="Calibri" panose="020F0502020204030204"/>
              </a:rPr>
              <a:t>2017.</a:t>
            </a:r>
            <a:endParaRPr sz="1900">
              <a:latin typeface="Calibri" panose="020F0502020204030204"/>
              <a:cs typeface="Calibri" panose="020F0502020204030204"/>
            </a:endParaRPr>
          </a:p>
          <a:p>
            <a:pPr marL="184785" indent="-172720">
              <a:lnSpc>
                <a:spcPts val="2165"/>
              </a:lnSpc>
              <a:spcBef>
                <a:spcPts val="580"/>
              </a:spcBef>
              <a:buFont typeface="Arial MT"/>
              <a:buChar char="•"/>
              <a:tabLst>
                <a:tab pos="185420" algn="l"/>
              </a:tabLst>
            </a:pPr>
            <a:r>
              <a:rPr sz="1900" spc="-10" dirty="0">
                <a:latin typeface="Calibri" panose="020F0502020204030204"/>
                <a:cs typeface="Calibri" panose="020F0502020204030204"/>
              </a:rPr>
              <a:t>TB2.</a:t>
            </a:r>
            <a:r>
              <a:rPr sz="1900" dirty="0">
                <a:latin typeface="Calibri" panose="020F0502020204030204"/>
                <a:cs typeface="Calibri" panose="020F0502020204030204"/>
              </a:rPr>
              <a:t> </a:t>
            </a:r>
            <a:r>
              <a:rPr sz="1900" spc="-5" dirty="0">
                <a:latin typeface="Calibri" panose="020F0502020204030204"/>
                <a:cs typeface="Calibri" panose="020F0502020204030204"/>
              </a:rPr>
              <a:t>U</a:t>
            </a:r>
            <a:r>
              <a:rPr sz="1900" spc="10" dirty="0">
                <a:latin typeface="Calibri" panose="020F0502020204030204"/>
                <a:cs typeface="Calibri" panose="020F0502020204030204"/>
              </a:rPr>
              <a:t> </a:t>
            </a:r>
            <a:r>
              <a:rPr sz="1900" spc="-10" dirty="0">
                <a:latin typeface="Calibri" panose="020F0502020204030204"/>
                <a:cs typeface="Calibri" panose="020F0502020204030204"/>
              </a:rPr>
              <a:t>Dinesh</a:t>
            </a:r>
            <a:r>
              <a:rPr sz="1900" spc="20" dirty="0">
                <a:latin typeface="Calibri" panose="020F0502020204030204"/>
                <a:cs typeface="Calibri" panose="020F0502020204030204"/>
              </a:rPr>
              <a:t> </a:t>
            </a:r>
            <a:r>
              <a:rPr sz="1900" spc="-15" dirty="0">
                <a:latin typeface="Calibri" panose="020F0502020204030204"/>
                <a:cs typeface="Calibri" panose="020F0502020204030204"/>
              </a:rPr>
              <a:t>Kumar</a:t>
            </a:r>
            <a:r>
              <a:rPr sz="1900" spc="5" dirty="0">
                <a:latin typeface="Calibri" panose="020F0502020204030204"/>
                <a:cs typeface="Calibri" panose="020F0502020204030204"/>
              </a:rPr>
              <a:t> </a:t>
            </a:r>
            <a:r>
              <a:rPr sz="1900" spc="-5" dirty="0">
                <a:latin typeface="Calibri" panose="020F0502020204030204"/>
                <a:cs typeface="Calibri" panose="020F0502020204030204"/>
              </a:rPr>
              <a:t>and</a:t>
            </a:r>
            <a:r>
              <a:rPr sz="1900" spc="35" dirty="0">
                <a:latin typeface="Calibri" panose="020F0502020204030204"/>
                <a:cs typeface="Calibri" panose="020F0502020204030204"/>
              </a:rPr>
              <a:t> </a:t>
            </a:r>
            <a:r>
              <a:rPr sz="1900" spc="-5" dirty="0">
                <a:latin typeface="Calibri" panose="020F0502020204030204"/>
                <a:cs typeface="Calibri" panose="020F0502020204030204"/>
              </a:rPr>
              <a:t>Manaranjan</a:t>
            </a:r>
            <a:r>
              <a:rPr sz="1900" spc="20" dirty="0">
                <a:latin typeface="Calibri" panose="020F0502020204030204"/>
                <a:cs typeface="Calibri" panose="020F0502020204030204"/>
              </a:rPr>
              <a:t> </a:t>
            </a:r>
            <a:r>
              <a:rPr sz="1900" spc="-10" dirty="0">
                <a:latin typeface="Calibri" panose="020F0502020204030204"/>
                <a:cs typeface="Calibri" panose="020F0502020204030204"/>
              </a:rPr>
              <a:t>Pradhan,</a:t>
            </a:r>
            <a:r>
              <a:rPr sz="1900" spc="15" dirty="0">
                <a:latin typeface="Calibri" panose="020F0502020204030204"/>
                <a:cs typeface="Calibri" panose="020F0502020204030204"/>
              </a:rPr>
              <a:t> </a:t>
            </a:r>
            <a:r>
              <a:rPr sz="1900" spc="-10" dirty="0">
                <a:latin typeface="Calibri" panose="020F0502020204030204"/>
                <a:cs typeface="Calibri" panose="020F0502020204030204"/>
              </a:rPr>
              <a:t>“Machine</a:t>
            </a:r>
            <a:r>
              <a:rPr sz="1900" spc="25" dirty="0">
                <a:latin typeface="Calibri" panose="020F0502020204030204"/>
                <a:cs typeface="Calibri" panose="020F0502020204030204"/>
              </a:rPr>
              <a:t> </a:t>
            </a:r>
            <a:r>
              <a:rPr sz="1900" spc="-10" dirty="0">
                <a:latin typeface="Calibri" panose="020F0502020204030204"/>
                <a:cs typeface="Calibri" panose="020F0502020204030204"/>
              </a:rPr>
              <a:t>Learning</a:t>
            </a:r>
            <a:r>
              <a:rPr sz="1900" spc="25" dirty="0">
                <a:latin typeface="Calibri" panose="020F0502020204030204"/>
                <a:cs typeface="Calibri" panose="020F0502020204030204"/>
              </a:rPr>
              <a:t> </a:t>
            </a:r>
            <a:r>
              <a:rPr sz="1900" spc="-10" dirty="0">
                <a:latin typeface="Calibri" panose="020F0502020204030204"/>
                <a:cs typeface="Calibri" panose="020F0502020204030204"/>
              </a:rPr>
              <a:t>using</a:t>
            </a:r>
            <a:endParaRPr sz="1900">
              <a:latin typeface="Calibri" panose="020F0502020204030204"/>
              <a:cs typeface="Calibri" panose="020F0502020204030204"/>
            </a:endParaRPr>
          </a:p>
          <a:p>
            <a:pPr marL="184785">
              <a:lnSpc>
                <a:spcPts val="2165"/>
              </a:lnSpc>
            </a:pPr>
            <a:r>
              <a:rPr sz="1900" dirty="0">
                <a:latin typeface="Calibri" panose="020F0502020204030204"/>
                <a:cs typeface="Calibri" panose="020F0502020204030204"/>
              </a:rPr>
              <a:t>Python",</a:t>
            </a:r>
            <a:r>
              <a:rPr sz="1900" spc="-5" dirty="0">
                <a:latin typeface="Calibri" panose="020F0502020204030204"/>
                <a:cs typeface="Calibri" panose="020F0502020204030204"/>
              </a:rPr>
              <a:t> </a:t>
            </a:r>
            <a:r>
              <a:rPr sz="1900" spc="-30" dirty="0">
                <a:latin typeface="Calibri" panose="020F0502020204030204"/>
                <a:cs typeface="Calibri" panose="020F0502020204030204"/>
              </a:rPr>
              <a:t>Wiley,</a:t>
            </a:r>
            <a:r>
              <a:rPr sz="1900" spc="-25" dirty="0">
                <a:latin typeface="Calibri" panose="020F0502020204030204"/>
                <a:cs typeface="Calibri" panose="020F0502020204030204"/>
              </a:rPr>
              <a:t> </a:t>
            </a:r>
            <a:r>
              <a:rPr sz="1900" spc="-5" dirty="0">
                <a:latin typeface="Calibri" panose="020F0502020204030204"/>
                <a:cs typeface="Calibri" panose="020F0502020204030204"/>
              </a:rPr>
              <a:t>2019.</a:t>
            </a:r>
            <a:endParaRPr sz="1900">
              <a:latin typeface="Calibri" panose="020F0502020204030204"/>
              <a:cs typeface="Calibri" panose="020F0502020204030204"/>
            </a:endParaRPr>
          </a:p>
          <a:p>
            <a:pPr marL="184785" indent="-172720">
              <a:lnSpc>
                <a:spcPts val="2165"/>
              </a:lnSpc>
              <a:spcBef>
                <a:spcPts val="565"/>
              </a:spcBef>
              <a:buFont typeface="Arial MT"/>
              <a:buChar char="•"/>
              <a:tabLst>
                <a:tab pos="185420" algn="l"/>
              </a:tabLst>
            </a:pPr>
            <a:r>
              <a:rPr sz="1900" spc="-10" dirty="0">
                <a:latin typeface="Calibri" panose="020F0502020204030204"/>
                <a:cs typeface="Calibri" panose="020F0502020204030204"/>
              </a:rPr>
              <a:t>TB3.</a:t>
            </a:r>
            <a:r>
              <a:rPr sz="1900" spc="15" dirty="0">
                <a:latin typeface="Calibri" panose="020F0502020204030204"/>
                <a:cs typeface="Calibri" panose="020F0502020204030204"/>
              </a:rPr>
              <a:t> </a:t>
            </a:r>
            <a:r>
              <a:rPr sz="1900" spc="-15" dirty="0">
                <a:latin typeface="Calibri" panose="020F0502020204030204"/>
                <a:cs typeface="Calibri" panose="020F0502020204030204"/>
              </a:rPr>
              <a:t>Fausett</a:t>
            </a:r>
            <a:r>
              <a:rPr sz="1900" dirty="0">
                <a:latin typeface="Calibri" panose="020F0502020204030204"/>
                <a:cs typeface="Calibri" panose="020F0502020204030204"/>
              </a:rPr>
              <a:t> </a:t>
            </a:r>
            <a:r>
              <a:rPr sz="1900" spc="-10" dirty="0">
                <a:latin typeface="Calibri" panose="020F0502020204030204"/>
                <a:cs typeface="Calibri" panose="020F0502020204030204"/>
              </a:rPr>
              <a:t>Laurence,</a:t>
            </a:r>
            <a:r>
              <a:rPr sz="1900" spc="30" dirty="0">
                <a:latin typeface="Calibri" panose="020F0502020204030204"/>
                <a:cs typeface="Calibri" panose="020F0502020204030204"/>
              </a:rPr>
              <a:t> </a:t>
            </a:r>
            <a:r>
              <a:rPr sz="1900" spc="-10" dirty="0">
                <a:latin typeface="Calibri" panose="020F0502020204030204"/>
                <a:cs typeface="Calibri" panose="020F0502020204030204"/>
              </a:rPr>
              <a:t>“Fundamentals</a:t>
            </a:r>
            <a:r>
              <a:rPr sz="1900" spc="20" dirty="0">
                <a:latin typeface="Calibri" panose="020F0502020204030204"/>
                <a:cs typeface="Calibri" panose="020F0502020204030204"/>
              </a:rPr>
              <a:t> </a:t>
            </a:r>
            <a:r>
              <a:rPr sz="1900" spc="-5" dirty="0">
                <a:latin typeface="Calibri" panose="020F0502020204030204"/>
                <a:cs typeface="Calibri" panose="020F0502020204030204"/>
              </a:rPr>
              <a:t>of</a:t>
            </a:r>
            <a:r>
              <a:rPr sz="1900" spc="-10" dirty="0">
                <a:latin typeface="Calibri" panose="020F0502020204030204"/>
                <a:cs typeface="Calibri" panose="020F0502020204030204"/>
              </a:rPr>
              <a:t> Neural</a:t>
            </a:r>
            <a:r>
              <a:rPr sz="1900" spc="25" dirty="0">
                <a:latin typeface="Calibri" panose="020F0502020204030204"/>
                <a:cs typeface="Calibri" panose="020F0502020204030204"/>
              </a:rPr>
              <a:t> </a:t>
            </a:r>
            <a:r>
              <a:rPr sz="1900" spc="-30" dirty="0">
                <a:latin typeface="Calibri" panose="020F0502020204030204"/>
                <a:cs typeface="Calibri" panose="020F0502020204030204"/>
              </a:rPr>
              <a:t>Networks”,</a:t>
            </a:r>
            <a:r>
              <a:rPr sz="1900" dirty="0">
                <a:latin typeface="Calibri" panose="020F0502020204030204"/>
                <a:cs typeface="Calibri" panose="020F0502020204030204"/>
              </a:rPr>
              <a:t> </a:t>
            </a:r>
            <a:r>
              <a:rPr sz="1900" spc="-15" dirty="0">
                <a:latin typeface="Calibri" panose="020F0502020204030204"/>
                <a:cs typeface="Calibri" panose="020F0502020204030204"/>
              </a:rPr>
              <a:t>Pearson,</a:t>
            </a:r>
            <a:r>
              <a:rPr sz="1900" spc="15" dirty="0">
                <a:latin typeface="Calibri" panose="020F0502020204030204"/>
                <a:cs typeface="Calibri" panose="020F0502020204030204"/>
              </a:rPr>
              <a:t> </a:t>
            </a:r>
            <a:r>
              <a:rPr sz="1900" spc="-10" dirty="0">
                <a:latin typeface="Calibri" panose="020F0502020204030204"/>
                <a:cs typeface="Calibri" panose="020F0502020204030204"/>
              </a:rPr>
              <a:t>Ninth</a:t>
            </a:r>
            <a:endParaRPr sz="1900">
              <a:latin typeface="Calibri" panose="020F0502020204030204"/>
              <a:cs typeface="Calibri" panose="020F0502020204030204"/>
            </a:endParaRPr>
          </a:p>
          <a:p>
            <a:pPr marL="184785">
              <a:lnSpc>
                <a:spcPts val="2165"/>
              </a:lnSpc>
            </a:pPr>
            <a:r>
              <a:rPr sz="1900" spc="-10" dirty="0">
                <a:latin typeface="Calibri" panose="020F0502020204030204"/>
                <a:cs typeface="Calibri" panose="020F0502020204030204"/>
              </a:rPr>
              <a:t>Edition,</a:t>
            </a:r>
            <a:r>
              <a:rPr sz="1900" spc="-20" dirty="0">
                <a:latin typeface="Calibri" panose="020F0502020204030204"/>
                <a:cs typeface="Calibri" panose="020F0502020204030204"/>
              </a:rPr>
              <a:t> </a:t>
            </a:r>
            <a:r>
              <a:rPr sz="1900" spc="-5" dirty="0">
                <a:latin typeface="Calibri" panose="020F0502020204030204"/>
                <a:cs typeface="Calibri" panose="020F0502020204030204"/>
              </a:rPr>
              <a:t>2012.</a:t>
            </a:r>
            <a:endParaRPr sz="1900">
              <a:latin typeface="Calibri" panose="020F0502020204030204"/>
              <a:cs typeface="Calibri" panose="020F0502020204030204"/>
            </a:endParaRPr>
          </a:p>
          <a:p>
            <a:pPr marL="184785" indent="-172720">
              <a:lnSpc>
                <a:spcPct val="100000"/>
              </a:lnSpc>
              <a:spcBef>
                <a:spcPts val="575"/>
              </a:spcBef>
              <a:buFont typeface="Arial MT"/>
              <a:buChar char="•"/>
              <a:tabLst>
                <a:tab pos="185420" algn="l"/>
              </a:tabLst>
            </a:pPr>
            <a:r>
              <a:rPr sz="1900" b="1" spc="-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REFERENCE</a:t>
            </a:r>
            <a:r>
              <a:rPr sz="1900" b="1" spc="-2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900" b="1" spc="-1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BOOKS:</a:t>
            </a:r>
            <a:endParaRPr sz="1900">
              <a:latin typeface="Calibri" panose="020F0502020204030204"/>
              <a:cs typeface="Calibri" panose="020F0502020204030204"/>
            </a:endParaRPr>
          </a:p>
          <a:p>
            <a:pPr marL="184785" indent="-172720">
              <a:lnSpc>
                <a:spcPct val="100000"/>
              </a:lnSpc>
              <a:spcBef>
                <a:spcPts val="580"/>
              </a:spcBef>
              <a:buFont typeface="Arial MT"/>
              <a:buChar char="•"/>
              <a:tabLst>
                <a:tab pos="185420" algn="l"/>
              </a:tabLst>
            </a:pPr>
            <a:r>
              <a:rPr sz="1900" spc="-5" dirty="0">
                <a:latin typeface="Calibri" panose="020F0502020204030204"/>
                <a:cs typeface="Calibri" panose="020F0502020204030204"/>
              </a:rPr>
              <a:t>RB1.</a:t>
            </a:r>
            <a:r>
              <a:rPr sz="1900" spc="10" dirty="0">
                <a:latin typeface="Calibri" panose="020F0502020204030204"/>
                <a:cs typeface="Calibri" panose="020F0502020204030204"/>
              </a:rPr>
              <a:t> </a:t>
            </a:r>
            <a:r>
              <a:rPr sz="1900" spc="-65" dirty="0">
                <a:latin typeface="Calibri" panose="020F0502020204030204"/>
                <a:cs typeface="Calibri" panose="020F0502020204030204"/>
              </a:rPr>
              <a:t>Tom</a:t>
            </a:r>
            <a:r>
              <a:rPr sz="1900" dirty="0">
                <a:latin typeface="Calibri" panose="020F0502020204030204"/>
                <a:cs typeface="Calibri" panose="020F0502020204030204"/>
              </a:rPr>
              <a:t> </a:t>
            </a:r>
            <a:r>
              <a:rPr sz="1900" spc="-10" dirty="0">
                <a:latin typeface="Calibri" panose="020F0502020204030204"/>
                <a:cs typeface="Calibri" panose="020F0502020204030204"/>
              </a:rPr>
              <a:t>Mitchell,</a:t>
            </a:r>
            <a:r>
              <a:rPr sz="1900" spc="30" dirty="0">
                <a:latin typeface="Calibri" panose="020F0502020204030204"/>
                <a:cs typeface="Calibri" panose="020F0502020204030204"/>
              </a:rPr>
              <a:t> </a:t>
            </a:r>
            <a:r>
              <a:rPr sz="1900" spc="-10" dirty="0">
                <a:latin typeface="Calibri" panose="020F0502020204030204"/>
                <a:cs typeface="Calibri" panose="020F0502020204030204"/>
              </a:rPr>
              <a:t>“Machine</a:t>
            </a:r>
            <a:r>
              <a:rPr sz="1900" spc="35" dirty="0">
                <a:latin typeface="Calibri" panose="020F0502020204030204"/>
                <a:cs typeface="Calibri" panose="020F0502020204030204"/>
              </a:rPr>
              <a:t> </a:t>
            </a:r>
            <a:r>
              <a:rPr sz="1900" spc="-20" dirty="0">
                <a:latin typeface="Calibri" panose="020F0502020204030204"/>
                <a:cs typeface="Calibri" panose="020F0502020204030204"/>
              </a:rPr>
              <a:t>Learning”,</a:t>
            </a:r>
            <a:r>
              <a:rPr sz="1900" spc="50" dirty="0">
                <a:latin typeface="Calibri" panose="020F0502020204030204"/>
                <a:cs typeface="Calibri" panose="020F0502020204030204"/>
              </a:rPr>
              <a:t> </a:t>
            </a:r>
            <a:r>
              <a:rPr sz="1900" spc="-20" dirty="0">
                <a:latin typeface="Calibri" panose="020F0502020204030204"/>
                <a:cs typeface="Calibri" panose="020F0502020204030204"/>
              </a:rPr>
              <a:t>First</a:t>
            </a:r>
            <a:r>
              <a:rPr sz="1900" spc="5" dirty="0">
                <a:latin typeface="Calibri" panose="020F0502020204030204"/>
                <a:cs typeface="Calibri" panose="020F0502020204030204"/>
              </a:rPr>
              <a:t> </a:t>
            </a:r>
            <a:r>
              <a:rPr sz="1900" spc="-10" dirty="0">
                <a:latin typeface="Calibri" panose="020F0502020204030204"/>
                <a:cs typeface="Calibri" panose="020F0502020204030204"/>
              </a:rPr>
              <a:t>Edition,</a:t>
            </a:r>
            <a:r>
              <a:rPr sz="1900" spc="10" dirty="0">
                <a:latin typeface="Calibri" panose="020F0502020204030204"/>
                <a:cs typeface="Calibri" panose="020F0502020204030204"/>
              </a:rPr>
              <a:t> </a:t>
            </a:r>
            <a:r>
              <a:rPr sz="1900" spc="-5" dirty="0">
                <a:latin typeface="Calibri" panose="020F0502020204030204"/>
                <a:cs typeface="Calibri" panose="020F0502020204030204"/>
              </a:rPr>
              <a:t>McGraw-</a:t>
            </a:r>
            <a:r>
              <a:rPr sz="1900" spc="20" dirty="0">
                <a:latin typeface="Calibri" panose="020F0502020204030204"/>
                <a:cs typeface="Calibri" panose="020F0502020204030204"/>
              </a:rPr>
              <a:t> </a:t>
            </a:r>
            <a:r>
              <a:rPr sz="1900" spc="-10" dirty="0">
                <a:latin typeface="Calibri" panose="020F0502020204030204"/>
                <a:cs typeface="Calibri" panose="020F0502020204030204"/>
              </a:rPr>
              <a:t>Hill,</a:t>
            </a:r>
            <a:r>
              <a:rPr sz="1900" spc="40" dirty="0">
                <a:latin typeface="Calibri" panose="020F0502020204030204"/>
                <a:cs typeface="Calibri" panose="020F0502020204030204"/>
              </a:rPr>
              <a:t> </a:t>
            </a:r>
            <a:r>
              <a:rPr sz="1900" spc="-5" dirty="0">
                <a:latin typeface="Calibri" panose="020F0502020204030204"/>
                <a:cs typeface="Calibri" panose="020F0502020204030204"/>
              </a:rPr>
              <a:t>1997.</a:t>
            </a:r>
            <a:endParaRPr sz="1900">
              <a:latin typeface="Calibri" panose="020F0502020204030204"/>
              <a:cs typeface="Calibri" panose="020F0502020204030204"/>
            </a:endParaRPr>
          </a:p>
          <a:p>
            <a:pPr marL="184785" indent="-172720">
              <a:lnSpc>
                <a:spcPct val="100000"/>
              </a:lnSpc>
              <a:spcBef>
                <a:spcPts val="560"/>
              </a:spcBef>
              <a:buFont typeface="Arial MT"/>
              <a:buChar char="•"/>
              <a:tabLst>
                <a:tab pos="185420" algn="l"/>
              </a:tabLst>
            </a:pPr>
            <a:r>
              <a:rPr sz="1900" spc="-5" dirty="0">
                <a:latin typeface="Calibri" panose="020F0502020204030204"/>
                <a:cs typeface="Calibri" panose="020F0502020204030204"/>
              </a:rPr>
              <a:t>RB2.</a:t>
            </a:r>
            <a:r>
              <a:rPr sz="1900" dirty="0">
                <a:latin typeface="Calibri" panose="020F0502020204030204"/>
                <a:cs typeface="Calibri" panose="020F0502020204030204"/>
              </a:rPr>
              <a:t> </a:t>
            </a:r>
            <a:r>
              <a:rPr sz="1900" spc="-5" dirty="0">
                <a:latin typeface="Calibri" panose="020F0502020204030204"/>
                <a:cs typeface="Calibri" panose="020F0502020204030204"/>
              </a:rPr>
              <a:t>Budd</a:t>
            </a:r>
            <a:r>
              <a:rPr sz="1900" spc="15" dirty="0">
                <a:latin typeface="Calibri" panose="020F0502020204030204"/>
                <a:cs typeface="Calibri" panose="020F0502020204030204"/>
              </a:rPr>
              <a:t> </a:t>
            </a:r>
            <a:r>
              <a:rPr sz="1900" spc="-5" dirty="0">
                <a:latin typeface="Calibri" panose="020F0502020204030204"/>
                <a:cs typeface="Calibri" panose="020F0502020204030204"/>
              </a:rPr>
              <a:t>T A,</a:t>
            </a:r>
            <a:r>
              <a:rPr sz="1900" spc="10" dirty="0">
                <a:latin typeface="Calibri" panose="020F0502020204030204"/>
                <a:cs typeface="Calibri" panose="020F0502020204030204"/>
              </a:rPr>
              <a:t> </a:t>
            </a:r>
            <a:r>
              <a:rPr sz="1900" spc="-10" dirty="0">
                <a:latin typeface="Calibri" panose="020F0502020204030204"/>
                <a:cs typeface="Calibri" panose="020F0502020204030204"/>
              </a:rPr>
              <a:t>"Exploring</a:t>
            </a:r>
            <a:r>
              <a:rPr sz="1900" spc="45" dirty="0">
                <a:latin typeface="Calibri" panose="020F0502020204030204"/>
                <a:cs typeface="Calibri" panose="020F0502020204030204"/>
              </a:rPr>
              <a:t> </a:t>
            </a:r>
            <a:r>
              <a:rPr sz="1900" dirty="0">
                <a:latin typeface="Calibri" panose="020F0502020204030204"/>
                <a:cs typeface="Calibri" panose="020F0502020204030204"/>
              </a:rPr>
              <a:t>Python",</a:t>
            </a:r>
            <a:r>
              <a:rPr sz="1900" spc="15" dirty="0">
                <a:latin typeface="Calibri" panose="020F0502020204030204"/>
                <a:cs typeface="Calibri" panose="020F0502020204030204"/>
              </a:rPr>
              <a:t> </a:t>
            </a:r>
            <a:r>
              <a:rPr sz="1900" spc="-10" dirty="0">
                <a:latin typeface="Calibri" panose="020F0502020204030204"/>
                <a:cs typeface="Calibri" panose="020F0502020204030204"/>
              </a:rPr>
              <a:t>McGraw-Hill</a:t>
            </a:r>
            <a:r>
              <a:rPr sz="1900" spc="35" dirty="0">
                <a:latin typeface="Calibri" panose="020F0502020204030204"/>
                <a:cs typeface="Calibri" panose="020F0502020204030204"/>
              </a:rPr>
              <a:t> </a:t>
            </a:r>
            <a:r>
              <a:rPr sz="1900" spc="-10" dirty="0">
                <a:latin typeface="Calibri" panose="020F0502020204030204"/>
                <a:cs typeface="Calibri" panose="020F0502020204030204"/>
              </a:rPr>
              <a:t>Education,</a:t>
            </a:r>
            <a:r>
              <a:rPr sz="1900" spc="10" dirty="0">
                <a:latin typeface="Calibri" panose="020F0502020204030204"/>
                <a:cs typeface="Calibri" panose="020F0502020204030204"/>
              </a:rPr>
              <a:t> </a:t>
            </a:r>
            <a:r>
              <a:rPr sz="1900" spc="-10" dirty="0">
                <a:latin typeface="Calibri" panose="020F0502020204030204"/>
                <a:cs typeface="Calibri" panose="020F0502020204030204"/>
              </a:rPr>
              <a:t>1st</a:t>
            </a:r>
            <a:r>
              <a:rPr sz="1900" spc="-5" dirty="0">
                <a:latin typeface="Calibri" panose="020F0502020204030204"/>
                <a:cs typeface="Calibri" panose="020F0502020204030204"/>
              </a:rPr>
              <a:t> </a:t>
            </a:r>
            <a:r>
              <a:rPr sz="1900" spc="-10" dirty="0">
                <a:latin typeface="Calibri" panose="020F0502020204030204"/>
                <a:cs typeface="Calibri" panose="020F0502020204030204"/>
              </a:rPr>
              <a:t>Edition,</a:t>
            </a:r>
            <a:r>
              <a:rPr sz="1900" spc="20" dirty="0">
                <a:latin typeface="Calibri" panose="020F0502020204030204"/>
                <a:cs typeface="Calibri" panose="020F0502020204030204"/>
              </a:rPr>
              <a:t> </a:t>
            </a:r>
            <a:r>
              <a:rPr sz="1900" spc="-5" dirty="0">
                <a:latin typeface="Calibri" panose="020F0502020204030204"/>
                <a:cs typeface="Calibri" panose="020F0502020204030204"/>
              </a:rPr>
              <a:t>2011.</a:t>
            </a:r>
            <a:endParaRPr sz="1900">
              <a:latin typeface="Calibri" panose="020F0502020204030204"/>
              <a:cs typeface="Calibri" panose="020F0502020204030204"/>
            </a:endParaRPr>
          </a:p>
          <a:p>
            <a:pPr marL="184785" indent="-172720">
              <a:lnSpc>
                <a:spcPts val="2165"/>
              </a:lnSpc>
              <a:spcBef>
                <a:spcPts val="580"/>
              </a:spcBef>
              <a:buFont typeface="Arial MT"/>
              <a:buChar char="•"/>
              <a:tabLst>
                <a:tab pos="185420" algn="l"/>
              </a:tabLst>
            </a:pPr>
            <a:r>
              <a:rPr sz="1900" spc="-5" dirty="0">
                <a:latin typeface="Calibri" panose="020F0502020204030204"/>
                <a:cs typeface="Calibri" panose="020F0502020204030204"/>
              </a:rPr>
              <a:t>RB3.</a:t>
            </a:r>
            <a:r>
              <a:rPr sz="1900" spc="5" dirty="0">
                <a:latin typeface="Calibri" panose="020F0502020204030204"/>
                <a:cs typeface="Calibri" panose="020F0502020204030204"/>
              </a:rPr>
              <a:t> </a:t>
            </a:r>
            <a:r>
              <a:rPr sz="1900" spc="-20" dirty="0">
                <a:latin typeface="Calibri" panose="020F0502020204030204"/>
                <a:cs typeface="Calibri" panose="020F0502020204030204"/>
              </a:rPr>
              <a:t>Jake</a:t>
            </a:r>
            <a:r>
              <a:rPr sz="1900" spc="15" dirty="0">
                <a:latin typeface="Calibri" panose="020F0502020204030204"/>
                <a:cs typeface="Calibri" panose="020F0502020204030204"/>
              </a:rPr>
              <a:t> </a:t>
            </a:r>
            <a:r>
              <a:rPr sz="1900" spc="-20" dirty="0">
                <a:latin typeface="Calibri" panose="020F0502020204030204"/>
                <a:cs typeface="Calibri" panose="020F0502020204030204"/>
              </a:rPr>
              <a:t>VanderPlas,“Python</a:t>
            </a:r>
            <a:r>
              <a:rPr sz="1900" spc="30" dirty="0">
                <a:latin typeface="Calibri" panose="020F0502020204030204"/>
                <a:cs typeface="Calibri" panose="020F0502020204030204"/>
              </a:rPr>
              <a:t> </a:t>
            </a:r>
            <a:r>
              <a:rPr sz="1900" spc="-15" dirty="0">
                <a:latin typeface="Calibri" panose="020F0502020204030204"/>
                <a:cs typeface="Calibri" panose="020F0502020204030204"/>
              </a:rPr>
              <a:t>Data</a:t>
            </a:r>
            <a:r>
              <a:rPr sz="1900" spc="5" dirty="0">
                <a:latin typeface="Calibri" panose="020F0502020204030204"/>
                <a:cs typeface="Calibri" panose="020F0502020204030204"/>
              </a:rPr>
              <a:t> </a:t>
            </a:r>
            <a:r>
              <a:rPr sz="1900" spc="-5" dirty="0">
                <a:latin typeface="Calibri" panose="020F0502020204030204"/>
                <a:cs typeface="Calibri" panose="020F0502020204030204"/>
              </a:rPr>
              <a:t>Science</a:t>
            </a:r>
            <a:r>
              <a:rPr sz="1900" spc="5" dirty="0">
                <a:latin typeface="Calibri" panose="020F0502020204030204"/>
                <a:cs typeface="Calibri" panose="020F0502020204030204"/>
              </a:rPr>
              <a:t> </a:t>
            </a:r>
            <a:r>
              <a:rPr sz="1900" spc="-25" dirty="0">
                <a:latin typeface="Calibri" panose="020F0502020204030204"/>
                <a:cs typeface="Calibri" panose="020F0502020204030204"/>
              </a:rPr>
              <a:t>Handbook”,</a:t>
            </a:r>
            <a:r>
              <a:rPr sz="1900" spc="40" dirty="0">
                <a:latin typeface="Calibri" panose="020F0502020204030204"/>
                <a:cs typeface="Calibri" panose="020F0502020204030204"/>
              </a:rPr>
              <a:t> </a:t>
            </a:r>
            <a:r>
              <a:rPr sz="1900" spc="-20" dirty="0">
                <a:latin typeface="Calibri" panose="020F0502020204030204"/>
                <a:cs typeface="Calibri" panose="020F0502020204030204"/>
              </a:rPr>
              <a:t>O‟Reilly,1st</a:t>
            </a:r>
            <a:endParaRPr sz="1900">
              <a:latin typeface="Calibri" panose="020F0502020204030204"/>
              <a:cs typeface="Calibri" panose="020F0502020204030204"/>
            </a:endParaRPr>
          </a:p>
          <a:p>
            <a:pPr marL="184785">
              <a:lnSpc>
                <a:spcPts val="2165"/>
              </a:lnSpc>
            </a:pPr>
            <a:r>
              <a:rPr sz="1900" spc="-10" dirty="0">
                <a:latin typeface="Calibri" panose="020F0502020204030204"/>
                <a:cs typeface="Calibri" panose="020F0502020204030204"/>
              </a:rPr>
              <a:t>Edition,2017.</a:t>
            </a:r>
            <a:endParaRPr sz="1900">
              <a:latin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704335" y="429259"/>
            <a:ext cx="1750060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b="1" spc="-10" dirty="0">
                <a:solidFill>
                  <a:srgbClr val="2E5496"/>
                </a:solidFill>
                <a:latin typeface="Calibri" panose="020F0502020204030204"/>
                <a:cs typeface="Calibri" panose="020F0502020204030204"/>
              </a:rPr>
              <a:t>Outline</a:t>
            </a:r>
            <a:endParaRPr sz="44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35635" y="1467174"/>
            <a:ext cx="5813425" cy="2261235"/>
          </a:xfrm>
          <a:prstGeom prst="rect">
            <a:avLst/>
          </a:prstGeom>
        </p:spPr>
        <p:txBody>
          <a:bodyPr vert="horz" wrap="square" lIns="0" tIns="152400" rIns="0" bIns="0" rtlCol="0">
            <a:spAutoFit/>
          </a:bodyPr>
          <a:lstStyle/>
          <a:p>
            <a:pPr marL="527685" indent="-515620">
              <a:lnSpc>
                <a:spcPct val="100000"/>
              </a:lnSpc>
              <a:spcBef>
                <a:spcPts val="1200"/>
              </a:spcBef>
              <a:buAutoNum type="arabicPeriod"/>
              <a:tabLst>
                <a:tab pos="527685" algn="l"/>
                <a:tab pos="528320" algn="l"/>
              </a:tabLst>
            </a:pPr>
            <a:r>
              <a:rPr sz="2800" spc="-25" dirty="0">
                <a:latin typeface="Calibri" panose="020F0502020204030204"/>
                <a:cs typeface="Calibri" panose="020F0502020204030204"/>
              </a:rPr>
              <a:t>Introduction</a:t>
            </a:r>
            <a:endParaRPr sz="2800">
              <a:latin typeface="Calibri" panose="020F0502020204030204"/>
              <a:cs typeface="Calibri" panose="020F0502020204030204"/>
            </a:endParaRPr>
          </a:p>
          <a:p>
            <a:pPr marL="527685" indent="-515620">
              <a:lnSpc>
                <a:spcPct val="100000"/>
              </a:lnSpc>
              <a:spcBef>
                <a:spcPts val="1000"/>
              </a:spcBef>
              <a:buAutoNum type="arabicPeriod"/>
              <a:tabLst>
                <a:tab pos="527685" algn="l"/>
                <a:tab pos="528320" algn="l"/>
              </a:tabLst>
            </a:pPr>
            <a:r>
              <a:rPr sz="2800" spc="-25" dirty="0">
                <a:latin typeface="Calibri" panose="020F0502020204030204"/>
                <a:cs typeface="Calibri" panose="020F0502020204030204"/>
              </a:rPr>
              <a:t>Why </a:t>
            </a:r>
            <a:r>
              <a:rPr sz="2800" spc="-5" dirty="0">
                <a:latin typeface="Calibri" panose="020F0502020204030204"/>
                <a:cs typeface="Calibri" panose="020F0502020204030204"/>
              </a:rPr>
              <a:t>Machine</a:t>
            </a:r>
            <a:r>
              <a:rPr sz="2800" spc="-40" dirty="0">
                <a:latin typeface="Calibri" panose="020F0502020204030204"/>
                <a:cs typeface="Calibri" panose="020F0502020204030204"/>
              </a:rPr>
              <a:t> </a:t>
            </a:r>
            <a:r>
              <a:rPr sz="2800" spc="-5" dirty="0">
                <a:latin typeface="Calibri" panose="020F0502020204030204"/>
                <a:cs typeface="Calibri" panose="020F0502020204030204"/>
              </a:rPr>
              <a:t>learning</a:t>
            </a:r>
            <a:endParaRPr sz="2800">
              <a:latin typeface="Calibri" panose="020F0502020204030204"/>
              <a:cs typeface="Calibri" panose="020F0502020204030204"/>
            </a:endParaRPr>
          </a:p>
          <a:p>
            <a:pPr marL="527685" indent="-515620">
              <a:lnSpc>
                <a:spcPct val="100000"/>
              </a:lnSpc>
              <a:spcBef>
                <a:spcPts val="1005"/>
              </a:spcBef>
              <a:buAutoNum type="arabicPeriod"/>
              <a:tabLst>
                <a:tab pos="527685" algn="l"/>
                <a:tab pos="528320" algn="l"/>
              </a:tabLst>
            </a:pPr>
            <a:r>
              <a:rPr sz="2800" spc="-35" dirty="0">
                <a:latin typeface="Calibri" panose="020F0502020204030204"/>
                <a:cs typeface="Calibri" panose="020F0502020204030204"/>
              </a:rPr>
              <a:t>Types</a:t>
            </a:r>
            <a:r>
              <a:rPr sz="2800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sz="2800" spc="-5" dirty="0">
                <a:latin typeface="Calibri" panose="020F0502020204030204"/>
                <a:cs typeface="Calibri" panose="020F0502020204030204"/>
              </a:rPr>
              <a:t>of </a:t>
            </a:r>
            <a:r>
              <a:rPr sz="2800" spc="-10" dirty="0">
                <a:latin typeface="Calibri" panose="020F0502020204030204"/>
                <a:cs typeface="Calibri" panose="020F0502020204030204"/>
              </a:rPr>
              <a:t>Machine</a:t>
            </a:r>
            <a:r>
              <a:rPr sz="2800" spc="-30" dirty="0">
                <a:latin typeface="Calibri" panose="020F0502020204030204"/>
                <a:cs typeface="Calibri" panose="020F0502020204030204"/>
              </a:rPr>
              <a:t> </a:t>
            </a:r>
            <a:r>
              <a:rPr sz="2800" spc="-10" dirty="0">
                <a:latin typeface="Calibri" panose="020F0502020204030204"/>
                <a:cs typeface="Calibri" panose="020F0502020204030204"/>
              </a:rPr>
              <a:t>Learning</a:t>
            </a:r>
            <a:r>
              <a:rPr sz="2800" spc="-40" dirty="0">
                <a:latin typeface="Calibri" panose="020F0502020204030204"/>
                <a:cs typeface="Calibri" panose="020F0502020204030204"/>
              </a:rPr>
              <a:t> </a:t>
            </a:r>
            <a:r>
              <a:rPr sz="2800" spc="-15" dirty="0">
                <a:latin typeface="Calibri" panose="020F0502020204030204"/>
                <a:cs typeface="Calibri" panose="020F0502020204030204"/>
              </a:rPr>
              <a:t>Problems</a:t>
            </a:r>
            <a:endParaRPr sz="2800">
              <a:latin typeface="Calibri" panose="020F0502020204030204"/>
              <a:cs typeface="Calibri" panose="020F0502020204030204"/>
            </a:endParaRPr>
          </a:p>
          <a:p>
            <a:pPr marL="527685" indent="-515620">
              <a:lnSpc>
                <a:spcPct val="100000"/>
              </a:lnSpc>
              <a:spcBef>
                <a:spcPts val="1000"/>
              </a:spcBef>
              <a:buAutoNum type="arabicPeriod"/>
              <a:tabLst>
                <a:tab pos="527685" algn="l"/>
                <a:tab pos="528320" algn="l"/>
              </a:tabLst>
            </a:pPr>
            <a:r>
              <a:rPr sz="2800" spc="-10" dirty="0">
                <a:latin typeface="Calibri" panose="020F0502020204030204"/>
                <a:cs typeface="Calibri" panose="020F0502020204030204"/>
              </a:rPr>
              <a:t>Applications</a:t>
            </a:r>
            <a:r>
              <a:rPr sz="2800" spc="-30" dirty="0">
                <a:latin typeface="Calibri" panose="020F0502020204030204"/>
                <a:cs typeface="Calibri" panose="020F0502020204030204"/>
              </a:rPr>
              <a:t> </a:t>
            </a:r>
            <a:r>
              <a:rPr sz="2800" spc="-5" dirty="0">
                <a:latin typeface="Calibri" panose="020F0502020204030204"/>
                <a:cs typeface="Calibri" panose="020F0502020204030204"/>
              </a:rPr>
              <a:t>of</a:t>
            </a:r>
            <a:r>
              <a:rPr sz="2800" spc="-10" dirty="0">
                <a:latin typeface="Calibri" panose="020F0502020204030204"/>
                <a:cs typeface="Calibri" panose="020F0502020204030204"/>
              </a:rPr>
              <a:t> Machine</a:t>
            </a:r>
            <a:r>
              <a:rPr sz="2800" spc="-20" dirty="0">
                <a:latin typeface="Calibri" panose="020F0502020204030204"/>
                <a:cs typeface="Calibri" panose="020F0502020204030204"/>
              </a:rPr>
              <a:t> </a:t>
            </a:r>
            <a:r>
              <a:rPr sz="2800" spc="-10" dirty="0">
                <a:latin typeface="Calibri" panose="020F0502020204030204"/>
                <a:cs typeface="Calibri" panose="020F0502020204030204"/>
              </a:rPr>
              <a:t>Learning</a:t>
            </a:r>
            <a:endParaRPr sz="2800">
              <a:latin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22121" y="432562"/>
            <a:ext cx="7430770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b="1" spc="-45" dirty="0">
                <a:solidFill>
                  <a:srgbClr val="2E5496"/>
                </a:solidFill>
                <a:latin typeface="Calibri" panose="020F0502020204030204"/>
                <a:cs typeface="Calibri" panose="020F0502020204030204"/>
              </a:rPr>
              <a:t>Programs</a:t>
            </a:r>
            <a:r>
              <a:rPr sz="4400" b="1" spc="-25" dirty="0">
                <a:solidFill>
                  <a:srgbClr val="2E5496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4400" b="1" spc="-10" dirty="0">
                <a:solidFill>
                  <a:srgbClr val="2E5496"/>
                </a:solidFill>
                <a:latin typeface="Calibri" panose="020F0502020204030204"/>
                <a:cs typeface="Calibri" panose="020F0502020204030204"/>
              </a:rPr>
              <a:t>vs</a:t>
            </a:r>
            <a:r>
              <a:rPr sz="4400" b="1" spc="-50" dirty="0">
                <a:solidFill>
                  <a:srgbClr val="2E5496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4400" b="1" dirty="0">
                <a:solidFill>
                  <a:srgbClr val="2E5496"/>
                </a:solidFill>
                <a:latin typeface="Calibri" panose="020F0502020204030204"/>
                <a:cs typeface="Calibri" panose="020F0502020204030204"/>
              </a:rPr>
              <a:t>learning</a:t>
            </a:r>
            <a:r>
              <a:rPr sz="4400" b="1" spc="-35" dirty="0">
                <a:solidFill>
                  <a:srgbClr val="2E5496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4400" b="1" spc="-10" dirty="0">
                <a:solidFill>
                  <a:srgbClr val="2E5496"/>
                </a:solidFill>
                <a:latin typeface="Calibri" panose="020F0502020204030204"/>
                <a:cs typeface="Calibri" panose="020F0502020204030204"/>
              </a:rPr>
              <a:t>algorithms</a:t>
            </a:r>
            <a:endParaRPr sz="44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180896" y="1711528"/>
            <a:ext cx="2576195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solidFill>
                  <a:srgbClr val="2B4876"/>
                </a:solidFill>
                <a:latin typeface="Calibri" panose="020F0502020204030204"/>
                <a:cs typeface="Calibri" panose="020F0502020204030204"/>
              </a:rPr>
              <a:t>Al</a:t>
            </a:r>
            <a:r>
              <a:rPr sz="2400" b="1" spc="-30" dirty="0">
                <a:solidFill>
                  <a:srgbClr val="2B4876"/>
                </a:solidFill>
                <a:latin typeface="Calibri" panose="020F0502020204030204"/>
                <a:cs typeface="Calibri" panose="020F0502020204030204"/>
              </a:rPr>
              <a:t>g</a:t>
            </a:r>
            <a:r>
              <a:rPr sz="2400" b="1" dirty="0">
                <a:solidFill>
                  <a:srgbClr val="2B4876"/>
                </a:solidFill>
                <a:latin typeface="Calibri" panose="020F0502020204030204"/>
                <a:cs typeface="Calibri" panose="020F0502020204030204"/>
              </a:rPr>
              <a:t>or</a:t>
            </a:r>
            <a:r>
              <a:rPr sz="2400" b="1" spc="-15" dirty="0">
                <a:solidFill>
                  <a:srgbClr val="2B4876"/>
                </a:solidFill>
                <a:latin typeface="Calibri" panose="020F0502020204030204"/>
                <a:cs typeface="Calibri" panose="020F0502020204030204"/>
              </a:rPr>
              <a:t>i</a:t>
            </a:r>
            <a:r>
              <a:rPr sz="2400" b="1" dirty="0">
                <a:solidFill>
                  <a:srgbClr val="2B4876"/>
                </a:solidFill>
                <a:latin typeface="Calibri" panose="020F0502020204030204"/>
                <a:cs typeface="Calibri" panose="020F0502020204030204"/>
              </a:rPr>
              <a:t>t</a:t>
            </a:r>
            <a:r>
              <a:rPr sz="2400" b="1" spc="-15" dirty="0">
                <a:solidFill>
                  <a:srgbClr val="2B4876"/>
                </a:solidFill>
                <a:latin typeface="Calibri" panose="020F0502020204030204"/>
                <a:cs typeface="Calibri" panose="020F0502020204030204"/>
              </a:rPr>
              <a:t>h</a:t>
            </a:r>
            <a:r>
              <a:rPr sz="2400" b="1" spc="-5" dirty="0">
                <a:solidFill>
                  <a:srgbClr val="2B4876"/>
                </a:solidFill>
                <a:latin typeface="Calibri" panose="020F0502020204030204"/>
                <a:cs typeface="Calibri" panose="020F0502020204030204"/>
              </a:rPr>
              <a:t>m</a:t>
            </a:r>
            <a:r>
              <a:rPr sz="2400" b="1" spc="-15" dirty="0">
                <a:solidFill>
                  <a:srgbClr val="2B4876"/>
                </a:solidFill>
                <a:latin typeface="Calibri" panose="020F0502020204030204"/>
                <a:cs typeface="Calibri" panose="020F0502020204030204"/>
              </a:rPr>
              <a:t>i</a:t>
            </a:r>
            <a:r>
              <a:rPr sz="2400" b="1" dirty="0">
                <a:solidFill>
                  <a:srgbClr val="2B4876"/>
                </a:solidFill>
                <a:latin typeface="Calibri" panose="020F0502020204030204"/>
                <a:cs typeface="Calibri" panose="020F0502020204030204"/>
              </a:rPr>
              <a:t>c</a:t>
            </a:r>
            <a:r>
              <a:rPr sz="2400" b="1" spc="-120" dirty="0">
                <a:solidFill>
                  <a:srgbClr val="2B4876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400" b="1" dirty="0">
                <a:solidFill>
                  <a:srgbClr val="2B4876"/>
                </a:solidFill>
                <a:latin typeface="Calibri" panose="020F0502020204030204"/>
                <a:cs typeface="Calibri" panose="020F0502020204030204"/>
              </a:rPr>
              <a:t>solu</a:t>
            </a:r>
            <a:r>
              <a:rPr sz="2400" b="1" spc="-10" dirty="0">
                <a:solidFill>
                  <a:srgbClr val="2B4876"/>
                </a:solidFill>
                <a:latin typeface="Calibri" panose="020F0502020204030204"/>
                <a:cs typeface="Calibri" panose="020F0502020204030204"/>
              </a:rPr>
              <a:t>t</a:t>
            </a:r>
            <a:r>
              <a:rPr sz="2400" b="1" dirty="0">
                <a:solidFill>
                  <a:srgbClr val="2B4876"/>
                </a:solidFill>
                <a:latin typeface="Calibri" panose="020F0502020204030204"/>
                <a:cs typeface="Calibri" panose="020F0502020204030204"/>
              </a:rPr>
              <a:t>ion</a:t>
            </a:r>
            <a:endParaRPr sz="2400">
              <a:latin typeface="Calibri" panose="020F0502020204030204"/>
              <a:cs typeface="Calibri" panose="020F0502020204030204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886975" y="3410700"/>
            <a:ext cx="1752600" cy="1219835"/>
            <a:chOff x="886975" y="3410700"/>
            <a:chExt cx="1752600" cy="1219835"/>
          </a:xfrm>
        </p:grpSpPr>
        <p:pic>
          <p:nvPicPr>
            <p:cNvPr id="5" name="object 5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886975" y="3410700"/>
              <a:ext cx="1752584" cy="1219222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25068" y="3428999"/>
              <a:ext cx="1676400" cy="1143000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925068" y="3428999"/>
              <a:ext cx="1676400" cy="1143000"/>
            </a:xfrm>
            <a:custGeom>
              <a:avLst/>
              <a:gdLst/>
              <a:ahLst/>
              <a:cxnLst/>
              <a:rect l="l" t="t" r="r" b="b"/>
              <a:pathLst>
                <a:path w="1676400" h="1143000">
                  <a:moveTo>
                    <a:pt x="0" y="190500"/>
                  </a:moveTo>
                  <a:lnTo>
                    <a:pt x="5029" y="146812"/>
                  </a:lnTo>
                  <a:lnTo>
                    <a:pt x="19354" y="106807"/>
                  </a:lnTo>
                  <a:lnTo>
                    <a:pt x="41846" y="71374"/>
                  </a:lnTo>
                  <a:lnTo>
                    <a:pt x="71348" y="41910"/>
                  </a:lnTo>
                  <a:lnTo>
                    <a:pt x="106718" y="19430"/>
                  </a:lnTo>
                  <a:lnTo>
                    <a:pt x="146812" y="5079"/>
                  </a:lnTo>
                  <a:lnTo>
                    <a:pt x="190500" y="0"/>
                  </a:lnTo>
                  <a:lnTo>
                    <a:pt x="1485900" y="0"/>
                  </a:lnTo>
                  <a:lnTo>
                    <a:pt x="1529588" y="5079"/>
                  </a:lnTo>
                  <a:lnTo>
                    <a:pt x="1569720" y="19430"/>
                  </a:lnTo>
                  <a:lnTo>
                    <a:pt x="1605026" y="41910"/>
                  </a:lnTo>
                  <a:lnTo>
                    <a:pt x="1634489" y="71374"/>
                  </a:lnTo>
                  <a:lnTo>
                    <a:pt x="1656969" y="106807"/>
                  </a:lnTo>
                  <a:lnTo>
                    <a:pt x="1671320" y="146812"/>
                  </a:lnTo>
                  <a:lnTo>
                    <a:pt x="1676400" y="190500"/>
                  </a:lnTo>
                  <a:lnTo>
                    <a:pt x="1676400" y="952500"/>
                  </a:lnTo>
                  <a:lnTo>
                    <a:pt x="1671320" y="996188"/>
                  </a:lnTo>
                  <a:lnTo>
                    <a:pt x="1656969" y="1036193"/>
                  </a:lnTo>
                  <a:lnTo>
                    <a:pt x="1634489" y="1071626"/>
                  </a:lnTo>
                  <a:lnTo>
                    <a:pt x="1605026" y="1101089"/>
                  </a:lnTo>
                  <a:lnTo>
                    <a:pt x="1569720" y="1123569"/>
                  </a:lnTo>
                  <a:lnTo>
                    <a:pt x="1529588" y="1137920"/>
                  </a:lnTo>
                  <a:lnTo>
                    <a:pt x="1485900" y="1143000"/>
                  </a:lnTo>
                  <a:lnTo>
                    <a:pt x="190500" y="1143000"/>
                  </a:lnTo>
                  <a:lnTo>
                    <a:pt x="146812" y="1137920"/>
                  </a:lnTo>
                  <a:lnTo>
                    <a:pt x="106718" y="1123569"/>
                  </a:lnTo>
                  <a:lnTo>
                    <a:pt x="71348" y="1101089"/>
                  </a:lnTo>
                  <a:lnTo>
                    <a:pt x="41846" y="1071626"/>
                  </a:lnTo>
                  <a:lnTo>
                    <a:pt x="19354" y="1036193"/>
                  </a:lnTo>
                  <a:lnTo>
                    <a:pt x="5029" y="996188"/>
                  </a:lnTo>
                  <a:lnTo>
                    <a:pt x="0" y="952500"/>
                  </a:lnTo>
                  <a:lnTo>
                    <a:pt x="0" y="190500"/>
                  </a:lnTo>
                  <a:close/>
                </a:path>
              </a:pathLst>
            </a:custGeom>
            <a:ln w="9523">
              <a:solidFill>
                <a:srgbClr val="7A3946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/>
          <p:cNvSpPr txBox="1"/>
          <p:nvPr/>
        </p:nvSpPr>
        <p:spPr>
          <a:xfrm>
            <a:off x="1284224" y="3821938"/>
            <a:ext cx="94805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5" dirty="0">
                <a:latin typeface="Calibri" panose="020F0502020204030204"/>
                <a:cs typeface="Calibri" panose="020F0502020204030204"/>
              </a:rPr>
              <a:t>Com</a:t>
            </a:r>
            <a:r>
              <a:rPr sz="1800" spc="-10" dirty="0">
                <a:latin typeface="Calibri" panose="020F0502020204030204"/>
                <a:cs typeface="Calibri" panose="020F0502020204030204"/>
              </a:rPr>
              <a:t>pu</a:t>
            </a:r>
            <a:r>
              <a:rPr sz="1800" spc="-40" dirty="0">
                <a:latin typeface="Calibri" panose="020F0502020204030204"/>
                <a:cs typeface="Calibri" panose="020F0502020204030204"/>
              </a:rPr>
              <a:t>t</a:t>
            </a:r>
            <a:r>
              <a:rPr sz="1800" spc="-10" dirty="0">
                <a:latin typeface="Calibri" panose="020F0502020204030204"/>
                <a:cs typeface="Calibri" panose="020F0502020204030204"/>
              </a:rPr>
              <a:t>e</a:t>
            </a:r>
            <a:r>
              <a:rPr sz="1800" dirty="0">
                <a:latin typeface="Calibri" panose="020F0502020204030204"/>
                <a:cs typeface="Calibri" panose="020F0502020204030204"/>
              </a:rPr>
              <a:t>r</a:t>
            </a:r>
            <a:endParaRPr sz="18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858723" y="2747009"/>
            <a:ext cx="45085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Calibri" panose="020F0502020204030204"/>
                <a:cs typeface="Calibri" panose="020F0502020204030204"/>
              </a:rPr>
              <a:t>D</a:t>
            </a:r>
            <a:r>
              <a:rPr sz="1800" spc="-25" dirty="0">
                <a:latin typeface="Calibri" panose="020F0502020204030204"/>
                <a:cs typeface="Calibri" panose="020F0502020204030204"/>
              </a:rPr>
              <a:t>a</a:t>
            </a:r>
            <a:r>
              <a:rPr sz="1800" spc="-65" dirty="0">
                <a:latin typeface="Calibri" panose="020F0502020204030204"/>
                <a:cs typeface="Calibri" panose="020F0502020204030204"/>
              </a:rPr>
              <a:t>t</a:t>
            </a:r>
            <a:r>
              <a:rPr sz="1800" dirty="0">
                <a:latin typeface="Calibri" panose="020F0502020204030204"/>
                <a:cs typeface="Calibri" panose="020F0502020204030204"/>
              </a:rPr>
              <a:t>a</a:t>
            </a:r>
            <a:endParaRPr sz="18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915414" y="2747009"/>
            <a:ext cx="80454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5" dirty="0">
                <a:latin typeface="Calibri" panose="020F0502020204030204"/>
                <a:cs typeface="Calibri" panose="020F0502020204030204"/>
              </a:rPr>
              <a:t>P</a:t>
            </a:r>
            <a:r>
              <a:rPr sz="1800" spc="-65" dirty="0">
                <a:latin typeface="Calibri" panose="020F0502020204030204"/>
                <a:cs typeface="Calibri" panose="020F0502020204030204"/>
              </a:rPr>
              <a:t>r</a:t>
            </a:r>
            <a:r>
              <a:rPr sz="1800" spc="-5" dirty="0">
                <a:latin typeface="Calibri" panose="020F0502020204030204"/>
                <a:cs typeface="Calibri" panose="020F0502020204030204"/>
              </a:rPr>
              <a:t>o</a:t>
            </a:r>
            <a:r>
              <a:rPr sz="1800" dirty="0">
                <a:latin typeface="Calibri" panose="020F0502020204030204"/>
                <a:cs typeface="Calibri" panose="020F0502020204030204"/>
              </a:rPr>
              <a:t>g</a:t>
            </a:r>
            <a:r>
              <a:rPr sz="1800" spc="-80" dirty="0">
                <a:latin typeface="Calibri" panose="020F0502020204030204"/>
                <a:cs typeface="Calibri" panose="020F0502020204030204"/>
              </a:rPr>
              <a:t>r</a:t>
            </a:r>
            <a:r>
              <a:rPr sz="1800" dirty="0">
                <a:latin typeface="Calibri" panose="020F0502020204030204"/>
                <a:cs typeface="Calibri" panose="020F0502020204030204"/>
              </a:rPr>
              <a:t>am</a:t>
            </a:r>
            <a:endParaRPr sz="18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424686" y="5078095"/>
            <a:ext cx="69024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Calibri" panose="020F0502020204030204"/>
                <a:cs typeface="Calibri" panose="020F0502020204030204"/>
              </a:rPr>
              <a:t>Output</a:t>
            </a:r>
            <a:endParaRPr sz="18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1088136" y="3108959"/>
            <a:ext cx="1242060" cy="1964689"/>
          </a:xfrm>
          <a:custGeom>
            <a:avLst/>
            <a:gdLst/>
            <a:ahLst/>
            <a:cxnLst/>
            <a:rect l="l" t="t" r="r" b="b"/>
            <a:pathLst>
              <a:path w="1242060" h="1964689">
                <a:moveTo>
                  <a:pt x="435991" y="320294"/>
                </a:moveTo>
                <a:lnTo>
                  <a:pt x="396367" y="229616"/>
                </a:lnTo>
                <a:lnTo>
                  <a:pt x="393573" y="228473"/>
                </a:lnTo>
                <a:lnTo>
                  <a:pt x="388747" y="230632"/>
                </a:lnTo>
                <a:lnTo>
                  <a:pt x="387604" y="233426"/>
                </a:lnTo>
                <a:lnTo>
                  <a:pt x="417068" y="300482"/>
                </a:lnTo>
                <a:lnTo>
                  <a:pt x="5588" y="0"/>
                </a:lnTo>
                <a:lnTo>
                  <a:pt x="0" y="7620"/>
                </a:lnTo>
                <a:lnTo>
                  <a:pt x="411226" y="308102"/>
                </a:lnTo>
                <a:lnTo>
                  <a:pt x="338582" y="300736"/>
                </a:lnTo>
                <a:lnTo>
                  <a:pt x="336296" y="302641"/>
                </a:lnTo>
                <a:lnTo>
                  <a:pt x="335788" y="307848"/>
                </a:lnTo>
                <a:lnTo>
                  <a:pt x="337693" y="310134"/>
                </a:lnTo>
                <a:lnTo>
                  <a:pt x="435991" y="320294"/>
                </a:lnTo>
                <a:close/>
              </a:path>
              <a:path w="1242060" h="1964689">
                <a:moveTo>
                  <a:pt x="733933" y="1877695"/>
                </a:moveTo>
                <a:lnTo>
                  <a:pt x="733171" y="1874774"/>
                </a:lnTo>
                <a:lnTo>
                  <a:pt x="728472" y="1872234"/>
                </a:lnTo>
                <a:lnTo>
                  <a:pt x="725678" y="1872996"/>
                </a:lnTo>
                <a:lnTo>
                  <a:pt x="690118" y="1936877"/>
                </a:lnTo>
                <a:lnTo>
                  <a:pt x="680085" y="1462913"/>
                </a:lnTo>
                <a:lnTo>
                  <a:pt x="670560" y="1463294"/>
                </a:lnTo>
                <a:lnTo>
                  <a:pt x="680593" y="1937385"/>
                </a:lnTo>
                <a:lnTo>
                  <a:pt x="642366" y="1874774"/>
                </a:lnTo>
                <a:lnTo>
                  <a:pt x="639445" y="1874012"/>
                </a:lnTo>
                <a:lnTo>
                  <a:pt x="634873" y="1876806"/>
                </a:lnTo>
                <a:lnTo>
                  <a:pt x="634238" y="1879727"/>
                </a:lnTo>
                <a:lnTo>
                  <a:pt x="685927" y="1964182"/>
                </a:lnTo>
                <a:lnTo>
                  <a:pt x="733933" y="1877695"/>
                </a:lnTo>
                <a:close/>
              </a:path>
              <a:path w="1242060" h="1964689">
                <a:moveTo>
                  <a:pt x="1241552" y="7366"/>
                </a:moveTo>
                <a:lnTo>
                  <a:pt x="1235202" y="254"/>
                </a:lnTo>
                <a:lnTo>
                  <a:pt x="909574" y="298323"/>
                </a:lnTo>
                <a:lnTo>
                  <a:pt x="931164" y="228600"/>
                </a:lnTo>
                <a:lnTo>
                  <a:pt x="929767" y="225933"/>
                </a:lnTo>
                <a:lnTo>
                  <a:pt x="924814" y="224409"/>
                </a:lnTo>
                <a:lnTo>
                  <a:pt x="922147" y="225806"/>
                </a:lnTo>
                <a:lnTo>
                  <a:pt x="892683" y="320294"/>
                </a:lnTo>
                <a:lnTo>
                  <a:pt x="986917" y="299974"/>
                </a:lnTo>
                <a:lnTo>
                  <a:pt x="989457" y="299212"/>
                </a:lnTo>
                <a:lnTo>
                  <a:pt x="991108" y="296926"/>
                </a:lnTo>
                <a:lnTo>
                  <a:pt x="989965" y="291592"/>
                </a:lnTo>
                <a:lnTo>
                  <a:pt x="987425" y="290068"/>
                </a:lnTo>
                <a:lnTo>
                  <a:pt x="915924" y="305435"/>
                </a:lnTo>
                <a:lnTo>
                  <a:pt x="1241552" y="7366"/>
                </a:lnTo>
                <a:close/>
              </a:path>
            </a:pathLst>
          </a:custGeom>
          <a:solidFill>
            <a:srgbClr val="5E2C37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13" name="object 13"/>
          <p:cNvGrpSpPr/>
          <p:nvPr/>
        </p:nvGrpSpPr>
        <p:grpSpPr>
          <a:xfrm>
            <a:off x="5593088" y="3410700"/>
            <a:ext cx="1752600" cy="1219835"/>
            <a:chOff x="5593088" y="3410700"/>
            <a:chExt cx="1752600" cy="1219835"/>
          </a:xfrm>
        </p:grpSpPr>
        <p:pic>
          <p:nvPicPr>
            <p:cNvPr id="14" name="object 1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593088" y="3410700"/>
              <a:ext cx="1752584" cy="1219222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631180" y="3428999"/>
              <a:ext cx="1676400" cy="1143000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5631180" y="3428999"/>
              <a:ext cx="1676400" cy="1143000"/>
            </a:xfrm>
            <a:custGeom>
              <a:avLst/>
              <a:gdLst/>
              <a:ahLst/>
              <a:cxnLst/>
              <a:rect l="l" t="t" r="r" b="b"/>
              <a:pathLst>
                <a:path w="1676400" h="1143000">
                  <a:moveTo>
                    <a:pt x="0" y="190500"/>
                  </a:moveTo>
                  <a:lnTo>
                    <a:pt x="5080" y="146812"/>
                  </a:lnTo>
                  <a:lnTo>
                    <a:pt x="19304" y="106807"/>
                  </a:lnTo>
                  <a:lnTo>
                    <a:pt x="41783" y="71374"/>
                  </a:lnTo>
                  <a:lnTo>
                    <a:pt x="71374" y="41910"/>
                  </a:lnTo>
                  <a:lnTo>
                    <a:pt x="106680" y="19430"/>
                  </a:lnTo>
                  <a:lnTo>
                    <a:pt x="146812" y="5079"/>
                  </a:lnTo>
                  <a:lnTo>
                    <a:pt x="190500" y="0"/>
                  </a:lnTo>
                  <a:lnTo>
                    <a:pt x="1485900" y="0"/>
                  </a:lnTo>
                  <a:lnTo>
                    <a:pt x="1529588" y="5079"/>
                  </a:lnTo>
                  <a:lnTo>
                    <a:pt x="1569593" y="19430"/>
                  </a:lnTo>
                  <a:lnTo>
                    <a:pt x="1605026" y="41910"/>
                  </a:lnTo>
                  <a:lnTo>
                    <a:pt x="1634490" y="71374"/>
                  </a:lnTo>
                  <a:lnTo>
                    <a:pt x="1656969" y="106807"/>
                  </a:lnTo>
                  <a:lnTo>
                    <a:pt x="1671320" y="146812"/>
                  </a:lnTo>
                  <a:lnTo>
                    <a:pt x="1676400" y="190500"/>
                  </a:lnTo>
                  <a:lnTo>
                    <a:pt x="1676400" y="952500"/>
                  </a:lnTo>
                  <a:lnTo>
                    <a:pt x="1671320" y="996188"/>
                  </a:lnTo>
                  <a:lnTo>
                    <a:pt x="1656969" y="1036193"/>
                  </a:lnTo>
                  <a:lnTo>
                    <a:pt x="1634490" y="1071626"/>
                  </a:lnTo>
                  <a:lnTo>
                    <a:pt x="1605026" y="1101089"/>
                  </a:lnTo>
                  <a:lnTo>
                    <a:pt x="1569593" y="1123569"/>
                  </a:lnTo>
                  <a:lnTo>
                    <a:pt x="1529588" y="1137920"/>
                  </a:lnTo>
                  <a:lnTo>
                    <a:pt x="1485900" y="1143000"/>
                  </a:lnTo>
                  <a:lnTo>
                    <a:pt x="190500" y="1143000"/>
                  </a:lnTo>
                  <a:lnTo>
                    <a:pt x="146812" y="1137920"/>
                  </a:lnTo>
                  <a:lnTo>
                    <a:pt x="106680" y="1123569"/>
                  </a:lnTo>
                  <a:lnTo>
                    <a:pt x="71374" y="1101089"/>
                  </a:lnTo>
                  <a:lnTo>
                    <a:pt x="41783" y="1071626"/>
                  </a:lnTo>
                  <a:lnTo>
                    <a:pt x="19304" y="1036193"/>
                  </a:lnTo>
                  <a:lnTo>
                    <a:pt x="5080" y="996188"/>
                  </a:lnTo>
                  <a:lnTo>
                    <a:pt x="0" y="952500"/>
                  </a:lnTo>
                  <a:lnTo>
                    <a:pt x="0" y="190500"/>
                  </a:lnTo>
                  <a:close/>
                </a:path>
              </a:pathLst>
            </a:custGeom>
            <a:ln w="9523">
              <a:solidFill>
                <a:srgbClr val="7A3946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7" name="object 17"/>
          <p:cNvSpPr txBox="1"/>
          <p:nvPr/>
        </p:nvSpPr>
        <p:spPr>
          <a:xfrm>
            <a:off x="5992495" y="3821938"/>
            <a:ext cx="95567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Calibri" panose="020F0502020204030204"/>
                <a:cs typeface="Calibri" panose="020F0502020204030204"/>
              </a:rPr>
              <a:t>Computer</a:t>
            </a:r>
            <a:endParaRPr sz="1800">
              <a:latin typeface="Calibri" panose="020F0502020204030204"/>
              <a:cs typeface="Calibri" panose="020F0502020204030204"/>
            </a:endParaRPr>
          </a:p>
        </p:txBody>
      </p:sp>
      <p:pic>
        <p:nvPicPr>
          <p:cNvPr id="18" name="object 1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5549157" y="2841866"/>
            <a:ext cx="471769" cy="218866"/>
          </a:xfrm>
          <a:prstGeom prst="rect">
            <a:avLst/>
          </a:prstGeom>
        </p:spPr>
      </p:pic>
      <p:sp>
        <p:nvSpPr>
          <p:cNvPr id="19" name="object 19"/>
          <p:cNvSpPr txBox="1"/>
          <p:nvPr/>
        </p:nvSpPr>
        <p:spPr>
          <a:xfrm>
            <a:off x="5566664" y="2747009"/>
            <a:ext cx="45085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Calibri" panose="020F0502020204030204"/>
                <a:cs typeface="Calibri" panose="020F0502020204030204"/>
              </a:rPr>
              <a:t>D</a:t>
            </a:r>
            <a:r>
              <a:rPr sz="1800" spc="-25" dirty="0">
                <a:latin typeface="Calibri" panose="020F0502020204030204"/>
                <a:cs typeface="Calibri" panose="020F0502020204030204"/>
              </a:rPr>
              <a:t>a</a:t>
            </a:r>
            <a:r>
              <a:rPr sz="1800" spc="-65" dirty="0">
                <a:latin typeface="Calibri" panose="020F0502020204030204"/>
                <a:cs typeface="Calibri" panose="020F0502020204030204"/>
              </a:rPr>
              <a:t>t</a:t>
            </a:r>
            <a:r>
              <a:rPr sz="1800" dirty="0">
                <a:latin typeface="Calibri" panose="020F0502020204030204"/>
                <a:cs typeface="Calibri" panose="020F0502020204030204"/>
              </a:rPr>
              <a:t>a</a:t>
            </a:r>
            <a:endParaRPr sz="1800">
              <a:latin typeface="Calibri" panose="020F0502020204030204"/>
              <a:cs typeface="Calibri" panose="020F0502020204030204"/>
            </a:endParaRPr>
          </a:p>
        </p:txBody>
      </p:sp>
      <p:pic>
        <p:nvPicPr>
          <p:cNvPr id="20" name="object 20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6600651" y="2841866"/>
            <a:ext cx="732557" cy="255343"/>
          </a:xfrm>
          <a:prstGeom prst="rect">
            <a:avLst/>
          </a:prstGeom>
        </p:spPr>
      </p:pic>
      <p:sp>
        <p:nvSpPr>
          <p:cNvPr id="21" name="object 21"/>
          <p:cNvSpPr txBox="1"/>
          <p:nvPr/>
        </p:nvSpPr>
        <p:spPr>
          <a:xfrm>
            <a:off x="5005196" y="1711528"/>
            <a:ext cx="3312795" cy="13188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5" dirty="0">
                <a:solidFill>
                  <a:srgbClr val="2B4876"/>
                </a:solidFill>
                <a:latin typeface="Calibri" panose="020F0502020204030204"/>
                <a:cs typeface="Calibri" panose="020F0502020204030204"/>
              </a:rPr>
              <a:t>Machine</a:t>
            </a:r>
            <a:r>
              <a:rPr sz="2400" b="1" spc="-65" dirty="0">
                <a:solidFill>
                  <a:srgbClr val="2B4876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400" b="1" spc="-5" dirty="0">
                <a:solidFill>
                  <a:srgbClr val="2B4876"/>
                </a:solidFill>
                <a:latin typeface="Calibri" panose="020F0502020204030204"/>
                <a:cs typeface="Calibri" panose="020F0502020204030204"/>
              </a:rPr>
              <a:t>learning</a:t>
            </a:r>
            <a:r>
              <a:rPr sz="2400" b="1" spc="-55" dirty="0">
                <a:solidFill>
                  <a:srgbClr val="2B4876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400" b="1" spc="-10" dirty="0">
                <a:solidFill>
                  <a:srgbClr val="2B4876"/>
                </a:solidFill>
                <a:latin typeface="Calibri" panose="020F0502020204030204"/>
                <a:cs typeface="Calibri" panose="020F0502020204030204"/>
              </a:rPr>
              <a:t>solution</a:t>
            </a:r>
            <a:endParaRPr sz="2400">
              <a:latin typeface="Calibri" panose="020F0502020204030204"/>
              <a:cs typeface="Calibri" panose="020F0502020204030204"/>
            </a:endParaRPr>
          </a:p>
          <a:p>
            <a:pPr>
              <a:lnSpc>
                <a:spcPct val="100000"/>
              </a:lnSpc>
            </a:pPr>
            <a:endParaRPr sz="2400">
              <a:latin typeface="Calibri" panose="020F0502020204030204"/>
              <a:cs typeface="Calibri" panose="020F0502020204030204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800">
              <a:latin typeface="Calibri" panose="020F0502020204030204"/>
              <a:cs typeface="Calibri" panose="020F0502020204030204"/>
            </a:endParaRPr>
          </a:p>
          <a:p>
            <a:pPr marL="1631315">
              <a:lnSpc>
                <a:spcPct val="100000"/>
              </a:lnSpc>
              <a:spcBef>
                <a:spcPts val="5"/>
              </a:spcBef>
            </a:pPr>
            <a:r>
              <a:rPr sz="1800" spc="-5" dirty="0">
                <a:latin typeface="Calibri" panose="020F0502020204030204"/>
                <a:cs typeface="Calibri" panose="020F0502020204030204"/>
              </a:rPr>
              <a:t>Output</a:t>
            </a:r>
            <a:endParaRPr sz="18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5685790" y="5113146"/>
            <a:ext cx="15487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Calibri" panose="020F0502020204030204"/>
                <a:cs typeface="Calibri" panose="020F0502020204030204"/>
              </a:rPr>
              <a:t>Program/</a:t>
            </a:r>
            <a:r>
              <a:rPr sz="1800" spc="-50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dirty="0">
                <a:latin typeface="Calibri" panose="020F0502020204030204"/>
                <a:cs typeface="Calibri" panose="020F0502020204030204"/>
              </a:rPr>
              <a:t>Model</a:t>
            </a:r>
            <a:endParaRPr sz="1800">
              <a:latin typeface="Calibri" panose="020F0502020204030204"/>
              <a:cs typeface="Calibri" panose="020F0502020204030204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5751576" y="3086100"/>
            <a:ext cx="1266825" cy="2120265"/>
            <a:chOff x="5751576" y="3086100"/>
            <a:chExt cx="1266825" cy="2120265"/>
          </a:xfrm>
        </p:grpSpPr>
        <p:pic>
          <p:nvPicPr>
            <p:cNvPr id="24" name="object 24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5751576" y="3086100"/>
              <a:ext cx="591312" cy="475488"/>
            </a:xfrm>
            <a:prstGeom prst="rect">
              <a:avLst/>
            </a:prstGeom>
          </p:spPr>
        </p:pic>
        <p:pic>
          <p:nvPicPr>
            <p:cNvPr id="25" name="object 25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6129528" y="3336925"/>
              <a:ext cx="100202" cy="91694"/>
            </a:xfrm>
            <a:prstGeom prst="rect">
              <a:avLst/>
            </a:prstGeom>
          </p:spPr>
        </p:pic>
        <p:sp>
          <p:nvSpPr>
            <p:cNvPr id="26" name="object 26"/>
            <p:cNvSpPr/>
            <p:nvPr/>
          </p:nvSpPr>
          <p:spPr>
            <a:xfrm>
              <a:off x="5794248" y="3108959"/>
              <a:ext cx="420370" cy="308610"/>
            </a:xfrm>
            <a:custGeom>
              <a:avLst/>
              <a:gdLst/>
              <a:ahLst/>
              <a:cxnLst/>
              <a:rect l="l" t="t" r="r" b="b"/>
              <a:pathLst>
                <a:path w="420370" h="308610">
                  <a:moveTo>
                    <a:pt x="5587" y="0"/>
                  </a:moveTo>
                  <a:lnTo>
                    <a:pt x="0" y="7619"/>
                  </a:lnTo>
                  <a:lnTo>
                    <a:pt x="410844" y="307593"/>
                  </a:lnTo>
                  <a:lnTo>
                    <a:pt x="420242" y="308482"/>
                  </a:lnTo>
                  <a:lnTo>
                    <a:pt x="416432" y="299847"/>
                  </a:lnTo>
                  <a:lnTo>
                    <a:pt x="5587" y="0"/>
                  </a:lnTo>
                  <a:close/>
                </a:path>
              </a:pathLst>
            </a:custGeom>
            <a:solidFill>
              <a:srgbClr val="7A3946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7" name="object 27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6574536" y="3086100"/>
              <a:ext cx="443483" cy="475488"/>
            </a:xfrm>
            <a:prstGeom prst="rect">
              <a:avLst/>
            </a:prstGeom>
          </p:spPr>
        </p:pic>
        <p:pic>
          <p:nvPicPr>
            <p:cNvPr id="28" name="object 28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6687312" y="3329940"/>
              <a:ext cx="95631" cy="98679"/>
            </a:xfrm>
            <a:prstGeom prst="rect">
              <a:avLst/>
            </a:prstGeom>
          </p:spPr>
        </p:pic>
        <p:sp>
          <p:nvSpPr>
            <p:cNvPr id="29" name="object 29"/>
            <p:cNvSpPr/>
            <p:nvPr/>
          </p:nvSpPr>
          <p:spPr>
            <a:xfrm>
              <a:off x="6699885" y="3108959"/>
              <a:ext cx="275590" cy="306070"/>
            </a:xfrm>
            <a:custGeom>
              <a:avLst/>
              <a:gdLst/>
              <a:ahLst/>
              <a:cxnLst/>
              <a:rect l="l" t="t" r="r" b="b"/>
              <a:pathLst>
                <a:path w="275590" h="306070">
                  <a:moveTo>
                    <a:pt x="267970" y="0"/>
                  </a:moveTo>
                  <a:lnTo>
                    <a:pt x="1905" y="296417"/>
                  </a:lnTo>
                  <a:lnTo>
                    <a:pt x="0" y="305688"/>
                  </a:lnTo>
                  <a:lnTo>
                    <a:pt x="9017" y="302767"/>
                  </a:lnTo>
                  <a:lnTo>
                    <a:pt x="275082" y="6350"/>
                  </a:lnTo>
                  <a:lnTo>
                    <a:pt x="267970" y="0"/>
                  </a:lnTo>
                  <a:close/>
                </a:path>
              </a:pathLst>
            </a:custGeom>
            <a:solidFill>
              <a:srgbClr val="7A3946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0" name="object 30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6356604" y="4549139"/>
              <a:ext cx="225551" cy="656844"/>
            </a:xfrm>
            <a:prstGeom prst="rect">
              <a:avLst/>
            </a:prstGeom>
          </p:spPr>
        </p:pic>
        <p:pic>
          <p:nvPicPr>
            <p:cNvPr id="31" name="object 31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6420612" y="4981829"/>
              <a:ext cx="98552" cy="91058"/>
            </a:xfrm>
            <a:prstGeom prst="rect">
              <a:avLst/>
            </a:prstGeom>
          </p:spPr>
        </p:pic>
        <p:sp>
          <p:nvSpPr>
            <p:cNvPr id="32" name="object 32"/>
            <p:cNvSpPr/>
            <p:nvPr/>
          </p:nvSpPr>
          <p:spPr>
            <a:xfrm>
              <a:off x="6465189" y="4572000"/>
              <a:ext cx="9525" cy="473709"/>
            </a:xfrm>
            <a:custGeom>
              <a:avLst/>
              <a:gdLst/>
              <a:ahLst/>
              <a:cxnLst/>
              <a:rect l="l" t="t" r="r" b="b"/>
              <a:pathLst>
                <a:path w="9525" h="473710">
                  <a:moveTo>
                    <a:pt x="0" y="473709"/>
                  </a:moveTo>
                  <a:lnTo>
                    <a:pt x="9398" y="473709"/>
                  </a:lnTo>
                  <a:lnTo>
                    <a:pt x="9398" y="0"/>
                  </a:lnTo>
                  <a:lnTo>
                    <a:pt x="0" y="0"/>
                  </a:lnTo>
                  <a:lnTo>
                    <a:pt x="0" y="473709"/>
                  </a:lnTo>
                  <a:close/>
                </a:path>
              </a:pathLst>
            </a:custGeom>
            <a:solidFill>
              <a:srgbClr val="7A3946"/>
            </a:solidFill>
          </p:spPr>
          <p:txBody>
            <a:bodyPr wrap="square" lIns="0" tIns="0" rIns="0" bIns="0" rtlCol="0"/>
            <a:lstStyle/>
            <a:p/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32738" y="421386"/>
            <a:ext cx="6870065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b="1" dirty="0">
                <a:solidFill>
                  <a:srgbClr val="2E5496"/>
                </a:solidFill>
                <a:latin typeface="Calibri" panose="020F0502020204030204"/>
                <a:cs typeface="Calibri" panose="020F0502020204030204"/>
              </a:rPr>
              <a:t>Machine</a:t>
            </a:r>
            <a:r>
              <a:rPr sz="4400" b="1" spc="-45" dirty="0">
                <a:solidFill>
                  <a:srgbClr val="2E5496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4400" b="1" spc="-5" dirty="0">
                <a:solidFill>
                  <a:srgbClr val="2E5496"/>
                </a:solidFill>
                <a:latin typeface="Calibri" panose="020F0502020204030204"/>
                <a:cs typeface="Calibri" panose="020F0502020204030204"/>
              </a:rPr>
              <a:t>Learning</a:t>
            </a:r>
            <a:r>
              <a:rPr sz="4400" b="1" spc="-65" dirty="0">
                <a:solidFill>
                  <a:srgbClr val="2E5496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4400" b="1" dirty="0">
                <a:solidFill>
                  <a:srgbClr val="2E5496"/>
                </a:solidFill>
                <a:latin typeface="Calibri" panose="020F0502020204030204"/>
                <a:cs typeface="Calibri" panose="020F0502020204030204"/>
              </a:rPr>
              <a:t>:</a:t>
            </a:r>
            <a:r>
              <a:rPr sz="4400" b="1" spc="-30" dirty="0">
                <a:solidFill>
                  <a:srgbClr val="2E5496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4400" b="1" spc="-10" dirty="0">
                <a:solidFill>
                  <a:srgbClr val="2E5496"/>
                </a:solidFill>
                <a:latin typeface="Calibri" panose="020F0502020204030204"/>
                <a:cs typeface="Calibri" panose="020F0502020204030204"/>
              </a:rPr>
              <a:t>Definition</a:t>
            </a:r>
            <a:endParaRPr sz="44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23443" y="1570990"/>
            <a:ext cx="7736205" cy="38760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690880" algn="just">
              <a:lnSpc>
                <a:spcPct val="100000"/>
              </a:lnSpc>
              <a:spcBef>
                <a:spcPts val="95"/>
              </a:spcBef>
            </a:pPr>
            <a:r>
              <a:rPr sz="2800" b="1" spc="-5" dirty="0">
                <a:latin typeface="Calibri" panose="020F0502020204030204"/>
                <a:cs typeface="Calibri" panose="020F0502020204030204"/>
              </a:rPr>
              <a:t>Machine</a:t>
            </a:r>
            <a:r>
              <a:rPr sz="2800" b="1" spc="15" dirty="0">
                <a:latin typeface="Calibri" panose="020F0502020204030204"/>
                <a:cs typeface="Calibri" panose="020F0502020204030204"/>
              </a:rPr>
              <a:t> </a:t>
            </a:r>
            <a:r>
              <a:rPr sz="2800" b="1" spc="-5" dirty="0">
                <a:latin typeface="Calibri" panose="020F0502020204030204"/>
                <a:cs typeface="Calibri" panose="020F0502020204030204"/>
              </a:rPr>
              <a:t>Learning</a:t>
            </a:r>
            <a:r>
              <a:rPr sz="2800" b="1" spc="15" dirty="0">
                <a:latin typeface="Calibri" panose="020F0502020204030204"/>
                <a:cs typeface="Calibri" panose="020F0502020204030204"/>
              </a:rPr>
              <a:t> </a:t>
            </a:r>
            <a:r>
              <a:rPr sz="2800" b="1" spc="-5" dirty="0">
                <a:latin typeface="Calibri" panose="020F0502020204030204"/>
                <a:cs typeface="Calibri" panose="020F0502020204030204"/>
              </a:rPr>
              <a:t>is</a:t>
            </a:r>
            <a:r>
              <a:rPr sz="2800" b="1" dirty="0">
                <a:latin typeface="Calibri" panose="020F0502020204030204"/>
                <a:cs typeface="Calibri" panose="020F0502020204030204"/>
              </a:rPr>
              <a:t> </a:t>
            </a:r>
            <a:r>
              <a:rPr sz="2800" b="1" spc="-5" dirty="0">
                <a:latin typeface="Calibri" panose="020F0502020204030204"/>
                <a:cs typeface="Calibri" panose="020F0502020204030204"/>
              </a:rPr>
              <a:t>the</a:t>
            </a:r>
            <a:r>
              <a:rPr sz="2800" b="1" spc="25" dirty="0">
                <a:latin typeface="Calibri" panose="020F0502020204030204"/>
                <a:cs typeface="Calibri" panose="020F0502020204030204"/>
              </a:rPr>
              <a:t> </a:t>
            </a:r>
            <a:r>
              <a:rPr sz="2800" b="1" spc="-5" dirty="0">
                <a:latin typeface="Calibri" panose="020F0502020204030204"/>
                <a:cs typeface="Calibri" panose="020F0502020204030204"/>
              </a:rPr>
              <a:t>science</a:t>
            </a:r>
            <a:r>
              <a:rPr sz="2800" b="1" spc="15" dirty="0">
                <a:latin typeface="Calibri" panose="020F0502020204030204"/>
                <a:cs typeface="Calibri" panose="020F0502020204030204"/>
              </a:rPr>
              <a:t> </a:t>
            </a:r>
            <a:r>
              <a:rPr sz="2800" b="1" spc="-5" dirty="0">
                <a:latin typeface="Calibri" panose="020F0502020204030204"/>
                <a:cs typeface="Calibri" panose="020F0502020204030204"/>
              </a:rPr>
              <a:t>(and</a:t>
            </a:r>
            <a:r>
              <a:rPr sz="2800" b="1" spc="20" dirty="0">
                <a:latin typeface="Calibri" panose="020F0502020204030204"/>
                <a:cs typeface="Calibri" panose="020F0502020204030204"/>
              </a:rPr>
              <a:t> </a:t>
            </a:r>
            <a:r>
              <a:rPr sz="2800" b="1" spc="-5" dirty="0">
                <a:latin typeface="Calibri" panose="020F0502020204030204"/>
                <a:cs typeface="Calibri" panose="020F0502020204030204"/>
              </a:rPr>
              <a:t>art)</a:t>
            </a:r>
            <a:r>
              <a:rPr sz="2800" b="1" spc="20" dirty="0">
                <a:latin typeface="Calibri" panose="020F0502020204030204"/>
                <a:cs typeface="Calibri" panose="020F0502020204030204"/>
              </a:rPr>
              <a:t> </a:t>
            </a:r>
            <a:r>
              <a:rPr sz="2800" b="1" spc="-5" dirty="0">
                <a:latin typeface="Calibri" panose="020F0502020204030204"/>
                <a:cs typeface="Calibri" panose="020F0502020204030204"/>
              </a:rPr>
              <a:t>of </a:t>
            </a:r>
            <a:r>
              <a:rPr sz="2800" b="1" dirty="0">
                <a:latin typeface="Calibri" panose="020F0502020204030204"/>
                <a:cs typeface="Calibri" panose="020F0502020204030204"/>
              </a:rPr>
              <a:t> </a:t>
            </a:r>
            <a:r>
              <a:rPr sz="2800" b="1" spc="-15" dirty="0">
                <a:latin typeface="Calibri" panose="020F0502020204030204"/>
                <a:cs typeface="Calibri" panose="020F0502020204030204"/>
              </a:rPr>
              <a:t>programming</a:t>
            </a:r>
            <a:r>
              <a:rPr sz="2800" b="1" spc="5" dirty="0">
                <a:latin typeface="Calibri" panose="020F0502020204030204"/>
                <a:cs typeface="Calibri" panose="020F0502020204030204"/>
              </a:rPr>
              <a:t> </a:t>
            </a:r>
            <a:r>
              <a:rPr sz="2800" b="1" spc="-15" dirty="0">
                <a:latin typeface="Calibri" panose="020F0502020204030204"/>
                <a:cs typeface="Calibri" panose="020F0502020204030204"/>
              </a:rPr>
              <a:t>computers</a:t>
            </a:r>
            <a:r>
              <a:rPr sz="2800" b="1" spc="10" dirty="0">
                <a:latin typeface="Calibri" panose="020F0502020204030204"/>
                <a:cs typeface="Calibri" panose="020F0502020204030204"/>
              </a:rPr>
              <a:t> </a:t>
            </a:r>
            <a:r>
              <a:rPr sz="2800" b="1" spc="-5" dirty="0">
                <a:latin typeface="Calibri" panose="020F0502020204030204"/>
                <a:cs typeface="Calibri" panose="020F0502020204030204"/>
              </a:rPr>
              <a:t>so</a:t>
            </a:r>
            <a:r>
              <a:rPr sz="2800" b="1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sz="2800" b="1" spc="-10" dirty="0">
                <a:latin typeface="Calibri" panose="020F0502020204030204"/>
                <a:cs typeface="Calibri" panose="020F0502020204030204"/>
              </a:rPr>
              <a:t>they</a:t>
            </a:r>
            <a:r>
              <a:rPr sz="2800" b="1" spc="20" dirty="0">
                <a:latin typeface="Calibri" panose="020F0502020204030204"/>
                <a:cs typeface="Calibri" panose="020F0502020204030204"/>
              </a:rPr>
              <a:t> </a:t>
            </a:r>
            <a:r>
              <a:rPr sz="2800" b="1" spc="-10" dirty="0">
                <a:latin typeface="Calibri" panose="020F0502020204030204"/>
                <a:cs typeface="Calibri" panose="020F0502020204030204"/>
              </a:rPr>
              <a:t>can</a:t>
            </a:r>
            <a:r>
              <a:rPr sz="2800" b="1" spc="15" dirty="0">
                <a:latin typeface="Calibri" panose="020F0502020204030204"/>
                <a:cs typeface="Calibri" panose="020F0502020204030204"/>
              </a:rPr>
              <a:t> </a:t>
            </a:r>
            <a:r>
              <a:rPr sz="2800" b="1" i="1" spc="-5" dirty="0">
                <a:latin typeface="Calibri" panose="020F0502020204030204"/>
                <a:cs typeface="Calibri" panose="020F0502020204030204"/>
              </a:rPr>
              <a:t>learn</a:t>
            </a:r>
            <a:r>
              <a:rPr sz="2800" b="1" i="1" spc="10" dirty="0">
                <a:latin typeface="Calibri" panose="020F0502020204030204"/>
                <a:cs typeface="Calibri" panose="020F0502020204030204"/>
              </a:rPr>
              <a:t> </a:t>
            </a:r>
            <a:r>
              <a:rPr sz="2800" b="1" i="1" spc="-10" dirty="0">
                <a:latin typeface="Calibri" panose="020F0502020204030204"/>
                <a:cs typeface="Calibri" panose="020F0502020204030204"/>
              </a:rPr>
              <a:t>from </a:t>
            </a:r>
            <a:r>
              <a:rPr sz="2800" b="1" i="1" spc="-620" dirty="0">
                <a:latin typeface="Calibri" panose="020F0502020204030204"/>
                <a:cs typeface="Calibri" panose="020F0502020204030204"/>
              </a:rPr>
              <a:t> </a:t>
            </a:r>
            <a:r>
              <a:rPr sz="2800" b="1" i="1" spc="-10" dirty="0">
                <a:latin typeface="Calibri" panose="020F0502020204030204"/>
                <a:cs typeface="Calibri" panose="020F0502020204030204"/>
              </a:rPr>
              <a:t>data</a:t>
            </a:r>
            <a:r>
              <a:rPr sz="2800" b="1" spc="-10" dirty="0">
                <a:latin typeface="Calibri" panose="020F0502020204030204"/>
                <a:cs typeface="Calibri" panose="020F0502020204030204"/>
              </a:rPr>
              <a:t>.</a:t>
            </a:r>
            <a:endParaRPr sz="2800">
              <a:latin typeface="Calibri" panose="020F0502020204030204"/>
              <a:cs typeface="Calibri" panose="020F0502020204030204"/>
            </a:endParaRPr>
          </a:p>
          <a:p>
            <a:pPr algn="just">
              <a:lnSpc>
                <a:spcPct val="100000"/>
              </a:lnSpc>
            </a:pPr>
            <a:endParaRPr sz="2800">
              <a:latin typeface="Calibri" panose="020F0502020204030204"/>
              <a:cs typeface="Calibri" panose="020F0502020204030204"/>
            </a:endParaRPr>
          </a:p>
          <a:p>
            <a:pPr algn="just">
              <a:lnSpc>
                <a:spcPct val="100000"/>
              </a:lnSpc>
              <a:spcBef>
                <a:spcPts val="10"/>
              </a:spcBef>
            </a:pPr>
            <a:endParaRPr sz="2700">
              <a:latin typeface="Calibri" panose="020F0502020204030204"/>
              <a:cs typeface="Calibri" panose="020F0502020204030204"/>
            </a:endParaRPr>
          </a:p>
          <a:p>
            <a:pPr marL="12700" marR="618490" algn="just">
              <a:lnSpc>
                <a:spcPct val="100000"/>
              </a:lnSpc>
            </a:pPr>
            <a:r>
              <a:rPr sz="2800" spc="-15" dirty="0">
                <a:solidFill>
                  <a:srgbClr val="00AF50"/>
                </a:solidFill>
                <a:latin typeface="Calibri" panose="020F0502020204030204"/>
                <a:cs typeface="Calibri" panose="020F0502020204030204"/>
              </a:rPr>
              <a:t>Here</a:t>
            </a:r>
            <a:r>
              <a:rPr sz="2800" spc="-5" dirty="0">
                <a:solidFill>
                  <a:srgbClr val="00AF50"/>
                </a:solidFill>
                <a:latin typeface="Calibri" panose="020F0502020204030204"/>
                <a:cs typeface="Calibri" panose="020F0502020204030204"/>
              </a:rPr>
              <a:t> is</a:t>
            </a:r>
            <a:r>
              <a:rPr sz="2800" dirty="0">
                <a:solidFill>
                  <a:srgbClr val="00AF5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800" spc="-5" dirty="0">
                <a:solidFill>
                  <a:srgbClr val="00AF50"/>
                </a:solidFill>
                <a:latin typeface="Calibri" panose="020F0502020204030204"/>
                <a:cs typeface="Calibri" panose="020F0502020204030204"/>
              </a:rPr>
              <a:t>a</a:t>
            </a:r>
            <a:r>
              <a:rPr sz="2800" spc="5" dirty="0">
                <a:solidFill>
                  <a:srgbClr val="00AF5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800" spc="-10" dirty="0">
                <a:solidFill>
                  <a:srgbClr val="00AF50"/>
                </a:solidFill>
                <a:latin typeface="Calibri" panose="020F0502020204030204"/>
                <a:cs typeface="Calibri" panose="020F0502020204030204"/>
              </a:rPr>
              <a:t>slightly</a:t>
            </a:r>
            <a:r>
              <a:rPr sz="2800" spc="15" dirty="0">
                <a:solidFill>
                  <a:srgbClr val="00AF5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800" spc="-15" dirty="0">
                <a:solidFill>
                  <a:srgbClr val="00AF50"/>
                </a:solidFill>
                <a:latin typeface="Calibri" panose="020F0502020204030204"/>
                <a:cs typeface="Calibri" panose="020F0502020204030204"/>
              </a:rPr>
              <a:t>more</a:t>
            </a:r>
            <a:r>
              <a:rPr sz="2800" dirty="0">
                <a:solidFill>
                  <a:srgbClr val="00AF5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800" spc="-15" dirty="0">
                <a:solidFill>
                  <a:srgbClr val="00AF50"/>
                </a:solidFill>
                <a:latin typeface="Calibri" panose="020F0502020204030204"/>
                <a:cs typeface="Calibri" panose="020F0502020204030204"/>
              </a:rPr>
              <a:t>general</a:t>
            </a:r>
            <a:r>
              <a:rPr sz="2800" spc="-5" dirty="0">
                <a:solidFill>
                  <a:srgbClr val="00AF5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800" spc="-15" dirty="0">
                <a:solidFill>
                  <a:srgbClr val="00AF50"/>
                </a:solidFill>
                <a:latin typeface="Calibri" panose="020F0502020204030204"/>
                <a:cs typeface="Calibri" panose="020F0502020204030204"/>
              </a:rPr>
              <a:t>definition: </a:t>
            </a:r>
            <a:r>
              <a:rPr sz="2800" spc="-10" dirty="0">
                <a:solidFill>
                  <a:srgbClr val="00AF5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800" spc="-10" dirty="0">
                <a:latin typeface="Calibri" panose="020F0502020204030204"/>
                <a:cs typeface="Calibri" panose="020F0502020204030204"/>
              </a:rPr>
              <a:t>Machine</a:t>
            </a:r>
            <a:r>
              <a:rPr sz="2800" spc="30" dirty="0">
                <a:latin typeface="Calibri" panose="020F0502020204030204"/>
                <a:cs typeface="Calibri" panose="020F0502020204030204"/>
              </a:rPr>
              <a:t> </a:t>
            </a:r>
            <a:r>
              <a:rPr sz="2800" spc="-10" dirty="0">
                <a:latin typeface="Calibri" panose="020F0502020204030204"/>
                <a:cs typeface="Calibri" panose="020F0502020204030204"/>
              </a:rPr>
              <a:t>Learning</a:t>
            </a:r>
            <a:r>
              <a:rPr sz="2800" spc="10" dirty="0">
                <a:latin typeface="Calibri" panose="020F0502020204030204"/>
                <a:cs typeface="Calibri" panose="020F0502020204030204"/>
              </a:rPr>
              <a:t> </a:t>
            </a:r>
            <a:r>
              <a:rPr sz="2800" spc="-5" dirty="0">
                <a:latin typeface="Calibri" panose="020F0502020204030204"/>
                <a:cs typeface="Calibri" panose="020F0502020204030204"/>
              </a:rPr>
              <a:t>is</a:t>
            </a:r>
            <a:r>
              <a:rPr sz="2800" spc="5" dirty="0">
                <a:latin typeface="Calibri" panose="020F0502020204030204"/>
                <a:cs typeface="Calibri" panose="020F0502020204030204"/>
              </a:rPr>
              <a:t> </a:t>
            </a:r>
            <a:r>
              <a:rPr sz="2800" spc="-5" dirty="0">
                <a:latin typeface="Calibri" panose="020F0502020204030204"/>
                <a:cs typeface="Calibri" panose="020F0502020204030204"/>
              </a:rPr>
              <a:t>the</a:t>
            </a:r>
            <a:r>
              <a:rPr sz="2800" spc="10" dirty="0">
                <a:latin typeface="Calibri" panose="020F0502020204030204"/>
                <a:cs typeface="Calibri" panose="020F0502020204030204"/>
              </a:rPr>
              <a:t> </a:t>
            </a:r>
            <a:r>
              <a:rPr sz="2800" spc="-10" dirty="0">
                <a:latin typeface="Calibri" panose="020F0502020204030204"/>
                <a:cs typeface="Calibri" panose="020F0502020204030204"/>
              </a:rPr>
              <a:t>field</a:t>
            </a:r>
            <a:r>
              <a:rPr sz="2800" spc="5" dirty="0">
                <a:latin typeface="Calibri" panose="020F0502020204030204"/>
                <a:cs typeface="Calibri" panose="020F0502020204030204"/>
              </a:rPr>
              <a:t> </a:t>
            </a:r>
            <a:r>
              <a:rPr sz="2800" spc="-5" dirty="0">
                <a:latin typeface="Calibri" panose="020F0502020204030204"/>
                <a:cs typeface="Calibri" panose="020F0502020204030204"/>
              </a:rPr>
              <a:t>of</a:t>
            </a:r>
            <a:r>
              <a:rPr sz="2800" dirty="0">
                <a:latin typeface="Calibri" panose="020F0502020204030204"/>
                <a:cs typeface="Calibri" panose="020F0502020204030204"/>
              </a:rPr>
              <a:t> </a:t>
            </a:r>
            <a:r>
              <a:rPr sz="2800" spc="-15" dirty="0">
                <a:latin typeface="Calibri" panose="020F0502020204030204"/>
                <a:cs typeface="Calibri" panose="020F0502020204030204"/>
              </a:rPr>
              <a:t>study</a:t>
            </a:r>
            <a:r>
              <a:rPr sz="2800" spc="35" dirty="0">
                <a:latin typeface="Calibri" panose="020F0502020204030204"/>
                <a:cs typeface="Calibri" panose="020F0502020204030204"/>
              </a:rPr>
              <a:t> </a:t>
            </a:r>
            <a:r>
              <a:rPr sz="2800" spc="-10" dirty="0">
                <a:latin typeface="Calibri" panose="020F0502020204030204"/>
                <a:cs typeface="Calibri" panose="020F0502020204030204"/>
              </a:rPr>
              <a:t>that</a:t>
            </a:r>
            <a:r>
              <a:rPr sz="2800" spc="15" dirty="0">
                <a:latin typeface="Calibri" panose="020F0502020204030204"/>
                <a:cs typeface="Calibri" panose="020F0502020204030204"/>
              </a:rPr>
              <a:t> </a:t>
            </a:r>
            <a:r>
              <a:rPr sz="2800" spc="-10" dirty="0">
                <a:latin typeface="Calibri" panose="020F0502020204030204"/>
                <a:cs typeface="Calibri" panose="020F0502020204030204"/>
              </a:rPr>
              <a:t>gives</a:t>
            </a:r>
            <a:endParaRPr sz="2800">
              <a:latin typeface="Calibri" panose="020F0502020204030204"/>
              <a:cs typeface="Calibri" panose="020F0502020204030204"/>
            </a:endParaRPr>
          </a:p>
          <a:p>
            <a:pPr marL="12700" marR="5080" algn="just">
              <a:lnSpc>
                <a:spcPct val="100000"/>
              </a:lnSpc>
            </a:pPr>
            <a:r>
              <a:rPr sz="2800" spc="-20" dirty="0">
                <a:latin typeface="Calibri" panose="020F0502020204030204"/>
                <a:cs typeface="Calibri" panose="020F0502020204030204"/>
              </a:rPr>
              <a:t>computers</a:t>
            </a:r>
            <a:r>
              <a:rPr sz="2800" spc="30" dirty="0">
                <a:latin typeface="Calibri" panose="020F0502020204030204"/>
                <a:cs typeface="Calibri" panose="020F0502020204030204"/>
              </a:rPr>
              <a:t> </a:t>
            </a:r>
            <a:r>
              <a:rPr sz="2800" spc="-5" dirty="0">
                <a:latin typeface="Calibri" panose="020F0502020204030204"/>
                <a:cs typeface="Calibri" panose="020F0502020204030204"/>
              </a:rPr>
              <a:t>the ability</a:t>
            </a:r>
            <a:r>
              <a:rPr sz="2800" spc="10" dirty="0">
                <a:latin typeface="Calibri" panose="020F0502020204030204"/>
                <a:cs typeface="Calibri" panose="020F0502020204030204"/>
              </a:rPr>
              <a:t> </a:t>
            </a:r>
            <a:r>
              <a:rPr sz="2800" spc="-20" dirty="0">
                <a:latin typeface="Calibri" panose="020F0502020204030204"/>
                <a:cs typeface="Calibri" panose="020F0502020204030204"/>
              </a:rPr>
              <a:t>to</a:t>
            </a:r>
            <a:r>
              <a:rPr sz="2800" spc="-5" dirty="0">
                <a:latin typeface="Calibri" panose="020F0502020204030204"/>
                <a:cs typeface="Calibri" panose="020F0502020204030204"/>
              </a:rPr>
              <a:t> learn</a:t>
            </a:r>
            <a:r>
              <a:rPr sz="2800" spc="10" dirty="0">
                <a:latin typeface="Calibri" panose="020F0502020204030204"/>
                <a:cs typeface="Calibri" panose="020F0502020204030204"/>
              </a:rPr>
              <a:t> </a:t>
            </a:r>
            <a:r>
              <a:rPr sz="2800" spc="-5" dirty="0">
                <a:latin typeface="Calibri" panose="020F0502020204030204"/>
                <a:cs typeface="Calibri" panose="020F0502020204030204"/>
              </a:rPr>
              <a:t>without</a:t>
            </a:r>
            <a:r>
              <a:rPr sz="2800" spc="15" dirty="0">
                <a:latin typeface="Calibri" panose="020F0502020204030204"/>
                <a:cs typeface="Calibri" panose="020F0502020204030204"/>
              </a:rPr>
              <a:t> </a:t>
            </a:r>
            <a:r>
              <a:rPr sz="2800" spc="-10" dirty="0">
                <a:latin typeface="Calibri" panose="020F0502020204030204"/>
                <a:cs typeface="Calibri" panose="020F0502020204030204"/>
              </a:rPr>
              <a:t>being</a:t>
            </a:r>
            <a:r>
              <a:rPr sz="2800" spc="5" dirty="0">
                <a:latin typeface="Calibri" panose="020F0502020204030204"/>
                <a:cs typeface="Calibri" panose="020F0502020204030204"/>
              </a:rPr>
              <a:t> </a:t>
            </a:r>
            <a:r>
              <a:rPr sz="2800" spc="-10" dirty="0">
                <a:latin typeface="Calibri" panose="020F0502020204030204"/>
                <a:cs typeface="Calibri" panose="020F0502020204030204"/>
              </a:rPr>
              <a:t>explicitly </a:t>
            </a:r>
            <a:r>
              <a:rPr sz="2800" spc="-615" dirty="0">
                <a:latin typeface="Calibri" panose="020F0502020204030204"/>
                <a:cs typeface="Calibri" panose="020F0502020204030204"/>
              </a:rPr>
              <a:t> </a:t>
            </a:r>
            <a:r>
              <a:rPr sz="2800" spc="-15" dirty="0">
                <a:latin typeface="Calibri" panose="020F0502020204030204"/>
                <a:cs typeface="Calibri" panose="020F0502020204030204"/>
              </a:rPr>
              <a:t>programmed.</a:t>
            </a:r>
            <a:r>
              <a:rPr sz="2800" spc="40" dirty="0">
                <a:latin typeface="Calibri" panose="020F0502020204030204"/>
                <a:cs typeface="Calibri" panose="020F0502020204030204"/>
              </a:rPr>
              <a:t> </a:t>
            </a:r>
            <a:r>
              <a:rPr sz="2800" spc="-15" dirty="0">
                <a:latin typeface="Calibri" panose="020F0502020204030204"/>
                <a:cs typeface="Calibri" panose="020F0502020204030204"/>
              </a:rPr>
              <a:t>–by</a:t>
            </a:r>
            <a:r>
              <a:rPr sz="2800" spc="5" dirty="0">
                <a:latin typeface="Calibri" panose="020F0502020204030204"/>
                <a:cs typeface="Calibri" panose="020F0502020204030204"/>
              </a:rPr>
              <a:t> </a:t>
            </a:r>
            <a:r>
              <a:rPr sz="2800" spc="-5" dirty="0">
                <a:latin typeface="Calibri" panose="020F0502020204030204"/>
                <a:cs typeface="Calibri" panose="020F0502020204030204"/>
              </a:rPr>
              <a:t>Arthur</a:t>
            </a:r>
            <a:r>
              <a:rPr sz="2800" spc="30" dirty="0">
                <a:latin typeface="Calibri" panose="020F0502020204030204"/>
                <a:cs typeface="Calibri" panose="020F0502020204030204"/>
              </a:rPr>
              <a:t> </a:t>
            </a:r>
            <a:r>
              <a:rPr sz="2800" spc="-10" dirty="0">
                <a:latin typeface="Calibri" panose="020F0502020204030204"/>
                <a:cs typeface="Calibri" panose="020F0502020204030204"/>
              </a:rPr>
              <a:t>Samuel,</a:t>
            </a:r>
            <a:r>
              <a:rPr sz="2800" spc="30" dirty="0">
                <a:latin typeface="Calibri" panose="020F0502020204030204"/>
                <a:cs typeface="Calibri" panose="020F0502020204030204"/>
              </a:rPr>
              <a:t> </a:t>
            </a:r>
            <a:r>
              <a:rPr sz="2800" i="1" spc="-10" dirty="0">
                <a:latin typeface="Calibri" panose="020F0502020204030204"/>
                <a:cs typeface="Calibri" panose="020F0502020204030204"/>
              </a:rPr>
              <a:t>1959</a:t>
            </a:r>
            <a:endParaRPr sz="2800">
              <a:latin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98321" y="503885"/>
            <a:ext cx="6871334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b="1" spc="-5" dirty="0">
                <a:solidFill>
                  <a:srgbClr val="2E5496"/>
                </a:solidFill>
                <a:latin typeface="Calibri" panose="020F0502020204030204"/>
                <a:cs typeface="Calibri" panose="020F0502020204030204"/>
              </a:rPr>
              <a:t>Machine</a:t>
            </a:r>
            <a:r>
              <a:rPr sz="4400" b="1" spc="-30" dirty="0">
                <a:solidFill>
                  <a:srgbClr val="2E5496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4400" b="1" spc="-5" dirty="0">
                <a:solidFill>
                  <a:srgbClr val="2E5496"/>
                </a:solidFill>
                <a:latin typeface="Calibri" panose="020F0502020204030204"/>
                <a:cs typeface="Calibri" panose="020F0502020204030204"/>
              </a:rPr>
              <a:t>Learning</a:t>
            </a:r>
            <a:r>
              <a:rPr sz="4400" b="1" spc="-55" dirty="0">
                <a:solidFill>
                  <a:srgbClr val="2E5496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4400" b="1" dirty="0">
                <a:solidFill>
                  <a:srgbClr val="2E5496"/>
                </a:solidFill>
                <a:latin typeface="Calibri" panose="020F0502020204030204"/>
                <a:cs typeface="Calibri" panose="020F0502020204030204"/>
              </a:rPr>
              <a:t>:</a:t>
            </a:r>
            <a:r>
              <a:rPr sz="4400" b="1" spc="-25" dirty="0">
                <a:solidFill>
                  <a:srgbClr val="2E5496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4400" b="1" spc="-10" dirty="0">
                <a:solidFill>
                  <a:srgbClr val="2E5496"/>
                </a:solidFill>
                <a:latin typeface="Calibri" panose="020F0502020204030204"/>
                <a:cs typeface="Calibri" panose="020F0502020204030204"/>
              </a:rPr>
              <a:t>Definition</a:t>
            </a:r>
            <a:endParaRPr sz="44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23443" y="1585417"/>
            <a:ext cx="7679055" cy="386651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95"/>
              </a:spcBef>
            </a:pPr>
            <a:r>
              <a:rPr sz="2800" spc="-5" dirty="0">
                <a:solidFill>
                  <a:srgbClr val="00AF50"/>
                </a:solidFill>
                <a:latin typeface="Calibri" panose="020F0502020204030204"/>
                <a:cs typeface="Calibri" panose="020F0502020204030204"/>
              </a:rPr>
              <a:t>And</a:t>
            </a:r>
            <a:r>
              <a:rPr sz="2800" spc="5" dirty="0">
                <a:solidFill>
                  <a:srgbClr val="00AF5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800" spc="-5" dirty="0">
                <a:solidFill>
                  <a:srgbClr val="00AF50"/>
                </a:solidFill>
                <a:latin typeface="Calibri" panose="020F0502020204030204"/>
                <a:cs typeface="Calibri" panose="020F0502020204030204"/>
              </a:rPr>
              <a:t>a </a:t>
            </a:r>
            <a:r>
              <a:rPr sz="2800" spc="-15" dirty="0">
                <a:solidFill>
                  <a:srgbClr val="00AF50"/>
                </a:solidFill>
                <a:latin typeface="Calibri" panose="020F0502020204030204"/>
                <a:cs typeface="Calibri" panose="020F0502020204030204"/>
              </a:rPr>
              <a:t>more</a:t>
            </a:r>
            <a:r>
              <a:rPr sz="2800" dirty="0">
                <a:solidFill>
                  <a:srgbClr val="00AF5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800" spc="-10" dirty="0">
                <a:solidFill>
                  <a:srgbClr val="00AF50"/>
                </a:solidFill>
                <a:latin typeface="Calibri" panose="020F0502020204030204"/>
                <a:cs typeface="Calibri" panose="020F0502020204030204"/>
              </a:rPr>
              <a:t>engineering-oriented</a:t>
            </a:r>
            <a:r>
              <a:rPr sz="2800" spc="25" dirty="0">
                <a:solidFill>
                  <a:srgbClr val="00AF5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800" spc="-10" dirty="0">
                <a:solidFill>
                  <a:srgbClr val="00AF50"/>
                </a:solidFill>
                <a:latin typeface="Calibri" panose="020F0502020204030204"/>
                <a:cs typeface="Calibri" panose="020F0502020204030204"/>
              </a:rPr>
              <a:t>one:</a:t>
            </a:r>
            <a:endParaRPr sz="2800">
              <a:latin typeface="Calibri" panose="020F0502020204030204"/>
              <a:cs typeface="Calibri" panose="020F0502020204030204"/>
            </a:endParaRPr>
          </a:p>
          <a:p>
            <a:pPr marL="12700" marR="5080" algn="just">
              <a:lnSpc>
                <a:spcPct val="100000"/>
              </a:lnSpc>
              <a:spcBef>
                <a:spcPts val="5"/>
              </a:spcBef>
            </a:pPr>
            <a:r>
              <a:rPr sz="2800" spc="-5" dirty="0">
                <a:latin typeface="Calibri" panose="020F0502020204030204"/>
                <a:cs typeface="Calibri" panose="020F0502020204030204"/>
              </a:rPr>
              <a:t>A </a:t>
            </a:r>
            <a:r>
              <a:rPr sz="2800" spc="-15" dirty="0">
                <a:latin typeface="Calibri" panose="020F0502020204030204"/>
                <a:cs typeface="Calibri" panose="020F0502020204030204"/>
              </a:rPr>
              <a:t>computer </a:t>
            </a:r>
            <a:r>
              <a:rPr sz="2800" spc="-25" dirty="0">
                <a:latin typeface="Calibri" panose="020F0502020204030204"/>
                <a:cs typeface="Calibri" panose="020F0502020204030204"/>
              </a:rPr>
              <a:t>program </a:t>
            </a:r>
            <a:r>
              <a:rPr sz="2800" spc="-5" dirty="0">
                <a:latin typeface="Calibri" panose="020F0502020204030204"/>
                <a:cs typeface="Calibri" panose="020F0502020204030204"/>
              </a:rPr>
              <a:t>is said </a:t>
            </a:r>
            <a:r>
              <a:rPr sz="2800" spc="-20" dirty="0">
                <a:latin typeface="Calibri" panose="020F0502020204030204"/>
                <a:cs typeface="Calibri" panose="020F0502020204030204"/>
              </a:rPr>
              <a:t>to </a:t>
            </a:r>
            <a:r>
              <a:rPr sz="2800" spc="-5" dirty="0">
                <a:latin typeface="Calibri" panose="020F0502020204030204"/>
                <a:cs typeface="Calibri" panose="020F0502020204030204"/>
              </a:rPr>
              <a:t>learn </a:t>
            </a:r>
            <a:r>
              <a:rPr sz="2800" spc="-20" dirty="0">
                <a:latin typeface="Calibri" panose="020F0502020204030204"/>
                <a:cs typeface="Calibri" panose="020F0502020204030204"/>
              </a:rPr>
              <a:t>from </a:t>
            </a:r>
            <a:r>
              <a:rPr sz="2800" spc="-15" dirty="0">
                <a:latin typeface="Calibri" panose="020F0502020204030204"/>
                <a:cs typeface="Calibri" panose="020F0502020204030204"/>
              </a:rPr>
              <a:t>experience </a:t>
            </a:r>
            <a:r>
              <a:rPr sz="2800" spc="-10" dirty="0">
                <a:latin typeface="Calibri" panose="020F0502020204030204"/>
                <a:cs typeface="Calibri" panose="020F0502020204030204"/>
              </a:rPr>
              <a:t> </a:t>
            </a:r>
            <a:r>
              <a:rPr sz="2800" spc="-5" dirty="0">
                <a:latin typeface="Calibri" panose="020F0502020204030204"/>
                <a:cs typeface="Calibri" panose="020F0502020204030204"/>
              </a:rPr>
              <a:t>E with </a:t>
            </a:r>
            <a:r>
              <a:rPr sz="2800" spc="-10" dirty="0">
                <a:latin typeface="Calibri" panose="020F0502020204030204"/>
                <a:cs typeface="Calibri" panose="020F0502020204030204"/>
              </a:rPr>
              <a:t>respect </a:t>
            </a:r>
            <a:r>
              <a:rPr sz="2800" spc="-20" dirty="0">
                <a:latin typeface="Calibri" panose="020F0502020204030204"/>
                <a:cs typeface="Calibri" panose="020F0502020204030204"/>
              </a:rPr>
              <a:t>to </a:t>
            </a:r>
            <a:r>
              <a:rPr sz="2800" spc="-10" dirty="0">
                <a:latin typeface="Calibri" panose="020F0502020204030204"/>
                <a:cs typeface="Calibri" panose="020F0502020204030204"/>
              </a:rPr>
              <a:t>some </a:t>
            </a:r>
            <a:r>
              <a:rPr sz="2800" spc="-15" dirty="0">
                <a:latin typeface="Calibri" panose="020F0502020204030204"/>
                <a:cs typeface="Calibri" panose="020F0502020204030204"/>
              </a:rPr>
              <a:t>task </a:t>
            </a:r>
            <a:r>
              <a:rPr sz="2800" spc="-5" dirty="0">
                <a:latin typeface="Calibri" panose="020F0502020204030204"/>
                <a:cs typeface="Calibri" panose="020F0502020204030204"/>
              </a:rPr>
              <a:t>T and some </a:t>
            </a:r>
            <a:r>
              <a:rPr sz="2800" spc="-15" dirty="0">
                <a:latin typeface="Calibri" panose="020F0502020204030204"/>
                <a:cs typeface="Calibri" panose="020F0502020204030204"/>
              </a:rPr>
              <a:t>performance </a:t>
            </a:r>
            <a:r>
              <a:rPr sz="2800" spc="-620" dirty="0">
                <a:latin typeface="Calibri" panose="020F0502020204030204"/>
                <a:cs typeface="Calibri" panose="020F0502020204030204"/>
              </a:rPr>
              <a:t> </a:t>
            </a:r>
            <a:r>
              <a:rPr sz="2800" spc="-10" dirty="0">
                <a:latin typeface="Calibri" panose="020F0502020204030204"/>
                <a:cs typeface="Calibri" panose="020F0502020204030204"/>
              </a:rPr>
              <a:t>measure </a:t>
            </a:r>
            <a:r>
              <a:rPr sz="2800" spc="-180" dirty="0">
                <a:latin typeface="Calibri" panose="020F0502020204030204"/>
                <a:cs typeface="Calibri" panose="020F0502020204030204"/>
              </a:rPr>
              <a:t>P, </a:t>
            </a:r>
            <a:r>
              <a:rPr sz="2800" spc="-5" dirty="0">
                <a:latin typeface="Calibri" panose="020F0502020204030204"/>
                <a:cs typeface="Calibri" panose="020F0502020204030204"/>
              </a:rPr>
              <a:t>if its </a:t>
            </a:r>
            <a:r>
              <a:rPr sz="2800" spc="-15" dirty="0">
                <a:latin typeface="Calibri" panose="020F0502020204030204"/>
                <a:cs typeface="Calibri" panose="020F0502020204030204"/>
              </a:rPr>
              <a:t>performance </a:t>
            </a:r>
            <a:r>
              <a:rPr sz="2800" spc="-5" dirty="0">
                <a:latin typeface="Calibri" panose="020F0502020204030204"/>
                <a:cs typeface="Calibri" panose="020F0502020204030204"/>
              </a:rPr>
              <a:t>on </a:t>
            </a:r>
            <a:r>
              <a:rPr sz="2800" spc="-145" dirty="0">
                <a:latin typeface="Calibri" panose="020F0502020204030204"/>
                <a:cs typeface="Calibri" panose="020F0502020204030204"/>
              </a:rPr>
              <a:t>T, </a:t>
            </a:r>
            <a:r>
              <a:rPr sz="2800" spc="-5" dirty="0">
                <a:latin typeface="Calibri" panose="020F0502020204030204"/>
                <a:cs typeface="Calibri" panose="020F0502020204030204"/>
              </a:rPr>
              <a:t>as </a:t>
            </a:r>
            <a:r>
              <a:rPr sz="2800" spc="-10" dirty="0">
                <a:latin typeface="Calibri" panose="020F0502020204030204"/>
                <a:cs typeface="Calibri" panose="020F0502020204030204"/>
              </a:rPr>
              <a:t>measured </a:t>
            </a:r>
            <a:r>
              <a:rPr sz="2800" spc="-15" dirty="0">
                <a:latin typeface="Calibri" panose="020F0502020204030204"/>
                <a:cs typeface="Calibri" panose="020F0502020204030204"/>
              </a:rPr>
              <a:t>by </a:t>
            </a:r>
            <a:r>
              <a:rPr sz="2800" spc="-180" dirty="0">
                <a:latin typeface="Calibri" panose="020F0502020204030204"/>
                <a:cs typeface="Calibri" panose="020F0502020204030204"/>
              </a:rPr>
              <a:t>P, </a:t>
            </a:r>
            <a:r>
              <a:rPr sz="2800" spc="-175" dirty="0">
                <a:latin typeface="Calibri" panose="020F0502020204030204"/>
                <a:cs typeface="Calibri" panose="020F0502020204030204"/>
              </a:rPr>
              <a:t> </a:t>
            </a:r>
            <a:r>
              <a:rPr sz="2800" spc="-20" dirty="0">
                <a:latin typeface="Calibri" panose="020F0502020204030204"/>
                <a:cs typeface="Calibri" panose="020F0502020204030204"/>
              </a:rPr>
              <a:t>improves</a:t>
            </a:r>
            <a:r>
              <a:rPr sz="2800" spc="20" dirty="0">
                <a:latin typeface="Calibri" panose="020F0502020204030204"/>
                <a:cs typeface="Calibri" panose="020F0502020204030204"/>
              </a:rPr>
              <a:t> </a:t>
            </a:r>
            <a:r>
              <a:rPr sz="2800" spc="-5" dirty="0">
                <a:latin typeface="Calibri" panose="020F0502020204030204"/>
                <a:cs typeface="Calibri" panose="020F0502020204030204"/>
              </a:rPr>
              <a:t>with</a:t>
            </a:r>
            <a:r>
              <a:rPr sz="2800" spc="10" dirty="0">
                <a:latin typeface="Calibri" panose="020F0502020204030204"/>
                <a:cs typeface="Calibri" panose="020F0502020204030204"/>
              </a:rPr>
              <a:t> </a:t>
            </a:r>
            <a:r>
              <a:rPr sz="2800" spc="-15" dirty="0">
                <a:latin typeface="Calibri" panose="020F0502020204030204"/>
                <a:cs typeface="Calibri" panose="020F0502020204030204"/>
              </a:rPr>
              <a:t>experience</a:t>
            </a:r>
            <a:r>
              <a:rPr sz="2800" spc="20" dirty="0">
                <a:latin typeface="Calibri" panose="020F0502020204030204"/>
                <a:cs typeface="Calibri" panose="020F0502020204030204"/>
              </a:rPr>
              <a:t> </a:t>
            </a:r>
            <a:r>
              <a:rPr sz="2800" spc="-5" dirty="0">
                <a:latin typeface="Calibri" panose="020F0502020204030204"/>
                <a:cs typeface="Calibri" panose="020F0502020204030204"/>
              </a:rPr>
              <a:t>E.</a:t>
            </a:r>
            <a:r>
              <a:rPr sz="2800" spc="20" dirty="0">
                <a:latin typeface="Calibri" panose="020F0502020204030204"/>
                <a:cs typeface="Calibri" panose="020F0502020204030204"/>
              </a:rPr>
              <a:t> </a:t>
            </a:r>
            <a:r>
              <a:rPr sz="2800" spc="-5" dirty="0">
                <a:latin typeface="Calibri" panose="020F0502020204030204"/>
                <a:cs typeface="Calibri" panose="020F0502020204030204"/>
              </a:rPr>
              <a:t>–</a:t>
            </a:r>
            <a:r>
              <a:rPr sz="2800" spc="5" dirty="0">
                <a:latin typeface="Calibri" panose="020F0502020204030204"/>
                <a:cs typeface="Calibri" panose="020F0502020204030204"/>
              </a:rPr>
              <a:t> </a:t>
            </a:r>
            <a:r>
              <a:rPr sz="2800" spc="-15" dirty="0">
                <a:latin typeface="Calibri" panose="020F0502020204030204"/>
                <a:cs typeface="Calibri" panose="020F0502020204030204"/>
              </a:rPr>
              <a:t>by</a:t>
            </a:r>
            <a:r>
              <a:rPr sz="2800" spc="15" dirty="0">
                <a:latin typeface="Calibri" panose="020F0502020204030204"/>
                <a:cs typeface="Calibri" panose="020F0502020204030204"/>
              </a:rPr>
              <a:t> </a:t>
            </a:r>
            <a:r>
              <a:rPr sz="2800" spc="-90" dirty="0">
                <a:latin typeface="Calibri" panose="020F0502020204030204"/>
                <a:cs typeface="Calibri" panose="020F0502020204030204"/>
              </a:rPr>
              <a:t>Tom</a:t>
            </a:r>
            <a:r>
              <a:rPr sz="2800" spc="10" dirty="0">
                <a:latin typeface="Calibri" panose="020F0502020204030204"/>
                <a:cs typeface="Calibri" panose="020F0502020204030204"/>
              </a:rPr>
              <a:t> </a:t>
            </a:r>
            <a:r>
              <a:rPr sz="2800" spc="-10" dirty="0">
                <a:latin typeface="Calibri" panose="020F0502020204030204"/>
                <a:cs typeface="Calibri" panose="020F0502020204030204"/>
              </a:rPr>
              <a:t>Mitchell,</a:t>
            </a:r>
            <a:r>
              <a:rPr sz="2800" spc="40" dirty="0">
                <a:latin typeface="Calibri" panose="020F0502020204030204"/>
                <a:cs typeface="Calibri" panose="020F0502020204030204"/>
              </a:rPr>
              <a:t> </a:t>
            </a:r>
            <a:r>
              <a:rPr sz="2800" i="1" spc="-10" dirty="0">
                <a:latin typeface="Calibri" panose="020F0502020204030204"/>
                <a:cs typeface="Calibri" panose="020F0502020204030204"/>
              </a:rPr>
              <a:t>1997</a:t>
            </a:r>
            <a:endParaRPr sz="2800">
              <a:latin typeface="Calibri" panose="020F0502020204030204"/>
              <a:cs typeface="Calibri" panose="020F0502020204030204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2750">
              <a:latin typeface="Calibri" panose="020F0502020204030204"/>
              <a:cs typeface="Calibri" panose="020F0502020204030204"/>
            </a:endParaRPr>
          </a:p>
          <a:p>
            <a:pPr marL="850900" indent="-458470">
              <a:lnSpc>
                <a:spcPct val="100000"/>
              </a:lnSpc>
              <a:buFont typeface="Arial MT"/>
              <a:buChar char="•"/>
              <a:tabLst>
                <a:tab pos="850265" algn="l"/>
                <a:tab pos="851535" algn="l"/>
              </a:tabLst>
            </a:pPr>
            <a:r>
              <a:rPr sz="2800" spc="-10" dirty="0">
                <a:latin typeface="Calibri" panose="020F0502020204030204"/>
                <a:cs typeface="Calibri" panose="020F0502020204030204"/>
              </a:rPr>
              <a:t>Experience</a:t>
            </a:r>
            <a:r>
              <a:rPr sz="2800" spc="-55" dirty="0">
                <a:latin typeface="Calibri" panose="020F0502020204030204"/>
                <a:cs typeface="Calibri" panose="020F0502020204030204"/>
              </a:rPr>
              <a:t> </a:t>
            </a:r>
            <a:r>
              <a:rPr sz="2800" spc="-5" dirty="0">
                <a:latin typeface="Calibri" panose="020F0502020204030204"/>
                <a:cs typeface="Calibri" panose="020F0502020204030204"/>
              </a:rPr>
              <a:t>E</a:t>
            </a:r>
            <a:r>
              <a:rPr sz="2800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sz="2800" spc="-5" dirty="0">
                <a:latin typeface="Calibri" panose="020F0502020204030204"/>
                <a:cs typeface="Calibri" panose="020F0502020204030204"/>
              </a:rPr>
              <a:t>means</a:t>
            </a:r>
            <a:r>
              <a:rPr sz="2800" spc="-25" dirty="0">
                <a:latin typeface="Calibri" panose="020F0502020204030204"/>
                <a:cs typeface="Calibri" panose="020F0502020204030204"/>
              </a:rPr>
              <a:t> </a:t>
            </a:r>
            <a:r>
              <a:rPr sz="2800" spc="-20" dirty="0">
                <a:latin typeface="Calibri" panose="020F0502020204030204"/>
                <a:cs typeface="Calibri" panose="020F0502020204030204"/>
              </a:rPr>
              <a:t>Data</a:t>
            </a:r>
            <a:endParaRPr sz="2800">
              <a:latin typeface="Calibri" panose="020F0502020204030204"/>
              <a:cs typeface="Calibri" panose="020F0502020204030204"/>
            </a:endParaRPr>
          </a:p>
          <a:p>
            <a:pPr marL="850900" indent="-458470">
              <a:lnSpc>
                <a:spcPct val="100000"/>
              </a:lnSpc>
              <a:buFont typeface="Arial MT"/>
              <a:buChar char="•"/>
              <a:tabLst>
                <a:tab pos="850265" algn="l"/>
                <a:tab pos="851535" algn="l"/>
              </a:tabLst>
            </a:pPr>
            <a:r>
              <a:rPr sz="2800" spc="-60" dirty="0">
                <a:latin typeface="Calibri" panose="020F0502020204030204"/>
                <a:cs typeface="Calibri" panose="020F0502020204030204"/>
              </a:rPr>
              <a:t>Task</a:t>
            </a:r>
            <a:r>
              <a:rPr sz="2800" spc="-25" dirty="0">
                <a:latin typeface="Calibri" panose="020F0502020204030204"/>
                <a:cs typeface="Calibri" panose="020F0502020204030204"/>
              </a:rPr>
              <a:t> </a:t>
            </a:r>
            <a:r>
              <a:rPr sz="2800" spc="-5" dirty="0">
                <a:latin typeface="Calibri" panose="020F0502020204030204"/>
                <a:cs typeface="Calibri" panose="020F0502020204030204"/>
              </a:rPr>
              <a:t>T means</a:t>
            </a:r>
            <a:r>
              <a:rPr sz="2800" spc="-30" dirty="0">
                <a:latin typeface="Calibri" panose="020F0502020204030204"/>
                <a:cs typeface="Calibri" panose="020F0502020204030204"/>
              </a:rPr>
              <a:t> </a:t>
            </a:r>
            <a:r>
              <a:rPr sz="2800" spc="-15" dirty="0">
                <a:latin typeface="Calibri" panose="020F0502020204030204"/>
                <a:cs typeface="Calibri" panose="020F0502020204030204"/>
              </a:rPr>
              <a:t>Regression,</a:t>
            </a:r>
            <a:r>
              <a:rPr sz="2800" spc="-45" dirty="0">
                <a:latin typeface="Calibri" panose="020F0502020204030204"/>
                <a:cs typeface="Calibri" panose="020F0502020204030204"/>
              </a:rPr>
              <a:t> </a:t>
            </a:r>
            <a:r>
              <a:rPr sz="2800" spc="-10" dirty="0">
                <a:latin typeface="Calibri" panose="020F0502020204030204"/>
                <a:cs typeface="Calibri" panose="020F0502020204030204"/>
              </a:rPr>
              <a:t>Classification,</a:t>
            </a:r>
            <a:r>
              <a:rPr sz="2800" spc="-40" dirty="0">
                <a:latin typeface="Calibri" panose="020F0502020204030204"/>
                <a:cs typeface="Calibri" panose="020F0502020204030204"/>
              </a:rPr>
              <a:t> </a:t>
            </a:r>
            <a:r>
              <a:rPr sz="2800" spc="-15" dirty="0">
                <a:latin typeface="Calibri" panose="020F0502020204030204"/>
                <a:cs typeface="Calibri" panose="020F0502020204030204"/>
              </a:rPr>
              <a:t>etc.</a:t>
            </a:r>
            <a:endParaRPr sz="2800">
              <a:latin typeface="Calibri" panose="020F0502020204030204"/>
              <a:cs typeface="Calibri" panose="020F0502020204030204"/>
            </a:endParaRPr>
          </a:p>
          <a:p>
            <a:pPr marL="850900" indent="-458470">
              <a:lnSpc>
                <a:spcPct val="100000"/>
              </a:lnSpc>
              <a:buFont typeface="Arial MT"/>
              <a:buChar char="•"/>
              <a:tabLst>
                <a:tab pos="850265" algn="l"/>
                <a:tab pos="851535" algn="l"/>
              </a:tabLst>
            </a:pPr>
            <a:r>
              <a:rPr sz="2800" spc="-20" dirty="0">
                <a:latin typeface="Calibri" panose="020F0502020204030204"/>
                <a:cs typeface="Calibri" panose="020F0502020204030204"/>
              </a:rPr>
              <a:t>Performance</a:t>
            </a:r>
            <a:r>
              <a:rPr sz="2800" spc="20" dirty="0">
                <a:latin typeface="Calibri" panose="020F0502020204030204"/>
                <a:cs typeface="Calibri" panose="020F0502020204030204"/>
              </a:rPr>
              <a:t> </a:t>
            </a:r>
            <a:r>
              <a:rPr sz="2800" spc="-10" dirty="0">
                <a:latin typeface="Calibri" panose="020F0502020204030204"/>
                <a:cs typeface="Calibri" panose="020F0502020204030204"/>
              </a:rPr>
              <a:t>measure</a:t>
            </a:r>
            <a:r>
              <a:rPr sz="2800" spc="15" dirty="0">
                <a:latin typeface="Calibri" panose="020F0502020204030204"/>
                <a:cs typeface="Calibri" panose="020F0502020204030204"/>
              </a:rPr>
              <a:t> </a:t>
            </a:r>
            <a:r>
              <a:rPr sz="2800" spc="-5" dirty="0">
                <a:latin typeface="Calibri" panose="020F0502020204030204"/>
                <a:cs typeface="Calibri" panose="020F0502020204030204"/>
              </a:rPr>
              <a:t>P</a:t>
            </a:r>
            <a:r>
              <a:rPr sz="2800" spc="5" dirty="0">
                <a:latin typeface="Calibri" panose="020F0502020204030204"/>
                <a:cs typeface="Calibri" panose="020F0502020204030204"/>
              </a:rPr>
              <a:t> </a:t>
            </a:r>
            <a:r>
              <a:rPr sz="2800" spc="-30" dirty="0">
                <a:latin typeface="Calibri" panose="020F0502020204030204"/>
                <a:cs typeface="Calibri" panose="020F0502020204030204"/>
              </a:rPr>
              <a:t>like</a:t>
            </a:r>
            <a:r>
              <a:rPr sz="2800" dirty="0">
                <a:latin typeface="Calibri" panose="020F0502020204030204"/>
                <a:cs typeface="Calibri" panose="020F0502020204030204"/>
              </a:rPr>
              <a:t> </a:t>
            </a:r>
            <a:r>
              <a:rPr sz="2800" spc="-35" dirty="0">
                <a:latin typeface="Calibri" panose="020F0502020204030204"/>
                <a:cs typeface="Calibri" panose="020F0502020204030204"/>
              </a:rPr>
              <a:t>Accuracy,</a:t>
            </a:r>
            <a:r>
              <a:rPr sz="2800" spc="35" dirty="0">
                <a:latin typeface="Calibri" panose="020F0502020204030204"/>
                <a:cs typeface="Calibri" panose="020F0502020204030204"/>
              </a:rPr>
              <a:t> </a:t>
            </a:r>
            <a:r>
              <a:rPr sz="2800" spc="-15" dirty="0">
                <a:latin typeface="Calibri" panose="020F0502020204030204"/>
                <a:cs typeface="Calibri" panose="020F0502020204030204"/>
              </a:rPr>
              <a:t>etc.</a:t>
            </a:r>
            <a:endParaRPr sz="2800">
              <a:latin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301241" y="609676"/>
            <a:ext cx="654367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b="1" spc="-30" dirty="0">
                <a:solidFill>
                  <a:srgbClr val="2E5496"/>
                </a:solidFill>
                <a:latin typeface="Calibri" panose="020F0502020204030204"/>
                <a:cs typeface="Calibri" panose="020F0502020204030204"/>
              </a:rPr>
              <a:t>Why</a:t>
            </a:r>
            <a:r>
              <a:rPr sz="4400" b="1" spc="-20" dirty="0">
                <a:solidFill>
                  <a:srgbClr val="2E5496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4400" b="1" dirty="0">
                <a:solidFill>
                  <a:srgbClr val="2E5496"/>
                </a:solidFill>
                <a:latin typeface="Calibri" panose="020F0502020204030204"/>
                <a:cs typeface="Calibri" panose="020F0502020204030204"/>
              </a:rPr>
              <a:t>use</a:t>
            </a:r>
            <a:r>
              <a:rPr sz="4400" b="1" spc="-25" dirty="0">
                <a:solidFill>
                  <a:srgbClr val="2E5496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4400" b="1" spc="-5" dirty="0">
                <a:solidFill>
                  <a:srgbClr val="2E5496"/>
                </a:solidFill>
                <a:latin typeface="Calibri" panose="020F0502020204030204"/>
                <a:cs typeface="Calibri" panose="020F0502020204030204"/>
              </a:rPr>
              <a:t>Machine</a:t>
            </a:r>
            <a:r>
              <a:rPr sz="4400" b="1" spc="-30" dirty="0">
                <a:solidFill>
                  <a:srgbClr val="2E5496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4400" b="1" dirty="0">
                <a:solidFill>
                  <a:srgbClr val="2E5496"/>
                </a:solidFill>
                <a:latin typeface="Calibri" panose="020F0502020204030204"/>
                <a:cs typeface="Calibri" panose="020F0502020204030204"/>
              </a:rPr>
              <a:t>Learning?</a:t>
            </a:r>
            <a:endParaRPr sz="44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07542" y="1784350"/>
            <a:ext cx="6136005" cy="953135"/>
          </a:xfrm>
          <a:prstGeom prst="rect">
            <a:avLst/>
          </a:prstGeom>
        </p:spPr>
        <p:txBody>
          <a:bodyPr vert="horz" wrap="square" lIns="0" tIns="67945" rIns="0" bIns="0" rtlCol="0">
            <a:spAutoFit/>
          </a:bodyPr>
          <a:lstStyle/>
          <a:p>
            <a:pPr marL="184785" marR="5080" indent="-172720">
              <a:lnSpc>
                <a:spcPts val="3460"/>
              </a:lnSpc>
              <a:spcBef>
                <a:spcPts val="535"/>
              </a:spcBef>
              <a:buFont typeface="Arial MT"/>
              <a:buChar char="•"/>
              <a:tabLst>
                <a:tab pos="185420" algn="l"/>
              </a:tabLst>
            </a:pPr>
            <a:r>
              <a:rPr sz="3200" b="1" spc="-10" dirty="0">
                <a:solidFill>
                  <a:srgbClr val="00AF50"/>
                </a:solidFill>
                <a:latin typeface="Calibri" panose="020F0502020204030204"/>
                <a:cs typeface="Calibri" panose="020F0502020204030204"/>
              </a:rPr>
              <a:t>write</a:t>
            </a:r>
            <a:r>
              <a:rPr sz="3200" b="1" spc="-20" dirty="0">
                <a:solidFill>
                  <a:srgbClr val="00AF5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3200" b="1" dirty="0">
                <a:solidFill>
                  <a:srgbClr val="00AF50"/>
                </a:solidFill>
                <a:latin typeface="Calibri" panose="020F0502020204030204"/>
                <a:cs typeface="Calibri" panose="020F0502020204030204"/>
              </a:rPr>
              <a:t>a</a:t>
            </a:r>
            <a:r>
              <a:rPr sz="3200" b="1" spc="-25" dirty="0">
                <a:solidFill>
                  <a:srgbClr val="00AF5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3200" b="1" dirty="0">
                <a:solidFill>
                  <a:srgbClr val="00AF50"/>
                </a:solidFill>
                <a:latin typeface="Calibri" panose="020F0502020204030204"/>
                <a:cs typeface="Calibri" panose="020F0502020204030204"/>
              </a:rPr>
              <a:t>spam</a:t>
            </a:r>
            <a:r>
              <a:rPr sz="3200" b="1" spc="-25" dirty="0">
                <a:solidFill>
                  <a:srgbClr val="00AF5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3200" b="1" spc="-10" dirty="0">
                <a:solidFill>
                  <a:srgbClr val="00AF50"/>
                </a:solidFill>
                <a:latin typeface="Calibri" panose="020F0502020204030204"/>
                <a:cs typeface="Calibri" panose="020F0502020204030204"/>
              </a:rPr>
              <a:t>filter</a:t>
            </a:r>
            <a:r>
              <a:rPr sz="3200" b="1" spc="-30" dirty="0">
                <a:solidFill>
                  <a:srgbClr val="00AF5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3200" b="1" dirty="0">
                <a:solidFill>
                  <a:srgbClr val="00AF50"/>
                </a:solidFill>
                <a:latin typeface="Calibri" panose="020F0502020204030204"/>
                <a:cs typeface="Calibri" panose="020F0502020204030204"/>
              </a:rPr>
              <a:t>using</a:t>
            </a:r>
            <a:r>
              <a:rPr sz="3200" b="1" spc="-30" dirty="0">
                <a:solidFill>
                  <a:srgbClr val="00AF5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3200" b="1" spc="-5" dirty="0">
                <a:solidFill>
                  <a:srgbClr val="00AF50"/>
                </a:solidFill>
                <a:latin typeface="Calibri" panose="020F0502020204030204"/>
                <a:cs typeface="Calibri" panose="020F0502020204030204"/>
              </a:rPr>
              <a:t>traditional </a:t>
            </a:r>
            <a:r>
              <a:rPr sz="3200" b="1" spc="-710" dirty="0">
                <a:solidFill>
                  <a:srgbClr val="00AF5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3200" b="1" spc="-10" dirty="0">
                <a:solidFill>
                  <a:srgbClr val="00AF50"/>
                </a:solidFill>
                <a:latin typeface="Calibri" panose="020F0502020204030204"/>
                <a:cs typeface="Calibri" panose="020F0502020204030204"/>
              </a:rPr>
              <a:t>programming</a:t>
            </a:r>
            <a:r>
              <a:rPr sz="3200" b="1" spc="-60" dirty="0">
                <a:solidFill>
                  <a:srgbClr val="00AF5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3200" b="1" spc="-10" dirty="0">
                <a:solidFill>
                  <a:srgbClr val="00AF50"/>
                </a:solidFill>
                <a:latin typeface="Calibri" panose="020F0502020204030204"/>
                <a:cs typeface="Calibri" panose="020F0502020204030204"/>
              </a:rPr>
              <a:t>techniques</a:t>
            </a:r>
            <a:endParaRPr sz="3200">
              <a:latin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301241" y="609676"/>
            <a:ext cx="654367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b="1" spc="-30" dirty="0">
                <a:solidFill>
                  <a:srgbClr val="2E5496"/>
                </a:solidFill>
                <a:latin typeface="Calibri" panose="020F0502020204030204"/>
                <a:cs typeface="Calibri" panose="020F0502020204030204"/>
              </a:rPr>
              <a:t>Why</a:t>
            </a:r>
            <a:r>
              <a:rPr sz="4400" b="1" spc="-20" dirty="0">
                <a:solidFill>
                  <a:srgbClr val="2E5496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4400" b="1" dirty="0">
                <a:solidFill>
                  <a:srgbClr val="2E5496"/>
                </a:solidFill>
                <a:latin typeface="Calibri" panose="020F0502020204030204"/>
                <a:cs typeface="Calibri" panose="020F0502020204030204"/>
              </a:rPr>
              <a:t>use</a:t>
            </a:r>
            <a:r>
              <a:rPr sz="4400" b="1" spc="-25" dirty="0">
                <a:solidFill>
                  <a:srgbClr val="2E5496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4400" b="1" spc="-5" dirty="0">
                <a:solidFill>
                  <a:srgbClr val="2E5496"/>
                </a:solidFill>
                <a:latin typeface="Calibri" panose="020F0502020204030204"/>
                <a:cs typeface="Calibri" panose="020F0502020204030204"/>
              </a:rPr>
              <a:t>Machine</a:t>
            </a:r>
            <a:r>
              <a:rPr sz="4400" b="1" spc="-30" dirty="0">
                <a:solidFill>
                  <a:srgbClr val="2E5496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4400" b="1" dirty="0">
                <a:solidFill>
                  <a:srgbClr val="2E5496"/>
                </a:solidFill>
                <a:latin typeface="Calibri" panose="020F0502020204030204"/>
                <a:cs typeface="Calibri" panose="020F0502020204030204"/>
              </a:rPr>
              <a:t>Learning?</a:t>
            </a:r>
            <a:endParaRPr sz="44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12140" y="1741068"/>
            <a:ext cx="7931150" cy="4859020"/>
          </a:xfrm>
          <a:prstGeom prst="rect">
            <a:avLst/>
          </a:prstGeom>
        </p:spPr>
        <p:txBody>
          <a:bodyPr vert="horz" wrap="square" lIns="0" tIns="79375" rIns="0" bIns="0" rtlCol="0">
            <a:spAutoFit/>
          </a:bodyPr>
          <a:lstStyle/>
          <a:p>
            <a:pPr marL="184785" indent="-172720">
              <a:lnSpc>
                <a:spcPct val="100000"/>
              </a:lnSpc>
              <a:spcBef>
                <a:spcPts val="625"/>
              </a:spcBef>
              <a:buFont typeface="Arial MT"/>
              <a:buChar char="•"/>
              <a:tabLst>
                <a:tab pos="185420" algn="l"/>
              </a:tabLst>
            </a:pPr>
            <a:r>
              <a:rPr sz="2200" b="1" spc="-25" dirty="0">
                <a:solidFill>
                  <a:srgbClr val="00AF50"/>
                </a:solidFill>
                <a:latin typeface="Calibri" panose="020F0502020204030204"/>
                <a:cs typeface="Calibri" panose="020F0502020204030204"/>
              </a:rPr>
              <a:t>Write</a:t>
            </a:r>
            <a:r>
              <a:rPr sz="2200" b="1" spc="25" dirty="0">
                <a:solidFill>
                  <a:srgbClr val="00AF5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200" b="1" spc="-5" dirty="0">
                <a:solidFill>
                  <a:srgbClr val="00AF50"/>
                </a:solidFill>
                <a:latin typeface="Calibri" panose="020F0502020204030204"/>
                <a:cs typeface="Calibri" panose="020F0502020204030204"/>
              </a:rPr>
              <a:t>a</a:t>
            </a:r>
            <a:r>
              <a:rPr sz="2200" b="1" dirty="0">
                <a:solidFill>
                  <a:srgbClr val="00AF5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200" b="1" spc="-5" dirty="0">
                <a:solidFill>
                  <a:srgbClr val="00AF50"/>
                </a:solidFill>
                <a:latin typeface="Calibri" panose="020F0502020204030204"/>
                <a:cs typeface="Calibri" panose="020F0502020204030204"/>
              </a:rPr>
              <a:t>spam </a:t>
            </a:r>
            <a:r>
              <a:rPr sz="2200" b="1" spc="-10" dirty="0">
                <a:solidFill>
                  <a:srgbClr val="00AF50"/>
                </a:solidFill>
                <a:latin typeface="Calibri" panose="020F0502020204030204"/>
                <a:cs typeface="Calibri" panose="020F0502020204030204"/>
              </a:rPr>
              <a:t>filter</a:t>
            </a:r>
            <a:r>
              <a:rPr sz="2200" b="1" spc="10" dirty="0">
                <a:solidFill>
                  <a:srgbClr val="00AF5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200" b="1" spc="-5" dirty="0">
                <a:solidFill>
                  <a:srgbClr val="00AF50"/>
                </a:solidFill>
                <a:latin typeface="Calibri" panose="020F0502020204030204"/>
                <a:cs typeface="Calibri" panose="020F0502020204030204"/>
              </a:rPr>
              <a:t>using</a:t>
            </a:r>
            <a:r>
              <a:rPr sz="2200" b="1" dirty="0">
                <a:solidFill>
                  <a:srgbClr val="00AF5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200" b="1" spc="-15" dirty="0">
                <a:solidFill>
                  <a:srgbClr val="00AF50"/>
                </a:solidFill>
                <a:latin typeface="Calibri" panose="020F0502020204030204"/>
                <a:cs typeface="Calibri" panose="020F0502020204030204"/>
              </a:rPr>
              <a:t>traditional</a:t>
            </a:r>
            <a:r>
              <a:rPr sz="2200" b="1" spc="40" dirty="0">
                <a:solidFill>
                  <a:srgbClr val="00AF5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200" b="1" spc="-10" dirty="0">
                <a:solidFill>
                  <a:srgbClr val="00AF50"/>
                </a:solidFill>
                <a:latin typeface="Calibri" panose="020F0502020204030204"/>
                <a:cs typeface="Calibri" panose="020F0502020204030204"/>
              </a:rPr>
              <a:t>programming</a:t>
            </a:r>
            <a:r>
              <a:rPr sz="2200" b="1" spc="5" dirty="0">
                <a:solidFill>
                  <a:srgbClr val="00AF5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200" b="1" spc="-10" dirty="0">
                <a:solidFill>
                  <a:srgbClr val="00AF50"/>
                </a:solidFill>
                <a:latin typeface="Calibri" panose="020F0502020204030204"/>
                <a:cs typeface="Calibri" panose="020F0502020204030204"/>
              </a:rPr>
              <a:t>techniques</a:t>
            </a:r>
            <a:endParaRPr sz="2200">
              <a:latin typeface="Calibri" panose="020F0502020204030204"/>
              <a:cs typeface="Calibri" panose="020F0502020204030204"/>
            </a:endParaRPr>
          </a:p>
          <a:p>
            <a:pPr marL="12700" marR="5080" algn="just">
              <a:lnSpc>
                <a:spcPct val="90000"/>
              </a:lnSpc>
              <a:spcBef>
                <a:spcPts val="795"/>
              </a:spcBef>
              <a:buClr>
                <a:srgbClr val="000000"/>
              </a:buClr>
              <a:buAutoNum type="arabicPeriod"/>
              <a:tabLst>
                <a:tab pos="287655" algn="l"/>
              </a:tabLst>
            </a:pPr>
            <a:r>
              <a:rPr sz="2200" spc="-2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First</a:t>
            </a:r>
            <a:r>
              <a:rPr sz="2200" spc="-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200" spc="-1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you</a:t>
            </a:r>
            <a:r>
              <a:rPr sz="220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200" spc="-1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would</a:t>
            </a:r>
            <a:r>
              <a:rPr sz="2200" spc="-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 look </a:t>
            </a:r>
            <a:r>
              <a:rPr sz="2200" spc="-1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at</a:t>
            </a:r>
            <a:r>
              <a:rPr sz="220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200" spc="-1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what</a:t>
            </a:r>
            <a:r>
              <a:rPr sz="2200" spc="-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 spam</a:t>
            </a:r>
            <a:r>
              <a:rPr sz="2200" spc="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200" spc="-1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typically</a:t>
            </a:r>
            <a:r>
              <a:rPr sz="220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200" spc="-1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looks</a:t>
            </a:r>
            <a:r>
              <a:rPr sz="2200" spc="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200" spc="-2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like.</a:t>
            </a:r>
            <a:r>
              <a:rPr sz="2200" spc="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200" spc="-6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You</a:t>
            </a:r>
            <a:r>
              <a:rPr sz="220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200" spc="-1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might </a:t>
            </a:r>
            <a:r>
              <a:rPr sz="2200" spc="-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200" spc="-1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notice</a:t>
            </a:r>
            <a:r>
              <a:rPr sz="220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200" spc="-1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that</a:t>
            </a:r>
            <a:r>
              <a:rPr sz="220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200" spc="-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some</a:t>
            </a:r>
            <a:r>
              <a:rPr sz="2200" spc="2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200" spc="-1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words</a:t>
            </a:r>
            <a:r>
              <a:rPr sz="220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200" spc="-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or</a:t>
            </a:r>
            <a:r>
              <a:rPr sz="2200" spc="1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200" spc="-1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phrases</a:t>
            </a:r>
            <a:r>
              <a:rPr sz="2200" spc="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200" spc="-1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(such</a:t>
            </a:r>
            <a:r>
              <a:rPr sz="220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200" spc="-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as</a:t>
            </a:r>
            <a:r>
              <a:rPr sz="2200" spc="1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200" spc="-4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“4U,”</a:t>
            </a:r>
            <a:r>
              <a:rPr sz="2200" spc="1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200" spc="-2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“credit</a:t>
            </a:r>
            <a:r>
              <a:rPr sz="2200" spc="-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200" spc="-4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card,”</a:t>
            </a:r>
            <a:r>
              <a:rPr sz="220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200" spc="-3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“free,” </a:t>
            </a:r>
            <a:r>
              <a:rPr sz="2200" spc="-48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200" spc="-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and</a:t>
            </a:r>
            <a:r>
              <a:rPr sz="2200" spc="-1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20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“amazing”)</a:t>
            </a:r>
            <a:r>
              <a:rPr sz="2200" spc="1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200" spc="-1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tend</a:t>
            </a:r>
            <a:r>
              <a:rPr sz="220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200" spc="-1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to</a:t>
            </a:r>
            <a:r>
              <a:rPr sz="2200" spc="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200" spc="-1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come</a:t>
            </a:r>
            <a:r>
              <a:rPr sz="2200" spc="2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200" spc="-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up a</a:t>
            </a:r>
            <a:r>
              <a:rPr sz="2200" spc="-1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200" spc="-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lot in</a:t>
            </a:r>
            <a:r>
              <a:rPr sz="220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200" spc="-1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the</a:t>
            </a:r>
            <a:r>
              <a:rPr sz="2200" spc="1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200" spc="-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subject line.</a:t>
            </a:r>
            <a:r>
              <a:rPr sz="2200" spc="-1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 Perhaps</a:t>
            </a:r>
            <a:r>
              <a:rPr sz="220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200" spc="-1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you </a:t>
            </a:r>
            <a:r>
              <a:rPr sz="2200" spc="-1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 would </a:t>
            </a:r>
            <a:r>
              <a:rPr sz="2200" spc="-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also</a:t>
            </a:r>
            <a:r>
              <a:rPr sz="220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200" spc="-1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notice</a:t>
            </a:r>
            <a:r>
              <a:rPr sz="2200" spc="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200" spc="-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a</a:t>
            </a:r>
            <a:r>
              <a:rPr sz="2200" spc="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200" spc="-3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few</a:t>
            </a:r>
            <a:r>
              <a:rPr sz="2200" spc="3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200" spc="-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other</a:t>
            </a:r>
            <a:r>
              <a:rPr sz="220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200" spc="-1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patterns</a:t>
            </a:r>
            <a:r>
              <a:rPr sz="2200" spc="1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200" spc="-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in</a:t>
            </a:r>
            <a:r>
              <a:rPr sz="220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200" spc="-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the</a:t>
            </a:r>
            <a:r>
              <a:rPr sz="2200" spc="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200" spc="-1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sender’s</a:t>
            </a:r>
            <a:r>
              <a:rPr sz="2200" spc="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200" spc="-1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name,</a:t>
            </a:r>
            <a:r>
              <a:rPr sz="2200" spc="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200" spc="-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the</a:t>
            </a:r>
            <a:endParaRPr sz="2200">
              <a:latin typeface="Calibri" panose="020F0502020204030204"/>
              <a:cs typeface="Calibri" panose="020F0502020204030204"/>
            </a:endParaRPr>
          </a:p>
          <a:p>
            <a:pPr marL="12700" algn="just">
              <a:lnSpc>
                <a:spcPts val="2375"/>
              </a:lnSpc>
            </a:pPr>
            <a:r>
              <a:rPr sz="2200" spc="-2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email’s</a:t>
            </a:r>
            <a:r>
              <a:rPr sz="2200" spc="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200" spc="-4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body,</a:t>
            </a:r>
            <a:r>
              <a:rPr sz="2200" spc="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200" spc="-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and</a:t>
            </a:r>
            <a:r>
              <a:rPr sz="220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200" spc="-1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other</a:t>
            </a:r>
            <a:r>
              <a:rPr sz="220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200" spc="-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parts</a:t>
            </a:r>
            <a:r>
              <a:rPr sz="220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200" spc="-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of</a:t>
            </a:r>
            <a:r>
              <a:rPr sz="2200" spc="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200" spc="-1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the</a:t>
            </a:r>
            <a:r>
              <a:rPr sz="2200" spc="1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200" spc="-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email.</a:t>
            </a:r>
            <a:endParaRPr sz="2200">
              <a:latin typeface="Calibri" panose="020F0502020204030204"/>
              <a:cs typeface="Calibri" panose="020F0502020204030204"/>
            </a:endParaRPr>
          </a:p>
          <a:p>
            <a:pPr marL="12700" marR="21590" algn="just">
              <a:lnSpc>
                <a:spcPct val="90000"/>
              </a:lnSpc>
              <a:spcBef>
                <a:spcPts val="805"/>
              </a:spcBef>
              <a:buClr>
                <a:srgbClr val="000000"/>
              </a:buClr>
              <a:buAutoNum type="arabicPeriod" startAt="2"/>
              <a:tabLst>
                <a:tab pos="287655" algn="l"/>
              </a:tabLst>
            </a:pPr>
            <a:r>
              <a:rPr sz="2200" spc="-65" dirty="0">
                <a:solidFill>
                  <a:srgbClr val="6F2F9F"/>
                </a:solidFill>
                <a:latin typeface="Calibri" panose="020F0502020204030204"/>
                <a:cs typeface="Calibri" panose="020F0502020204030204"/>
              </a:rPr>
              <a:t>You </a:t>
            </a:r>
            <a:r>
              <a:rPr sz="2200" spc="-10" dirty="0">
                <a:solidFill>
                  <a:srgbClr val="6F2F9F"/>
                </a:solidFill>
                <a:latin typeface="Calibri" panose="020F0502020204030204"/>
                <a:cs typeface="Calibri" panose="020F0502020204030204"/>
              </a:rPr>
              <a:t>would write </a:t>
            </a:r>
            <a:r>
              <a:rPr sz="2200" spc="-5" dirty="0">
                <a:solidFill>
                  <a:srgbClr val="6F2F9F"/>
                </a:solidFill>
                <a:latin typeface="Calibri" panose="020F0502020204030204"/>
                <a:cs typeface="Calibri" panose="020F0502020204030204"/>
              </a:rPr>
              <a:t>a </a:t>
            </a:r>
            <a:r>
              <a:rPr sz="2200" spc="-10" dirty="0">
                <a:solidFill>
                  <a:srgbClr val="6F2F9F"/>
                </a:solidFill>
                <a:latin typeface="Calibri" panose="020F0502020204030204"/>
                <a:cs typeface="Calibri" panose="020F0502020204030204"/>
              </a:rPr>
              <a:t>detection algorithm </a:t>
            </a:r>
            <a:r>
              <a:rPr sz="2200" spc="-20" dirty="0">
                <a:solidFill>
                  <a:srgbClr val="6F2F9F"/>
                </a:solidFill>
                <a:latin typeface="Calibri" panose="020F0502020204030204"/>
                <a:cs typeface="Calibri" panose="020F0502020204030204"/>
              </a:rPr>
              <a:t>for </a:t>
            </a:r>
            <a:r>
              <a:rPr sz="2200" spc="-5" dirty="0">
                <a:solidFill>
                  <a:srgbClr val="6F2F9F"/>
                </a:solidFill>
                <a:latin typeface="Calibri" panose="020F0502020204030204"/>
                <a:cs typeface="Calibri" panose="020F0502020204030204"/>
              </a:rPr>
              <a:t>each of the </a:t>
            </a:r>
            <a:r>
              <a:rPr sz="2200" spc="-15" dirty="0">
                <a:solidFill>
                  <a:srgbClr val="6F2F9F"/>
                </a:solidFill>
                <a:latin typeface="Calibri" panose="020F0502020204030204"/>
                <a:cs typeface="Calibri" panose="020F0502020204030204"/>
              </a:rPr>
              <a:t>patterns </a:t>
            </a:r>
            <a:r>
              <a:rPr sz="2200" spc="-10" dirty="0">
                <a:solidFill>
                  <a:srgbClr val="6F2F9F"/>
                </a:solidFill>
                <a:latin typeface="Calibri" panose="020F0502020204030204"/>
                <a:cs typeface="Calibri" panose="020F0502020204030204"/>
              </a:rPr>
              <a:t>that </a:t>
            </a:r>
            <a:r>
              <a:rPr sz="2200" spc="-5" dirty="0">
                <a:solidFill>
                  <a:srgbClr val="6F2F9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200" spc="-15" dirty="0">
                <a:solidFill>
                  <a:srgbClr val="6F2F9F"/>
                </a:solidFill>
                <a:latin typeface="Calibri" panose="020F0502020204030204"/>
                <a:cs typeface="Calibri" panose="020F0502020204030204"/>
              </a:rPr>
              <a:t>you </a:t>
            </a:r>
            <a:r>
              <a:rPr sz="2200" spc="-10" dirty="0">
                <a:solidFill>
                  <a:srgbClr val="6F2F9F"/>
                </a:solidFill>
                <a:latin typeface="Calibri" panose="020F0502020204030204"/>
                <a:cs typeface="Calibri" panose="020F0502020204030204"/>
              </a:rPr>
              <a:t>noticed, </a:t>
            </a:r>
            <a:r>
              <a:rPr sz="2200" spc="-5" dirty="0">
                <a:solidFill>
                  <a:srgbClr val="6F2F9F"/>
                </a:solidFill>
                <a:latin typeface="Calibri" panose="020F0502020204030204"/>
                <a:cs typeface="Calibri" panose="020F0502020204030204"/>
              </a:rPr>
              <a:t>and </a:t>
            </a:r>
            <a:r>
              <a:rPr sz="2200" spc="-10" dirty="0">
                <a:solidFill>
                  <a:srgbClr val="6F2F9F"/>
                </a:solidFill>
                <a:latin typeface="Calibri" panose="020F0502020204030204"/>
                <a:cs typeface="Calibri" panose="020F0502020204030204"/>
              </a:rPr>
              <a:t>your </a:t>
            </a:r>
            <a:r>
              <a:rPr sz="2200" spc="-20" dirty="0">
                <a:solidFill>
                  <a:srgbClr val="6F2F9F"/>
                </a:solidFill>
                <a:latin typeface="Calibri" panose="020F0502020204030204"/>
                <a:cs typeface="Calibri" panose="020F0502020204030204"/>
              </a:rPr>
              <a:t>program </a:t>
            </a:r>
            <a:r>
              <a:rPr sz="2200" spc="-10" dirty="0">
                <a:solidFill>
                  <a:srgbClr val="6F2F9F"/>
                </a:solidFill>
                <a:latin typeface="Calibri" panose="020F0502020204030204"/>
                <a:cs typeface="Calibri" panose="020F0502020204030204"/>
              </a:rPr>
              <a:t>would flag </a:t>
            </a:r>
            <a:r>
              <a:rPr sz="2200" spc="-5" dirty="0">
                <a:solidFill>
                  <a:srgbClr val="6F2F9F"/>
                </a:solidFill>
                <a:latin typeface="Calibri" panose="020F0502020204030204"/>
                <a:cs typeface="Calibri" panose="020F0502020204030204"/>
              </a:rPr>
              <a:t>emails as </a:t>
            </a:r>
            <a:r>
              <a:rPr sz="2200" spc="-10" dirty="0">
                <a:solidFill>
                  <a:srgbClr val="6F2F9F"/>
                </a:solidFill>
                <a:latin typeface="Calibri" panose="020F0502020204030204"/>
                <a:cs typeface="Calibri" panose="020F0502020204030204"/>
              </a:rPr>
              <a:t>spam </a:t>
            </a:r>
            <a:r>
              <a:rPr sz="2200" spc="-5" dirty="0">
                <a:solidFill>
                  <a:srgbClr val="6F2F9F"/>
                </a:solidFill>
                <a:latin typeface="Calibri" panose="020F0502020204030204"/>
                <a:cs typeface="Calibri" panose="020F0502020204030204"/>
              </a:rPr>
              <a:t>if a </a:t>
            </a:r>
            <a:r>
              <a:rPr sz="2200" spc="-10" dirty="0">
                <a:solidFill>
                  <a:srgbClr val="6F2F9F"/>
                </a:solidFill>
                <a:latin typeface="Calibri" panose="020F0502020204030204"/>
                <a:cs typeface="Calibri" panose="020F0502020204030204"/>
              </a:rPr>
              <a:t>number </a:t>
            </a:r>
            <a:r>
              <a:rPr sz="2200" spc="-484" dirty="0">
                <a:solidFill>
                  <a:srgbClr val="6F2F9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200" spc="-5" dirty="0">
                <a:solidFill>
                  <a:srgbClr val="6F2F9F"/>
                </a:solidFill>
                <a:latin typeface="Calibri" panose="020F0502020204030204"/>
                <a:cs typeface="Calibri" panose="020F0502020204030204"/>
              </a:rPr>
              <a:t>of</a:t>
            </a:r>
            <a:r>
              <a:rPr sz="2200" dirty="0">
                <a:solidFill>
                  <a:srgbClr val="6F2F9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200" spc="-5" dirty="0">
                <a:solidFill>
                  <a:srgbClr val="6F2F9F"/>
                </a:solidFill>
                <a:latin typeface="Calibri" panose="020F0502020204030204"/>
                <a:cs typeface="Calibri" panose="020F0502020204030204"/>
              </a:rPr>
              <a:t>these</a:t>
            </a:r>
            <a:r>
              <a:rPr sz="2200" spc="10" dirty="0">
                <a:solidFill>
                  <a:srgbClr val="6F2F9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200" spc="-15" dirty="0">
                <a:solidFill>
                  <a:srgbClr val="6F2F9F"/>
                </a:solidFill>
                <a:latin typeface="Calibri" panose="020F0502020204030204"/>
                <a:cs typeface="Calibri" panose="020F0502020204030204"/>
              </a:rPr>
              <a:t>patterns</a:t>
            </a:r>
            <a:r>
              <a:rPr sz="2200" spc="20" dirty="0">
                <a:solidFill>
                  <a:srgbClr val="6F2F9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200" spc="-15" dirty="0">
                <a:solidFill>
                  <a:srgbClr val="6F2F9F"/>
                </a:solidFill>
                <a:latin typeface="Calibri" panose="020F0502020204030204"/>
                <a:cs typeface="Calibri" panose="020F0502020204030204"/>
              </a:rPr>
              <a:t>were</a:t>
            </a:r>
            <a:r>
              <a:rPr sz="2200" dirty="0">
                <a:solidFill>
                  <a:srgbClr val="6F2F9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200" spc="-15" dirty="0">
                <a:solidFill>
                  <a:srgbClr val="6F2F9F"/>
                </a:solidFill>
                <a:latin typeface="Calibri" panose="020F0502020204030204"/>
                <a:cs typeface="Calibri" panose="020F0502020204030204"/>
              </a:rPr>
              <a:t>detected.</a:t>
            </a:r>
            <a:endParaRPr sz="2200">
              <a:latin typeface="Calibri" panose="020F0502020204030204"/>
              <a:cs typeface="Calibri" panose="020F0502020204030204"/>
            </a:endParaRPr>
          </a:p>
          <a:p>
            <a:pPr marL="12700" marR="217805" algn="just">
              <a:lnSpc>
                <a:spcPts val="2380"/>
              </a:lnSpc>
              <a:spcBef>
                <a:spcPts val="835"/>
              </a:spcBef>
              <a:buClr>
                <a:srgbClr val="000000"/>
              </a:buClr>
              <a:buAutoNum type="arabicPeriod" startAt="2"/>
              <a:tabLst>
                <a:tab pos="287655" algn="l"/>
              </a:tabLst>
            </a:pPr>
            <a:r>
              <a:rPr sz="2200" spc="-60" dirty="0">
                <a:solidFill>
                  <a:srgbClr val="006FC0"/>
                </a:solidFill>
                <a:latin typeface="Calibri" panose="020F0502020204030204"/>
                <a:cs typeface="Calibri" panose="020F0502020204030204"/>
              </a:rPr>
              <a:t>You </a:t>
            </a:r>
            <a:r>
              <a:rPr sz="2200" spc="-10" dirty="0">
                <a:solidFill>
                  <a:srgbClr val="006FC0"/>
                </a:solidFill>
                <a:latin typeface="Calibri" panose="020F0502020204030204"/>
                <a:cs typeface="Calibri" panose="020F0502020204030204"/>
              </a:rPr>
              <a:t>would </a:t>
            </a:r>
            <a:r>
              <a:rPr sz="2200" spc="-15" dirty="0">
                <a:solidFill>
                  <a:srgbClr val="006FC0"/>
                </a:solidFill>
                <a:latin typeface="Calibri" panose="020F0502020204030204"/>
                <a:cs typeface="Calibri" panose="020F0502020204030204"/>
              </a:rPr>
              <a:t>test </a:t>
            </a:r>
            <a:r>
              <a:rPr sz="2200" spc="-10" dirty="0">
                <a:solidFill>
                  <a:srgbClr val="006FC0"/>
                </a:solidFill>
                <a:latin typeface="Calibri" panose="020F0502020204030204"/>
                <a:cs typeface="Calibri" panose="020F0502020204030204"/>
              </a:rPr>
              <a:t>your </a:t>
            </a:r>
            <a:r>
              <a:rPr sz="2200" spc="-20" dirty="0">
                <a:solidFill>
                  <a:srgbClr val="006FC0"/>
                </a:solidFill>
                <a:latin typeface="Calibri" panose="020F0502020204030204"/>
                <a:cs typeface="Calibri" panose="020F0502020204030204"/>
              </a:rPr>
              <a:t>program </a:t>
            </a:r>
            <a:r>
              <a:rPr sz="2200" spc="-5" dirty="0">
                <a:solidFill>
                  <a:srgbClr val="006FC0"/>
                </a:solidFill>
                <a:latin typeface="Calibri" panose="020F0502020204030204"/>
                <a:cs typeface="Calibri" panose="020F0502020204030204"/>
              </a:rPr>
              <a:t>and </a:t>
            </a:r>
            <a:r>
              <a:rPr sz="2200" spc="-15" dirty="0">
                <a:solidFill>
                  <a:srgbClr val="006FC0"/>
                </a:solidFill>
                <a:latin typeface="Calibri" panose="020F0502020204030204"/>
                <a:cs typeface="Calibri" panose="020F0502020204030204"/>
              </a:rPr>
              <a:t>repeat steps </a:t>
            </a:r>
            <a:r>
              <a:rPr sz="2200" spc="-5" dirty="0">
                <a:solidFill>
                  <a:srgbClr val="006FC0"/>
                </a:solidFill>
                <a:latin typeface="Calibri" panose="020F0502020204030204"/>
                <a:cs typeface="Calibri" panose="020F0502020204030204"/>
              </a:rPr>
              <a:t>1 and 2 </a:t>
            </a:r>
            <a:r>
              <a:rPr sz="2200" spc="-10" dirty="0">
                <a:solidFill>
                  <a:srgbClr val="006FC0"/>
                </a:solidFill>
                <a:latin typeface="Calibri" panose="020F0502020204030204"/>
                <a:cs typeface="Calibri" panose="020F0502020204030204"/>
              </a:rPr>
              <a:t>until </a:t>
            </a:r>
            <a:r>
              <a:rPr sz="2200" spc="-5" dirty="0">
                <a:solidFill>
                  <a:srgbClr val="006FC0"/>
                </a:solidFill>
                <a:latin typeface="Calibri" panose="020F0502020204030204"/>
                <a:cs typeface="Calibri" panose="020F0502020204030204"/>
              </a:rPr>
              <a:t>it </a:t>
            </a:r>
            <a:r>
              <a:rPr sz="2200" spc="-10" dirty="0">
                <a:solidFill>
                  <a:srgbClr val="006FC0"/>
                </a:solidFill>
                <a:latin typeface="Calibri" panose="020F0502020204030204"/>
                <a:cs typeface="Calibri" panose="020F0502020204030204"/>
              </a:rPr>
              <a:t>was </a:t>
            </a:r>
            <a:r>
              <a:rPr sz="2200" spc="-484" dirty="0">
                <a:solidFill>
                  <a:srgbClr val="006FC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200" spc="-10" dirty="0">
                <a:solidFill>
                  <a:srgbClr val="006FC0"/>
                </a:solidFill>
                <a:latin typeface="Calibri" panose="020F0502020204030204"/>
                <a:cs typeface="Calibri" panose="020F0502020204030204"/>
              </a:rPr>
              <a:t>good enough</a:t>
            </a:r>
            <a:r>
              <a:rPr sz="2200" spc="15" dirty="0">
                <a:solidFill>
                  <a:srgbClr val="006FC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200" spc="-20" dirty="0">
                <a:solidFill>
                  <a:srgbClr val="006FC0"/>
                </a:solidFill>
                <a:latin typeface="Calibri" panose="020F0502020204030204"/>
                <a:cs typeface="Calibri" panose="020F0502020204030204"/>
              </a:rPr>
              <a:t>to</a:t>
            </a:r>
            <a:r>
              <a:rPr sz="2200" spc="5" dirty="0">
                <a:solidFill>
                  <a:srgbClr val="006FC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200" spc="-5" dirty="0">
                <a:solidFill>
                  <a:srgbClr val="006FC0"/>
                </a:solidFill>
                <a:latin typeface="Calibri" panose="020F0502020204030204"/>
                <a:cs typeface="Calibri" panose="020F0502020204030204"/>
              </a:rPr>
              <a:t>launch.</a:t>
            </a:r>
            <a:endParaRPr sz="2200">
              <a:latin typeface="Calibri" panose="020F0502020204030204"/>
              <a:cs typeface="Calibri" panose="020F0502020204030204"/>
            </a:endParaRPr>
          </a:p>
          <a:p>
            <a:pPr algn="just">
              <a:lnSpc>
                <a:spcPct val="100000"/>
              </a:lnSpc>
            </a:pPr>
            <a:endParaRPr sz="3250">
              <a:latin typeface="Calibri" panose="020F0502020204030204"/>
              <a:cs typeface="Calibri" panose="020F0502020204030204"/>
            </a:endParaRPr>
          </a:p>
          <a:p>
            <a:pPr marL="12700" marR="212090" algn="just">
              <a:lnSpc>
                <a:spcPts val="2380"/>
              </a:lnSpc>
            </a:pPr>
            <a:r>
              <a:rPr sz="2200" b="1" spc="-1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The</a:t>
            </a:r>
            <a:r>
              <a:rPr sz="2200" b="1" spc="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200" b="1" spc="-1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problem</a:t>
            </a:r>
            <a:r>
              <a:rPr sz="2200" b="1" spc="2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200" b="1" spc="-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is</a:t>
            </a:r>
            <a:r>
              <a:rPr sz="2200" b="1" spc="1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200" b="1" spc="-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difficult,</a:t>
            </a:r>
            <a:r>
              <a:rPr sz="2200" b="1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200" b="1" spc="-1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your</a:t>
            </a:r>
            <a:r>
              <a:rPr sz="2200" b="1" spc="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200" b="1" spc="-1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program</a:t>
            </a:r>
            <a:r>
              <a:rPr sz="2200" b="1" spc="3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200" b="1" spc="-1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will</a:t>
            </a:r>
            <a:r>
              <a:rPr sz="2200" b="1" spc="-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200" b="1" spc="-1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likely</a:t>
            </a:r>
            <a:r>
              <a:rPr sz="2200" b="1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200" b="1" spc="-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become</a:t>
            </a:r>
            <a:r>
              <a:rPr sz="2200" b="1" spc="3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200" b="1" spc="-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a</a:t>
            </a:r>
            <a:r>
              <a:rPr sz="2200" b="1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200" b="1" spc="-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long</a:t>
            </a:r>
            <a:r>
              <a:rPr sz="2200" b="1" spc="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200" b="1" spc="-1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list </a:t>
            </a:r>
            <a:r>
              <a:rPr sz="2200" b="1" spc="-48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200" b="1" spc="-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of</a:t>
            </a:r>
            <a:r>
              <a:rPr sz="2200" b="1" spc="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200" b="1" spc="-1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complex</a:t>
            </a:r>
            <a:r>
              <a:rPr sz="2200" b="1" spc="2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200" b="1" spc="-1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rules</a:t>
            </a:r>
            <a:endParaRPr sz="2200">
              <a:latin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1524000" y="1600200"/>
            <a:ext cx="6096000" cy="4604004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695957" y="609676"/>
            <a:ext cx="575310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b="1" spc="-5" dirty="0">
                <a:solidFill>
                  <a:srgbClr val="2E5496"/>
                </a:solidFill>
                <a:latin typeface="Calibri" panose="020F0502020204030204"/>
                <a:cs typeface="Calibri" panose="020F0502020204030204"/>
              </a:rPr>
              <a:t>The</a:t>
            </a:r>
            <a:r>
              <a:rPr sz="4400" b="1" spc="-25" dirty="0">
                <a:solidFill>
                  <a:srgbClr val="2E5496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4400" b="1" spc="-15" dirty="0">
                <a:solidFill>
                  <a:srgbClr val="2E5496"/>
                </a:solidFill>
                <a:latin typeface="Calibri" panose="020F0502020204030204"/>
                <a:cs typeface="Calibri" panose="020F0502020204030204"/>
              </a:rPr>
              <a:t>traditional</a:t>
            </a:r>
            <a:r>
              <a:rPr sz="4400" b="1" spc="-40" dirty="0">
                <a:solidFill>
                  <a:srgbClr val="2E5496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4400" b="1" spc="-5" dirty="0">
                <a:solidFill>
                  <a:srgbClr val="2E5496"/>
                </a:solidFill>
                <a:latin typeface="Calibri" panose="020F0502020204030204"/>
                <a:cs typeface="Calibri" panose="020F0502020204030204"/>
              </a:rPr>
              <a:t>approach</a:t>
            </a:r>
            <a:endParaRPr sz="4400">
              <a:latin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07542" y="1737476"/>
            <a:ext cx="7611745" cy="2966085"/>
          </a:xfrm>
          <a:prstGeom prst="rect">
            <a:avLst/>
          </a:prstGeom>
        </p:spPr>
        <p:txBody>
          <a:bodyPr vert="horz" wrap="square" lIns="0" tIns="77470" rIns="0" bIns="0" rtlCol="0">
            <a:spAutoFit/>
          </a:bodyPr>
          <a:lstStyle/>
          <a:p>
            <a:pPr marL="184785" indent="-172720">
              <a:lnSpc>
                <a:spcPct val="100000"/>
              </a:lnSpc>
              <a:spcBef>
                <a:spcPts val="610"/>
              </a:spcBef>
              <a:buClr>
                <a:srgbClr val="00AF50"/>
              </a:buClr>
              <a:buFont typeface="Arial MT"/>
              <a:buChar char="•"/>
              <a:tabLst>
                <a:tab pos="185420" algn="l"/>
              </a:tabLst>
            </a:pPr>
            <a:r>
              <a:rPr sz="2400" b="1" spc="-25" dirty="0">
                <a:solidFill>
                  <a:srgbClr val="00AF50"/>
                </a:solidFill>
                <a:latin typeface="Calibri" panose="020F0502020204030204"/>
                <a:cs typeface="Calibri" panose="020F0502020204030204"/>
              </a:rPr>
              <a:t>W</a:t>
            </a:r>
            <a:r>
              <a:rPr sz="2400" b="1" spc="-25" dirty="0">
                <a:solidFill>
                  <a:srgbClr val="00AF50"/>
                </a:solidFill>
                <a:latin typeface="Calibri" panose="020F0502020204030204"/>
                <a:cs typeface="Calibri" panose="020F0502020204030204"/>
              </a:rPr>
              <a:t>rite</a:t>
            </a:r>
            <a:r>
              <a:rPr sz="2400" b="1" spc="-10" dirty="0">
                <a:solidFill>
                  <a:srgbClr val="00AF5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400" b="1" dirty="0">
                <a:solidFill>
                  <a:srgbClr val="00AF50"/>
                </a:solidFill>
                <a:latin typeface="Calibri" panose="020F0502020204030204"/>
                <a:cs typeface="Calibri" panose="020F0502020204030204"/>
              </a:rPr>
              <a:t>a</a:t>
            </a:r>
            <a:r>
              <a:rPr sz="2400" b="1" spc="-10" dirty="0">
                <a:solidFill>
                  <a:srgbClr val="00AF5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400" b="1" dirty="0">
                <a:solidFill>
                  <a:srgbClr val="00AF50"/>
                </a:solidFill>
                <a:latin typeface="Calibri" panose="020F0502020204030204"/>
                <a:cs typeface="Calibri" panose="020F0502020204030204"/>
              </a:rPr>
              <a:t>spam </a:t>
            </a:r>
            <a:r>
              <a:rPr sz="2400" b="1" spc="-10" dirty="0">
                <a:solidFill>
                  <a:srgbClr val="00AF50"/>
                </a:solidFill>
                <a:latin typeface="Calibri" panose="020F0502020204030204"/>
                <a:cs typeface="Calibri" panose="020F0502020204030204"/>
              </a:rPr>
              <a:t>filter</a:t>
            </a:r>
            <a:r>
              <a:rPr sz="2400" b="1" dirty="0">
                <a:solidFill>
                  <a:srgbClr val="00AF5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400" b="1" spc="-5" dirty="0">
                <a:solidFill>
                  <a:srgbClr val="00AF50"/>
                </a:solidFill>
                <a:latin typeface="Calibri" panose="020F0502020204030204"/>
                <a:cs typeface="Calibri" panose="020F0502020204030204"/>
              </a:rPr>
              <a:t>using Machine</a:t>
            </a:r>
            <a:r>
              <a:rPr sz="2400" b="1" dirty="0">
                <a:solidFill>
                  <a:srgbClr val="00AF5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400" b="1" spc="-5" dirty="0">
                <a:solidFill>
                  <a:srgbClr val="00AF50"/>
                </a:solidFill>
                <a:latin typeface="Calibri" panose="020F0502020204030204"/>
                <a:cs typeface="Calibri" panose="020F0502020204030204"/>
              </a:rPr>
              <a:t>Learning</a:t>
            </a:r>
            <a:r>
              <a:rPr sz="2400" b="1" spc="-15" dirty="0">
                <a:solidFill>
                  <a:srgbClr val="00AF5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400" b="1" spc="-5" dirty="0">
                <a:solidFill>
                  <a:srgbClr val="00AF50"/>
                </a:solidFill>
                <a:latin typeface="Calibri" panose="020F0502020204030204"/>
                <a:cs typeface="Calibri" panose="020F0502020204030204"/>
              </a:rPr>
              <a:t>techniques</a:t>
            </a:r>
            <a:endParaRPr sz="2400">
              <a:latin typeface="Calibri" panose="020F0502020204030204"/>
              <a:cs typeface="Calibri" panose="020F0502020204030204"/>
            </a:endParaRPr>
          </a:p>
          <a:p>
            <a:pPr marL="184785" marR="5080" indent="-172720" algn="just">
              <a:lnSpc>
                <a:spcPct val="90000"/>
              </a:lnSpc>
              <a:spcBef>
                <a:spcPts val="805"/>
              </a:spcBef>
              <a:buFont typeface="Arial MT"/>
              <a:buChar char="•"/>
              <a:tabLst>
                <a:tab pos="185420" algn="l"/>
              </a:tabLst>
            </a:pPr>
            <a:r>
              <a:rPr sz="2400" dirty="0">
                <a:latin typeface="Calibri" panose="020F0502020204030204"/>
                <a:cs typeface="Calibri" panose="020F0502020204030204"/>
              </a:rPr>
              <a:t>A </a:t>
            </a:r>
            <a:r>
              <a:rPr sz="2400" spc="-5" dirty="0">
                <a:latin typeface="Calibri" panose="020F0502020204030204"/>
                <a:cs typeface="Calibri" panose="020F0502020204030204"/>
              </a:rPr>
              <a:t>spam </a:t>
            </a:r>
            <a:r>
              <a:rPr sz="2400" spc="-10" dirty="0">
                <a:latin typeface="Calibri" panose="020F0502020204030204"/>
                <a:cs typeface="Calibri" panose="020F0502020204030204"/>
              </a:rPr>
              <a:t>filter </a:t>
            </a:r>
            <a:r>
              <a:rPr sz="2400" spc="-5" dirty="0">
                <a:latin typeface="Calibri" panose="020F0502020204030204"/>
                <a:cs typeface="Calibri" panose="020F0502020204030204"/>
              </a:rPr>
              <a:t>based </a:t>
            </a:r>
            <a:r>
              <a:rPr sz="2400" spc="-10" dirty="0">
                <a:latin typeface="Calibri" panose="020F0502020204030204"/>
                <a:cs typeface="Calibri" panose="020F0502020204030204"/>
              </a:rPr>
              <a:t>on </a:t>
            </a:r>
            <a:r>
              <a:rPr sz="2400" dirty="0">
                <a:latin typeface="Calibri" panose="020F0502020204030204"/>
                <a:cs typeface="Calibri" panose="020F0502020204030204"/>
              </a:rPr>
              <a:t>Machine </a:t>
            </a:r>
            <a:r>
              <a:rPr sz="2400" spc="-5" dirty="0">
                <a:latin typeface="Calibri" panose="020F0502020204030204"/>
                <a:cs typeface="Calibri" panose="020F0502020204030204"/>
              </a:rPr>
              <a:t>Learning techniques </a:t>
            </a:r>
            <a:r>
              <a:rPr sz="2400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spc="-10" dirty="0">
                <a:latin typeface="Calibri" panose="020F0502020204030204"/>
                <a:cs typeface="Calibri" panose="020F0502020204030204"/>
              </a:rPr>
              <a:t>automatically </a:t>
            </a:r>
            <a:r>
              <a:rPr sz="2400" dirty="0">
                <a:latin typeface="Calibri" panose="020F0502020204030204"/>
                <a:cs typeface="Calibri" panose="020F0502020204030204"/>
              </a:rPr>
              <a:t>learns which </a:t>
            </a:r>
            <a:r>
              <a:rPr sz="2400" spc="-15" dirty="0">
                <a:latin typeface="Calibri" panose="020F0502020204030204"/>
                <a:cs typeface="Calibri" panose="020F0502020204030204"/>
              </a:rPr>
              <a:t>words </a:t>
            </a:r>
            <a:r>
              <a:rPr sz="2400" dirty="0">
                <a:latin typeface="Calibri" panose="020F0502020204030204"/>
                <a:cs typeface="Calibri" panose="020F0502020204030204"/>
              </a:rPr>
              <a:t>and </a:t>
            </a:r>
            <a:r>
              <a:rPr sz="2400" spc="-10" dirty="0">
                <a:latin typeface="Calibri" panose="020F0502020204030204"/>
                <a:cs typeface="Calibri" panose="020F0502020204030204"/>
              </a:rPr>
              <a:t>phrases </a:t>
            </a:r>
            <a:r>
              <a:rPr sz="2400" spc="-15" dirty="0">
                <a:latin typeface="Calibri" panose="020F0502020204030204"/>
                <a:cs typeface="Calibri" panose="020F0502020204030204"/>
              </a:rPr>
              <a:t>are </a:t>
            </a:r>
            <a:r>
              <a:rPr sz="2400" spc="-10" dirty="0">
                <a:latin typeface="Calibri" panose="020F0502020204030204"/>
                <a:cs typeface="Calibri" panose="020F0502020204030204"/>
              </a:rPr>
              <a:t>good </a:t>
            </a:r>
            <a:r>
              <a:rPr sz="2400" spc="-5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spc="-15" dirty="0">
                <a:latin typeface="Calibri" panose="020F0502020204030204"/>
                <a:cs typeface="Calibri" panose="020F0502020204030204"/>
              </a:rPr>
              <a:t>predictors </a:t>
            </a:r>
            <a:r>
              <a:rPr sz="2400" spc="-5" dirty="0">
                <a:latin typeface="Calibri" panose="020F0502020204030204"/>
                <a:cs typeface="Calibri" panose="020F0502020204030204"/>
              </a:rPr>
              <a:t>of spam </a:t>
            </a:r>
            <a:r>
              <a:rPr sz="2400" spc="-10" dirty="0">
                <a:latin typeface="Calibri" panose="020F0502020204030204"/>
                <a:cs typeface="Calibri" panose="020F0502020204030204"/>
              </a:rPr>
              <a:t>by </a:t>
            </a:r>
            <a:r>
              <a:rPr sz="2400" spc="-5" dirty="0">
                <a:latin typeface="Calibri" panose="020F0502020204030204"/>
                <a:cs typeface="Calibri" panose="020F0502020204030204"/>
              </a:rPr>
              <a:t>detecting unusually </a:t>
            </a:r>
            <a:r>
              <a:rPr sz="2400" spc="-10" dirty="0">
                <a:latin typeface="Calibri" panose="020F0502020204030204"/>
                <a:cs typeface="Calibri" panose="020F0502020204030204"/>
              </a:rPr>
              <a:t>frequent </a:t>
            </a:r>
            <a:r>
              <a:rPr sz="2400" spc="-15" dirty="0">
                <a:latin typeface="Calibri" panose="020F0502020204030204"/>
                <a:cs typeface="Calibri" panose="020F0502020204030204"/>
              </a:rPr>
              <a:t>patterns </a:t>
            </a:r>
            <a:r>
              <a:rPr sz="2400" spc="-530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spc="-5" dirty="0">
                <a:latin typeface="Calibri" panose="020F0502020204030204"/>
                <a:cs typeface="Calibri" panose="020F0502020204030204"/>
              </a:rPr>
              <a:t>of </a:t>
            </a:r>
            <a:r>
              <a:rPr sz="2400" spc="-15" dirty="0">
                <a:latin typeface="Calibri" panose="020F0502020204030204"/>
                <a:cs typeface="Calibri" panose="020F0502020204030204"/>
              </a:rPr>
              <a:t>words </a:t>
            </a:r>
            <a:r>
              <a:rPr sz="2400" dirty="0">
                <a:latin typeface="Calibri" panose="020F0502020204030204"/>
                <a:cs typeface="Calibri" panose="020F0502020204030204"/>
              </a:rPr>
              <a:t>in the </a:t>
            </a:r>
            <a:r>
              <a:rPr sz="2400" spc="-5" dirty="0">
                <a:latin typeface="Calibri" panose="020F0502020204030204"/>
                <a:cs typeface="Calibri" panose="020F0502020204030204"/>
              </a:rPr>
              <a:t>spam </a:t>
            </a:r>
            <a:r>
              <a:rPr sz="2400" spc="-10" dirty="0">
                <a:latin typeface="Calibri" panose="020F0502020204030204"/>
                <a:cs typeface="Calibri" panose="020F0502020204030204"/>
              </a:rPr>
              <a:t>examples compared </a:t>
            </a:r>
            <a:r>
              <a:rPr sz="2400" spc="-15" dirty="0">
                <a:latin typeface="Calibri" panose="020F0502020204030204"/>
                <a:cs typeface="Calibri" panose="020F0502020204030204"/>
              </a:rPr>
              <a:t>to </a:t>
            </a:r>
            <a:r>
              <a:rPr sz="2400" dirty="0">
                <a:latin typeface="Calibri" panose="020F0502020204030204"/>
                <a:cs typeface="Calibri" panose="020F0502020204030204"/>
              </a:rPr>
              <a:t>the </a:t>
            </a:r>
            <a:r>
              <a:rPr sz="2400" spc="-5" dirty="0">
                <a:latin typeface="Calibri" panose="020F0502020204030204"/>
                <a:cs typeface="Calibri" panose="020F0502020204030204"/>
              </a:rPr>
              <a:t>ham </a:t>
            </a:r>
            <a:r>
              <a:rPr sz="2400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spc="-10" dirty="0">
                <a:latin typeface="Calibri" panose="020F0502020204030204"/>
                <a:cs typeface="Calibri" panose="020F0502020204030204"/>
              </a:rPr>
              <a:t>examples.</a:t>
            </a:r>
            <a:endParaRPr sz="2400">
              <a:latin typeface="Calibri" panose="020F0502020204030204"/>
              <a:cs typeface="Calibri" panose="020F0502020204030204"/>
            </a:endParaRPr>
          </a:p>
          <a:p>
            <a:pPr marL="184785" marR="193675" indent="-172720" algn="just">
              <a:lnSpc>
                <a:spcPts val="2590"/>
              </a:lnSpc>
              <a:spcBef>
                <a:spcPts val="845"/>
              </a:spcBef>
              <a:buFont typeface="Arial MT"/>
              <a:buChar char="•"/>
              <a:tabLst>
                <a:tab pos="185420" algn="l"/>
              </a:tabLst>
            </a:pPr>
            <a:r>
              <a:rPr sz="2400" spc="-5" dirty="0">
                <a:latin typeface="Calibri" panose="020F0502020204030204"/>
                <a:cs typeface="Calibri" panose="020F0502020204030204"/>
              </a:rPr>
              <a:t>The </a:t>
            </a:r>
            <a:r>
              <a:rPr sz="2400" spc="-15" dirty="0">
                <a:latin typeface="Calibri" panose="020F0502020204030204"/>
                <a:cs typeface="Calibri" panose="020F0502020204030204"/>
              </a:rPr>
              <a:t>program </a:t>
            </a:r>
            <a:r>
              <a:rPr sz="2400" dirty="0">
                <a:latin typeface="Calibri" panose="020F0502020204030204"/>
                <a:cs typeface="Calibri" panose="020F0502020204030204"/>
              </a:rPr>
              <a:t>is much </a:t>
            </a:r>
            <a:r>
              <a:rPr sz="2400" spc="-35" dirty="0">
                <a:latin typeface="Calibri" panose="020F0502020204030204"/>
                <a:cs typeface="Calibri" panose="020F0502020204030204"/>
              </a:rPr>
              <a:t>shorter, </a:t>
            </a:r>
            <a:r>
              <a:rPr sz="2400" spc="-5" dirty="0">
                <a:latin typeface="Calibri" panose="020F0502020204030204"/>
                <a:cs typeface="Calibri" panose="020F0502020204030204"/>
              </a:rPr>
              <a:t>easier </a:t>
            </a:r>
            <a:r>
              <a:rPr sz="2400" spc="-15" dirty="0">
                <a:latin typeface="Calibri" panose="020F0502020204030204"/>
                <a:cs typeface="Calibri" panose="020F0502020204030204"/>
              </a:rPr>
              <a:t>to </a:t>
            </a:r>
            <a:r>
              <a:rPr sz="2400" spc="-5" dirty="0">
                <a:latin typeface="Calibri" panose="020F0502020204030204"/>
                <a:cs typeface="Calibri" panose="020F0502020204030204"/>
              </a:rPr>
              <a:t>maintain, </a:t>
            </a:r>
            <a:r>
              <a:rPr sz="2400" dirty="0">
                <a:latin typeface="Calibri" panose="020F0502020204030204"/>
                <a:cs typeface="Calibri" panose="020F0502020204030204"/>
              </a:rPr>
              <a:t>and </a:t>
            </a:r>
            <a:r>
              <a:rPr sz="2400" spc="-10" dirty="0">
                <a:latin typeface="Calibri" panose="020F0502020204030204"/>
                <a:cs typeface="Calibri" panose="020F0502020204030204"/>
              </a:rPr>
              <a:t>most </a:t>
            </a:r>
            <a:r>
              <a:rPr sz="2400" spc="-530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spc="-15" dirty="0">
                <a:latin typeface="Calibri" panose="020F0502020204030204"/>
                <a:cs typeface="Calibri" panose="020F0502020204030204"/>
              </a:rPr>
              <a:t>likely</a:t>
            </a:r>
            <a:r>
              <a:rPr sz="2400" spc="-25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spc="-10" dirty="0">
                <a:latin typeface="Calibri" panose="020F0502020204030204"/>
                <a:cs typeface="Calibri" panose="020F0502020204030204"/>
              </a:rPr>
              <a:t>more</a:t>
            </a:r>
            <a:r>
              <a:rPr sz="2400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spc="-10" dirty="0">
                <a:latin typeface="Calibri" panose="020F0502020204030204"/>
                <a:cs typeface="Calibri" panose="020F0502020204030204"/>
              </a:rPr>
              <a:t>accurate.</a:t>
            </a:r>
            <a:endParaRPr sz="24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301241" y="609676"/>
            <a:ext cx="654367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b="1" spc="-30" dirty="0">
                <a:solidFill>
                  <a:srgbClr val="2E5496"/>
                </a:solidFill>
                <a:latin typeface="Calibri" panose="020F0502020204030204"/>
                <a:cs typeface="Calibri" panose="020F0502020204030204"/>
              </a:rPr>
              <a:t>Why</a:t>
            </a:r>
            <a:r>
              <a:rPr sz="4400" b="1" spc="-15" dirty="0">
                <a:solidFill>
                  <a:srgbClr val="2E5496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4400" b="1" dirty="0">
                <a:solidFill>
                  <a:srgbClr val="2E5496"/>
                </a:solidFill>
                <a:latin typeface="Calibri" panose="020F0502020204030204"/>
                <a:cs typeface="Calibri" panose="020F0502020204030204"/>
              </a:rPr>
              <a:t>use</a:t>
            </a:r>
            <a:r>
              <a:rPr sz="4400" b="1" spc="-30" dirty="0">
                <a:solidFill>
                  <a:srgbClr val="2E5496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4400" b="1" spc="-5" dirty="0">
                <a:solidFill>
                  <a:srgbClr val="2E5496"/>
                </a:solidFill>
                <a:latin typeface="Calibri" panose="020F0502020204030204"/>
                <a:cs typeface="Calibri" panose="020F0502020204030204"/>
              </a:rPr>
              <a:t>Machine</a:t>
            </a:r>
            <a:r>
              <a:rPr sz="4400" b="1" spc="-30" dirty="0">
                <a:solidFill>
                  <a:srgbClr val="2E5496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4400" b="1" dirty="0">
                <a:solidFill>
                  <a:srgbClr val="2E5496"/>
                </a:solidFill>
                <a:latin typeface="Calibri" panose="020F0502020204030204"/>
                <a:cs typeface="Calibri" panose="020F0502020204030204"/>
              </a:rPr>
              <a:t>Learning?</a:t>
            </a:r>
            <a:endParaRPr sz="4400">
              <a:latin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1600200" y="1712976"/>
            <a:ext cx="5562600" cy="4840224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813308" y="609676"/>
            <a:ext cx="751649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b="1" spc="-5" dirty="0">
                <a:solidFill>
                  <a:srgbClr val="2E5496"/>
                </a:solidFill>
                <a:latin typeface="Calibri" panose="020F0502020204030204"/>
                <a:cs typeface="Calibri" panose="020F0502020204030204"/>
              </a:rPr>
              <a:t>The</a:t>
            </a:r>
            <a:r>
              <a:rPr sz="4400" b="1" spc="-10" dirty="0">
                <a:solidFill>
                  <a:srgbClr val="2E5496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4400" b="1" spc="-5" dirty="0">
                <a:solidFill>
                  <a:srgbClr val="2E5496"/>
                </a:solidFill>
                <a:latin typeface="Calibri" panose="020F0502020204030204"/>
                <a:cs typeface="Calibri" panose="020F0502020204030204"/>
              </a:rPr>
              <a:t>Machine</a:t>
            </a:r>
            <a:r>
              <a:rPr sz="4400" b="1" spc="-35" dirty="0">
                <a:solidFill>
                  <a:srgbClr val="2E5496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4400" b="1" dirty="0">
                <a:solidFill>
                  <a:srgbClr val="2E5496"/>
                </a:solidFill>
                <a:latin typeface="Calibri" panose="020F0502020204030204"/>
                <a:cs typeface="Calibri" panose="020F0502020204030204"/>
              </a:rPr>
              <a:t>Learning</a:t>
            </a:r>
            <a:r>
              <a:rPr sz="4400" b="1" spc="-10" dirty="0">
                <a:solidFill>
                  <a:srgbClr val="2E5496"/>
                </a:solidFill>
                <a:latin typeface="Calibri" panose="020F0502020204030204"/>
                <a:cs typeface="Calibri" panose="020F0502020204030204"/>
              </a:rPr>
              <a:t> Approach</a:t>
            </a:r>
            <a:endParaRPr sz="4400">
              <a:latin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9525" algn="ctr">
              <a:lnSpc>
                <a:spcPts val="5015"/>
              </a:lnSpc>
              <a:spcBef>
                <a:spcPts val="100"/>
              </a:spcBef>
            </a:pPr>
            <a:r>
              <a:rPr sz="4400" b="1" spc="-30" dirty="0">
                <a:solidFill>
                  <a:srgbClr val="2E5496"/>
                </a:solidFill>
                <a:latin typeface="Calibri" panose="020F0502020204030204"/>
                <a:cs typeface="Calibri" panose="020F0502020204030204"/>
              </a:rPr>
              <a:t>Traditional</a:t>
            </a:r>
            <a:r>
              <a:rPr sz="4400" b="1" spc="-35" dirty="0">
                <a:solidFill>
                  <a:srgbClr val="2E5496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4400" b="1" spc="-15" dirty="0">
                <a:solidFill>
                  <a:srgbClr val="2E5496"/>
                </a:solidFill>
                <a:latin typeface="Calibri" panose="020F0502020204030204"/>
                <a:cs typeface="Calibri" panose="020F0502020204030204"/>
              </a:rPr>
              <a:t>programming</a:t>
            </a:r>
            <a:r>
              <a:rPr sz="4400" b="1" spc="-50" dirty="0">
                <a:solidFill>
                  <a:srgbClr val="2E5496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4400" b="1" spc="-5" dirty="0">
                <a:solidFill>
                  <a:srgbClr val="2E5496"/>
                </a:solidFill>
                <a:latin typeface="Calibri" panose="020F0502020204030204"/>
                <a:cs typeface="Calibri" panose="020F0502020204030204"/>
              </a:rPr>
              <a:t>vs.</a:t>
            </a:r>
            <a:endParaRPr sz="4400">
              <a:latin typeface="Calibri" panose="020F0502020204030204"/>
              <a:cs typeface="Calibri" panose="020F0502020204030204"/>
            </a:endParaRPr>
          </a:p>
          <a:p>
            <a:pPr marL="9525" marR="2540" algn="ctr">
              <a:lnSpc>
                <a:spcPts val="5015"/>
              </a:lnSpc>
            </a:pPr>
            <a:r>
              <a:rPr sz="4400" b="1" spc="-5" dirty="0">
                <a:solidFill>
                  <a:srgbClr val="2E5496"/>
                </a:solidFill>
                <a:latin typeface="Calibri" panose="020F0502020204030204"/>
                <a:cs typeface="Calibri" panose="020F0502020204030204"/>
              </a:rPr>
              <a:t>Machine</a:t>
            </a:r>
            <a:r>
              <a:rPr sz="4400" b="1" spc="-60" dirty="0">
                <a:solidFill>
                  <a:srgbClr val="2E5496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4400" b="1" dirty="0">
                <a:solidFill>
                  <a:srgbClr val="2E5496"/>
                </a:solidFill>
                <a:latin typeface="Calibri" panose="020F0502020204030204"/>
                <a:cs typeface="Calibri" panose="020F0502020204030204"/>
              </a:rPr>
              <a:t>Learning</a:t>
            </a:r>
            <a:endParaRPr sz="44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629412" y="1905000"/>
            <a:ext cx="7886700" cy="4351020"/>
          </a:xfrm>
          <a:custGeom>
            <a:avLst/>
            <a:gdLst/>
            <a:ahLst/>
            <a:cxnLst/>
            <a:rect l="l" t="t" r="r" b="b"/>
            <a:pathLst>
              <a:path w="7886700" h="4351020">
                <a:moveTo>
                  <a:pt x="7886700" y="0"/>
                </a:moveTo>
                <a:lnTo>
                  <a:pt x="0" y="0"/>
                </a:lnTo>
                <a:lnTo>
                  <a:pt x="0" y="4351020"/>
                </a:lnTo>
                <a:lnTo>
                  <a:pt x="7886700" y="4351020"/>
                </a:lnTo>
                <a:lnTo>
                  <a:pt x="788670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707542" y="1882266"/>
            <a:ext cx="7513320" cy="3659504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184785" marR="5080" indent="-172720" algn="just">
              <a:lnSpc>
                <a:spcPts val="2590"/>
              </a:lnSpc>
              <a:spcBef>
                <a:spcPts val="425"/>
              </a:spcBef>
              <a:buFont typeface="Arial MT"/>
              <a:buChar char="•"/>
              <a:tabLst>
                <a:tab pos="185420" algn="l"/>
              </a:tabLst>
            </a:pPr>
            <a:r>
              <a:rPr sz="2400" u="heavy" dirty="0">
                <a:uFill>
                  <a:solidFill>
                    <a:srgbClr val="000000"/>
                  </a:solidFill>
                </a:uFill>
                <a:latin typeface="Calibri" panose="020F0502020204030204"/>
                <a:cs typeface="Calibri" panose="020F0502020204030204"/>
              </a:rPr>
              <a:t>If</a:t>
            </a:r>
            <a:r>
              <a:rPr sz="2400" u="heavy" spc="-15" dirty="0">
                <a:uFill>
                  <a:solidFill>
                    <a:srgbClr val="000000"/>
                  </a:solidFill>
                </a:uFill>
                <a:latin typeface="Calibri" panose="020F0502020204030204"/>
                <a:cs typeface="Calibri" panose="020F0502020204030204"/>
              </a:rPr>
              <a:t> </a:t>
            </a:r>
            <a:r>
              <a:rPr sz="2400" u="heavy" spc="-10" dirty="0">
                <a:uFill>
                  <a:solidFill>
                    <a:srgbClr val="000000"/>
                  </a:solidFill>
                </a:uFill>
                <a:latin typeface="Calibri" panose="020F0502020204030204"/>
                <a:cs typeface="Calibri" panose="020F0502020204030204"/>
              </a:rPr>
              <a:t>spammers</a:t>
            </a:r>
            <a:r>
              <a:rPr sz="2400" u="heavy" spc="-35" dirty="0">
                <a:uFill>
                  <a:solidFill>
                    <a:srgbClr val="000000"/>
                  </a:solidFill>
                </a:uFill>
                <a:latin typeface="Calibri" panose="020F0502020204030204"/>
                <a:cs typeface="Calibri" panose="020F0502020204030204"/>
              </a:rPr>
              <a:t> </a:t>
            </a:r>
            <a:r>
              <a:rPr sz="2400" u="heavy" spc="-5" dirty="0">
                <a:uFill>
                  <a:solidFill>
                    <a:srgbClr val="000000"/>
                  </a:solidFill>
                </a:uFill>
                <a:latin typeface="Calibri" panose="020F0502020204030204"/>
                <a:cs typeface="Calibri" panose="020F0502020204030204"/>
              </a:rPr>
              <a:t>notice that</a:t>
            </a:r>
            <a:r>
              <a:rPr sz="2400" u="heavy" spc="-20" dirty="0">
                <a:uFill>
                  <a:solidFill>
                    <a:srgbClr val="000000"/>
                  </a:solidFill>
                </a:uFill>
                <a:latin typeface="Calibri" panose="020F0502020204030204"/>
                <a:cs typeface="Calibri" panose="020F0502020204030204"/>
              </a:rPr>
              <a:t> </a:t>
            </a:r>
            <a:r>
              <a:rPr sz="2400" u="heavy" dirty="0">
                <a:uFill>
                  <a:solidFill>
                    <a:srgbClr val="000000"/>
                  </a:solidFill>
                </a:uFill>
                <a:latin typeface="Calibri" panose="020F0502020204030204"/>
                <a:cs typeface="Calibri" panose="020F0502020204030204"/>
              </a:rPr>
              <a:t>all</a:t>
            </a:r>
            <a:r>
              <a:rPr sz="2400" u="heavy" spc="-20" dirty="0">
                <a:uFill>
                  <a:solidFill>
                    <a:srgbClr val="000000"/>
                  </a:solidFill>
                </a:uFill>
                <a:latin typeface="Calibri" panose="020F0502020204030204"/>
                <a:cs typeface="Calibri" panose="020F0502020204030204"/>
              </a:rPr>
              <a:t> </a:t>
            </a:r>
            <a:r>
              <a:rPr sz="2400" u="heavy" dirty="0">
                <a:uFill>
                  <a:solidFill>
                    <a:srgbClr val="000000"/>
                  </a:solidFill>
                </a:uFill>
                <a:latin typeface="Calibri" panose="020F0502020204030204"/>
                <a:cs typeface="Calibri" panose="020F0502020204030204"/>
              </a:rPr>
              <a:t>their</a:t>
            </a:r>
            <a:r>
              <a:rPr sz="2400" u="heavy" spc="-10" dirty="0">
                <a:uFill>
                  <a:solidFill>
                    <a:srgbClr val="000000"/>
                  </a:solidFill>
                </a:uFill>
                <a:latin typeface="Calibri" panose="020F0502020204030204"/>
                <a:cs typeface="Calibri" panose="020F0502020204030204"/>
              </a:rPr>
              <a:t> </a:t>
            </a:r>
            <a:r>
              <a:rPr sz="2400" u="heavy" dirty="0">
                <a:uFill>
                  <a:solidFill>
                    <a:srgbClr val="000000"/>
                  </a:solidFill>
                </a:uFill>
                <a:latin typeface="Calibri" panose="020F0502020204030204"/>
                <a:cs typeface="Calibri" panose="020F0502020204030204"/>
              </a:rPr>
              <a:t>emails</a:t>
            </a:r>
            <a:r>
              <a:rPr sz="2400" u="heavy" spc="-20" dirty="0">
                <a:uFill>
                  <a:solidFill>
                    <a:srgbClr val="000000"/>
                  </a:solidFill>
                </a:uFill>
                <a:latin typeface="Calibri" panose="020F0502020204030204"/>
                <a:cs typeface="Calibri" panose="020F0502020204030204"/>
              </a:rPr>
              <a:t> </a:t>
            </a:r>
            <a:r>
              <a:rPr sz="2400" u="heavy" spc="-10" dirty="0">
                <a:uFill>
                  <a:solidFill>
                    <a:srgbClr val="000000"/>
                  </a:solidFill>
                </a:uFill>
                <a:latin typeface="Calibri" panose="020F0502020204030204"/>
                <a:cs typeface="Calibri" panose="020F0502020204030204"/>
              </a:rPr>
              <a:t>containing</a:t>
            </a:r>
            <a:r>
              <a:rPr sz="2400" u="heavy" spc="-20" dirty="0">
                <a:uFill>
                  <a:solidFill>
                    <a:srgbClr val="000000"/>
                  </a:solidFill>
                </a:uFill>
                <a:latin typeface="Calibri" panose="020F0502020204030204"/>
                <a:cs typeface="Calibri" panose="020F0502020204030204"/>
              </a:rPr>
              <a:t> </a:t>
            </a:r>
            <a:r>
              <a:rPr sz="2400" u="heavy" spc="-5" dirty="0">
                <a:uFill>
                  <a:solidFill>
                    <a:srgbClr val="000000"/>
                  </a:solidFill>
                </a:uFill>
                <a:latin typeface="Calibri" panose="020F0502020204030204"/>
                <a:cs typeface="Calibri" panose="020F0502020204030204"/>
              </a:rPr>
              <a:t>“4U”</a:t>
            </a:r>
            <a:r>
              <a:rPr sz="2400" u="heavy" spc="-20" dirty="0">
                <a:uFill>
                  <a:solidFill>
                    <a:srgbClr val="000000"/>
                  </a:solidFill>
                </a:uFill>
                <a:latin typeface="Calibri" panose="020F0502020204030204"/>
                <a:cs typeface="Calibri" panose="020F0502020204030204"/>
              </a:rPr>
              <a:t> </a:t>
            </a:r>
            <a:r>
              <a:rPr sz="2400" u="heavy" spc="-15" dirty="0">
                <a:uFill>
                  <a:solidFill>
                    <a:srgbClr val="000000"/>
                  </a:solidFill>
                </a:uFill>
                <a:latin typeface="Calibri" panose="020F0502020204030204"/>
                <a:cs typeface="Calibri" panose="020F0502020204030204"/>
              </a:rPr>
              <a:t>are </a:t>
            </a:r>
            <a:r>
              <a:rPr sz="2400" spc="-530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u="heavy" spc="-15" dirty="0">
                <a:uFill>
                  <a:solidFill>
                    <a:srgbClr val="000000"/>
                  </a:solidFill>
                </a:uFill>
                <a:latin typeface="Calibri" panose="020F0502020204030204"/>
                <a:cs typeface="Calibri" panose="020F0502020204030204"/>
              </a:rPr>
              <a:t>blocked, </a:t>
            </a:r>
            <a:r>
              <a:rPr sz="2400" u="heavy" spc="-5" dirty="0">
                <a:uFill>
                  <a:solidFill>
                    <a:srgbClr val="000000"/>
                  </a:solidFill>
                </a:uFill>
                <a:latin typeface="Calibri" panose="020F0502020204030204"/>
                <a:cs typeface="Calibri" panose="020F0502020204030204"/>
              </a:rPr>
              <a:t>they</a:t>
            </a:r>
            <a:r>
              <a:rPr sz="2400" u="heavy" spc="-10" dirty="0">
                <a:uFill>
                  <a:solidFill>
                    <a:srgbClr val="000000"/>
                  </a:solidFill>
                </a:uFill>
                <a:latin typeface="Calibri" panose="020F0502020204030204"/>
                <a:cs typeface="Calibri" panose="020F0502020204030204"/>
              </a:rPr>
              <a:t> </a:t>
            </a:r>
            <a:r>
              <a:rPr sz="2400" u="heavy" spc="-5" dirty="0">
                <a:uFill>
                  <a:solidFill>
                    <a:srgbClr val="000000"/>
                  </a:solidFill>
                </a:uFill>
                <a:latin typeface="Calibri" panose="020F0502020204030204"/>
                <a:cs typeface="Calibri" panose="020F0502020204030204"/>
              </a:rPr>
              <a:t>might</a:t>
            </a:r>
            <a:r>
              <a:rPr sz="2400" u="heavy" spc="-15" dirty="0">
                <a:uFill>
                  <a:solidFill>
                    <a:srgbClr val="000000"/>
                  </a:solidFill>
                </a:uFill>
                <a:latin typeface="Calibri" panose="020F0502020204030204"/>
                <a:cs typeface="Calibri" panose="020F0502020204030204"/>
              </a:rPr>
              <a:t> start</a:t>
            </a:r>
            <a:r>
              <a:rPr sz="2400" u="heavy" spc="-25" dirty="0">
                <a:uFill>
                  <a:solidFill>
                    <a:srgbClr val="000000"/>
                  </a:solidFill>
                </a:uFill>
                <a:latin typeface="Calibri" panose="020F0502020204030204"/>
                <a:cs typeface="Calibri" panose="020F0502020204030204"/>
              </a:rPr>
              <a:t> </a:t>
            </a:r>
            <a:r>
              <a:rPr sz="2400" u="heavy" dirty="0">
                <a:uFill>
                  <a:solidFill>
                    <a:srgbClr val="000000"/>
                  </a:solidFill>
                </a:uFill>
                <a:latin typeface="Calibri" panose="020F0502020204030204"/>
                <a:cs typeface="Calibri" panose="020F0502020204030204"/>
              </a:rPr>
              <a:t>writing</a:t>
            </a:r>
            <a:r>
              <a:rPr sz="2400" u="heavy" spc="-30" dirty="0">
                <a:uFill>
                  <a:solidFill>
                    <a:srgbClr val="000000"/>
                  </a:solidFill>
                </a:uFill>
                <a:latin typeface="Calibri" panose="020F0502020204030204"/>
                <a:cs typeface="Calibri" panose="020F0502020204030204"/>
              </a:rPr>
              <a:t> </a:t>
            </a:r>
            <a:r>
              <a:rPr sz="2400" u="heavy" spc="-10" dirty="0">
                <a:uFill>
                  <a:solidFill>
                    <a:srgbClr val="000000"/>
                  </a:solidFill>
                </a:uFill>
                <a:latin typeface="Calibri" panose="020F0502020204030204"/>
                <a:cs typeface="Calibri" panose="020F0502020204030204"/>
              </a:rPr>
              <a:t>“For</a:t>
            </a:r>
            <a:r>
              <a:rPr sz="2400" u="heavy" spc="-25" dirty="0">
                <a:uFill>
                  <a:solidFill>
                    <a:srgbClr val="000000"/>
                  </a:solidFill>
                </a:uFill>
                <a:latin typeface="Calibri" panose="020F0502020204030204"/>
                <a:cs typeface="Calibri" panose="020F0502020204030204"/>
              </a:rPr>
              <a:t> </a:t>
            </a:r>
            <a:r>
              <a:rPr sz="2400" u="heavy" dirty="0">
                <a:uFill>
                  <a:solidFill>
                    <a:srgbClr val="000000"/>
                  </a:solidFill>
                </a:uFill>
                <a:latin typeface="Calibri" panose="020F0502020204030204"/>
                <a:cs typeface="Calibri" panose="020F0502020204030204"/>
              </a:rPr>
              <a:t>U” </a:t>
            </a:r>
            <a:r>
              <a:rPr sz="2400" u="heavy" spc="-10" dirty="0">
                <a:uFill>
                  <a:solidFill>
                    <a:srgbClr val="000000"/>
                  </a:solidFill>
                </a:uFill>
                <a:latin typeface="Calibri" panose="020F0502020204030204"/>
                <a:cs typeface="Calibri" panose="020F0502020204030204"/>
              </a:rPr>
              <a:t>instead.</a:t>
            </a:r>
            <a:endParaRPr sz="2400">
              <a:latin typeface="Calibri" panose="020F0502020204030204"/>
              <a:cs typeface="Calibri" panose="020F0502020204030204"/>
            </a:endParaRPr>
          </a:p>
          <a:p>
            <a:pPr marL="184785" indent="-172720" algn="just">
              <a:lnSpc>
                <a:spcPts val="2735"/>
              </a:lnSpc>
              <a:spcBef>
                <a:spcPts val="480"/>
              </a:spcBef>
              <a:buFont typeface="Arial MT"/>
              <a:buChar char="•"/>
              <a:tabLst>
                <a:tab pos="185420" algn="l"/>
              </a:tabLst>
            </a:pPr>
            <a:r>
              <a:rPr sz="2400" dirty="0">
                <a:latin typeface="Calibri" panose="020F0502020204030204"/>
                <a:cs typeface="Calibri" panose="020F0502020204030204"/>
              </a:rPr>
              <a:t>A</a:t>
            </a:r>
            <a:r>
              <a:rPr sz="2400" spc="-20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spc="-5" dirty="0">
                <a:latin typeface="Calibri" panose="020F0502020204030204"/>
                <a:cs typeface="Calibri" panose="020F0502020204030204"/>
              </a:rPr>
              <a:t>spam </a:t>
            </a:r>
            <a:r>
              <a:rPr sz="2400" spc="-10" dirty="0">
                <a:latin typeface="Calibri" panose="020F0502020204030204"/>
                <a:cs typeface="Calibri" panose="020F0502020204030204"/>
              </a:rPr>
              <a:t>filter </a:t>
            </a:r>
            <a:r>
              <a:rPr sz="2400" spc="-5" dirty="0">
                <a:latin typeface="Calibri" panose="020F0502020204030204"/>
                <a:cs typeface="Calibri" panose="020F0502020204030204"/>
              </a:rPr>
              <a:t>using</a:t>
            </a:r>
            <a:r>
              <a:rPr sz="2400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spc="-5" dirty="0">
                <a:latin typeface="Calibri" panose="020F0502020204030204"/>
                <a:cs typeface="Calibri" panose="020F0502020204030204"/>
              </a:rPr>
              <a:t>traditional</a:t>
            </a:r>
            <a:r>
              <a:rPr sz="2400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spc="-10" dirty="0">
                <a:latin typeface="Calibri" panose="020F0502020204030204"/>
                <a:cs typeface="Calibri" panose="020F0502020204030204"/>
              </a:rPr>
              <a:t>programming</a:t>
            </a:r>
            <a:r>
              <a:rPr sz="2400" spc="-35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spc="-10" dirty="0">
                <a:latin typeface="Calibri" panose="020F0502020204030204"/>
                <a:cs typeface="Calibri" panose="020F0502020204030204"/>
              </a:rPr>
              <a:t>techniques</a:t>
            </a:r>
            <a:endParaRPr sz="2400">
              <a:latin typeface="Calibri" panose="020F0502020204030204"/>
              <a:cs typeface="Calibri" panose="020F0502020204030204"/>
            </a:endParaRPr>
          </a:p>
          <a:p>
            <a:pPr marL="184785" algn="just">
              <a:lnSpc>
                <a:spcPts val="2735"/>
              </a:lnSpc>
            </a:pPr>
            <a:r>
              <a:rPr sz="2400" spc="-10" dirty="0">
                <a:latin typeface="Calibri" panose="020F0502020204030204"/>
                <a:cs typeface="Calibri" panose="020F0502020204030204"/>
              </a:rPr>
              <a:t>would</a:t>
            </a:r>
            <a:r>
              <a:rPr sz="2400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spc="-5" dirty="0">
                <a:latin typeface="Calibri" panose="020F0502020204030204"/>
                <a:cs typeface="Calibri" panose="020F0502020204030204"/>
              </a:rPr>
              <a:t>need</a:t>
            </a:r>
            <a:r>
              <a:rPr sz="2400" spc="-10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spc="-15" dirty="0">
                <a:latin typeface="Calibri" panose="020F0502020204030204"/>
                <a:cs typeface="Calibri" panose="020F0502020204030204"/>
              </a:rPr>
              <a:t>to </a:t>
            </a:r>
            <a:r>
              <a:rPr sz="2400" spc="-5" dirty="0">
                <a:latin typeface="Calibri" panose="020F0502020204030204"/>
                <a:cs typeface="Calibri" panose="020F0502020204030204"/>
              </a:rPr>
              <a:t>be</a:t>
            </a:r>
            <a:r>
              <a:rPr sz="2400" spc="-10" dirty="0">
                <a:latin typeface="Calibri" panose="020F0502020204030204"/>
                <a:cs typeface="Calibri" panose="020F0502020204030204"/>
              </a:rPr>
              <a:t> updated</a:t>
            </a:r>
            <a:r>
              <a:rPr sz="2400" spc="-5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spc="-15" dirty="0">
                <a:latin typeface="Calibri" panose="020F0502020204030204"/>
                <a:cs typeface="Calibri" panose="020F0502020204030204"/>
              </a:rPr>
              <a:t>to </a:t>
            </a:r>
            <a:r>
              <a:rPr sz="2400" spc="-5" dirty="0">
                <a:latin typeface="Calibri" panose="020F0502020204030204"/>
                <a:cs typeface="Calibri" panose="020F0502020204030204"/>
              </a:rPr>
              <a:t>flag</a:t>
            </a:r>
            <a:r>
              <a:rPr sz="2400" spc="-25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spc="-10" dirty="0">
                <a:latin typeface="Calibri" panose="020F0502020204030204"/>
                <a:cs typeface="Calibri" panose="020F0502020204030204"/>
              </a:rPr>
              <a:t>“For </a:t>
            </a:r>
            <a:r>
              <a:rPr sz="2400" spc="-5" dirty="0">
                <a:latin typeface="Calibri" panose="020F0502020204030204"/>
                <a:cs typeface="Calibri" panose="020F0502020204030204"/>
              </a:rPr>
              <a:t>U”</a:t>
            </a:r>
            <a:r>
              <a:rPr sz="2400" spc="-20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dirty="0">
                <a:latin typeface="Calibri" panose="020F0502020204030204"/>
                <a:cs typeface="Calibri" panose="020F0502020204030204"/>
              </a:rPr>
              <a:t>emails.</a:t>
            </a:r>
            <a:endParaRPr sz="2400">
              <a:latin typeface="Calibri" panose="020F0502020204030204"/>
              <a:cs typeface="Calibri" panose="020F0502020204030204"/>
            </a:endParaRPr>
          </a:p>
          <a:p>
            <a:pPr marL="184785" marR="27940" indent="-172720" algn="just">
              <a:lnSpc>
                <a:spcPts val="2590"/>
              </a:lnSpc>
              <a:spcBef>
                <a:spcPts val="850"/>
              </a:spcBef>
              <a:buFont typeface="Arial MT"/>
              <a:buChar char="•"/>
              <a:tabLst>
                <a:tab pos="185420" algn="l"/>
              </a:tabLst>
            </a:pPr>
            <a:r>
              <a:rPr sz="2400" dirty="0">
                <a:latin typeface="Calibri" panose="020F0502020204030204"/>
                <a:cs typeface="Calibri" panose="020F0502020204030204"/>
              </a:rPr>
              <a:t>If </a:t>
            </a:r>
            <a:r>
              <a:rPr sz="2400" spc="-10" dirty="0">
                <a:latin typeface="Calibri" panose="020F0502020204030204"/>
                <a:cs typeface="Calibri" panose="020F0502020204030204"/>
              </a:rPr>
              <a:t>spammers </a:t>
            </a:r>
            <a:r>
              <a:rPr sz="2400" spc="-20" dirty="0">
                <a:latin typeface="Calibri" panose="020F0502020204030204"/>
                <a:cs typeface="Calibri" panose="020F0502020204030204"/>
              </a:rPr>
              <a:t>keep </a:t>
            </a:r>
            <a:r>
              <a:rPr sz="2400" spc="-10" dirty="0">
                <a:latin typeface="Calibri" panose="020F0502020204030204"/>
                <a:cs typeface="Calibri" panose="020F0502020204030204"/>
              </a:rPr>
              <a:t>working around your </a:t>
            </a:r>
            <a:r>
              <a:rPr sz="2400" spc="-5" dirty="0">
                <a:latin typeface="Calibri" panose="020F0502020204030204"/>
                <a:cs typeface="Calibri" panose="020F0502020204030204"/>
              </a:rPr>
              <a:t>spam </a:t>
            </a:r>
            <a:r>
              <a:rPr sz="2400" spc="-35" dirty="0">
                <a:latin typeface="Calibri" panose="020F0502020204030204"/>
                <a:cs typeface="Calibri" panose="020F0502020204030204"/>
              </a:rPr>
              <a:t>filter, </a:t>
            </a:r>
            <a:r>
              <a:rPr sz="2400" spc="-10" dirty="0">
                <a:latin typeface="Calibri" panose="020F0502020204030204"/>
                <a:cs typeface="Calibri" panose="020F0502020204030204"/>
              </a:rPr>
              <a:t>you </a:t>
            </a:r>
            <a:r>
              <a:rPr sz="2400" dirty="0">
                <a:latin typeface="Calibri" panose="020F0502020204030204"/>
                <a:cs typeface="Calibri" panose="020F0502020204030204"/>
              </a:rPr>
              <a:t>will </a:t>
            </a:r>
            <a:r>
              <a:rPr sz="2400" spc="-530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spc="-5" dirty="0">
                <a:latin typeface="Calibri" panose="020F0502020204030204"/>
                <a:cs typeface="Calibri" panose="020F0502020204030204"/>
              </a:rPr>
              <a:t>need</a:t>
            </a:r>
            <a:r>
              <a:rPr sz="2400" spc="-10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spc="-15" dirty="0">
                <a:latin typeface="Calibri" panose="020F0502020204030204"/>
                <a:cs typeface="Calibri" panose="020F0502020204030204"/>
              </a:rPr>
              <a:t>to</a:t>
            </a:r>
            <a:r>
              <a:rPr sz="2400" spc="-10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spc="-20" dirty="0">
                <a:latin typeface="Calibri" panose="020F0502020204030204"/>
                <a:cs typeface="Calibri" panose="020F0502020204030204"/>
              </a:rPr>
              <a:t>keep </a:t>
            </a:r>
            <a:r>
              <a:rPr sz="2400" dirty="0">
                <a:latin typeface="Calibri" panose="020F0502020204030204"/>
                <a:cs typeface="Calibri" panose="020F0502020204030204"/>
              </a:rPr>
              <a:t>writing</a:t>
            </a:r>
            <a:r>
              <a:rPr sz="2400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spc="-5" dirty="0">
                <a:latin typeface="Calibri" panose="020F0502020204030204"/>
                <a:cs typeface="Calibri" panose="020F0502020204030204"/>
              </a:rPr>
              <a:t>new</a:t>
            </a:r>
            <a:r>
              <a:rPr sz="2400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dirty="0">
                <a:latin typeface="Calibri" panose="020F0502020204030204"/>
                <a:cs typeface="Calibri" panose="020F0502020204030204"/>
              </a:rPr>
              <a:t>rules</a:t>
            </a:r>
            <a:r>
              <a:rPr sz="2400" spc="-10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spc="-50" dirty="0">
                <a:latin typeface="Calibri" panose="020F0502020204030204"/>
                <a:cs typeface="Calibri" panose="020F0502020204030204"/>
              </a:rPr>
              <a:t>forever.</a:t>
            </a:r>
            <a:endParaRPr sz="2400">
              <a:latin typeface="Calibri" panose="020F0502020204030204"/>
              <a:cs typeface="Calibri" panose="020F0502020204030204"/>
            </a:endParaRPr>
          </a:p>
          <a:p>
            <a:pPr marL="184785" indent="-172720" algn="just">
              <a:lnSpc>
                <a:spcPts val="2735"/>
              </a:lnSpc>
              <a:spcBef>
                <a:spcPts val="465"/>
              </a:spcBef>
              <a:buFont typeface="Arial MT"/>
              <a:buChar char="•"/>
              <a:tabLst>
                <a:tab pos="185420" algn="l"/>
              </a:tabLst>
            </a:pPr>
            <a:r>
              <a:rPr sz="240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In </a:t>
            </a:r>
            <a:r>
              <a:rPr sz="2400" spc="-2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contrast,</a:t>
            </a:r>
            <a:r>
              <a:rPr sz="2400" spc="-1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40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a</a:t>
            </a:r>
            <a:r>
              <a:rPr sz="2400" spc="-1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400" spc="-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spam </a:t>
            </a:r>
            <a:r>
              <a:rPr sz="2400" spc="-1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filter </a:t>
            </a:r>
            <a:r>
              <a:rPr sz="2400" spc="-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based on </a:t>
            </a:r>
            <a:r>
              <a:rPr sz="240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Machine</a:t>
            </a:r>
            <a:r>
              <a:rPr sz="2400" spc="-1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400" spc="-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Learning</a:t>
            </a:r>
            <a:endParaRPr sz="2400">
              <a:latin typeface="Calibri" panose="020F0502020204030204"/>
              <a:cs typeface="Calibri" panose="020F0502020204030204"/>
            </a:endParaRPr>
          </a:p>
          <a:p>
            <a:pPr marL="184785" marR="142240" algn="just">
              <a:lnSpc>
                <a:spcPct val="90000"/>
              </a:lnSpc>
              <a:spcBef>
                <a:spcPts val="140"/>
              </a:spcBef>
            </a:pPr>
            <a:r>
              <a:rPr sz="2400" spc="-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techniques </a:t>
            </a:r>
            <a:r>
              <a:rPr sz="2400" spc="-1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automatically </a:t>
            </a:r>
            <a:r>
              <a:rPr sz="2400" spc="-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notices </a:t>
            </a:r>
            <a:r>
              <a:rPr sz="2400" spc="-1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that “For </a:t>
            </a:r>
            <a:r>
              <a:rPr sz="240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U” </a:t>
            </a:r>
            <a:r>
              <a:rPr sz="2400" spc="-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has </a:t>
            </a:r>
            <a:r>
              <a:rPr sz="2400" spc="-1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become </a:t>
            </a:r>
            <a:r>
              <a:rPr sz="2400" spc="-53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400" spc="-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unusually </a:t>
            </a:r>
            <a:r>
              <a:rPr sz="2400" spc="-1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frequent </a:t>
            </a:r>
            <a:r>
              <a:rPr sz="240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in </a:t>
            </a:r>
            <a:r>
              <a:rPr sz="2400" spc="-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spam flagged </a:t>
            </a:r>
            <a:r>
              <a:rPr sz="2400" spc="-1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by users, </a:t>
            </a:r>
            <a:r>
              <a:rPr sz="240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and it </a:t>
            </a:r>
            <a:r>
              <a:rPr sz="2400" spc="-1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starts </a:t>
            </a:r>
            <a:r>
              <a:rPr sz="2400" spc="-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40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flagging</a:t>
            </a:r>
            <a:r>
              <a:rPr sz="2400" spc="-2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40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them</a:t>
            </a:r>
            <a:r>
              <a:rPr sz="2400" spc="-1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40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without</a:t>
            </a:r>
            <a:r>
              <a:rPr sz="2400" spc="-2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400" spc="-1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your</a:t>
            </a:r>
            <a:r>
              <a:rPr sz="2400" spc="-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400" spc="-1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intervention</a:t>
            </a:r>
            <a:endParaRPr sz="2400">
              <a:latin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9525" algn="ctr">
              <a:lnSpc>
                <a:spcPts val="5015"/>
              </a:lnSpc>
              <a:spcBef>
                <a:spcPts val="100"/>
              </a:spcBef>
            </a:pPr>
            <a:r>
              <a:rPr sz="4400" b="1" spc="-30" dirty="0">
                <a:solidFill>
                  <a:srgbClr val="2E5496"/>
                </a:solidFill>
                <a:latin typeface="Calibri" panose="020F0502020204030204"/>
                <a:cs typeface="Calibri" panose="020F0502020204030204"/>
              </a:rPr>
              <a:t>Traditional</a:t>
            </a:r>
            <a:r>
              <a:rPr sz="4400" b="1" spc="-35" dirty="0">
                <a:solidFill>
                  <a:srgbClr val="2E5496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4400" b="1" spc="-15" dirty="0">
                <a:solidFill>
                  <a:srgbClr val="2E5496"/>
                </a:solidFill>
                <a:latin typeface="Calibri" panose="020F0502020204030204"/>
                <a:cs typeface="Calibri" panose="020F0502020204030204"/>
              </a:rPr>
              <a:t>programming</a:t>
            </a:r>
            <a:r>
              <a:rPr sz="4400" b="1" spc="-50" dirty="0">
                <a:solidFill>
                  <a:srgbClr val="2E5496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4400" b="1" spc="-5" dirty="0">
                <a:solidFill>
                  <a:srgbClr val="2E5496"/>
                </a:solidFill>
                <a:latin typeface="Calibri" panose="020F0502020204030204"/>
                <a:cs typeface="Calibri" panose="020F0502020204030204"/>
              </a:rPr>
              <a:t>vs.</a:t>
            </a:r>
            <a:endParaRPr sz="4400">
              <a:latin typeface="Calibri" panose="020F0502020204030204"/>
              <a:cs typeface="Calibri" panose="020F0502020204030204"/>
            </a:endParaRPr>
          </a:p>
          <a:p>
            <a:pPr marL="9525" marR="2540" algn="ctr">
              <a:lnSpc>
                <a:spcPts val="5015"/>
              </a:lnSpc>
            </a:pPr>
            <a:r>
              <a:rPr sz="4400" b="1" spc="-5" dirty="0">
                <a:solidFill>
                  <a:srgbClr val="2E5496"/>
                </a:solidFill>
                <a:latin typeface="Calibri" panose="020F0502020204030204"/>
                <a:cs typeface="Calibri" panose="020F0502020204030204"/>
              </a:rPr>
              <a:t>Machine</a:t>
            </a:r>
            <a:r>
              <a:rPr sz="4400" b="1" spc="-60" dirty="0">
                <a:solidFill>
                  <a:srgbClr val="2E5496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4400" b="1" dirty="0">
                <a:solidFill>
                  <a:srgbClr val="2E5496"/>
                </a:solidFill>
                <a:latin typeface="Calibri" panose="020F0502020204030204"/>
                <a:cs typeface="Calibri" panose="020F0502020204030204"/>
              </a:rPr>
              <a:t>Learning</a:t>
            </a:r>
            <a:endParaRPr sz="4400">
              <a:latin typeface="Calibri" panose="020F0502020204030204"/>
              <a:cs typeface="Calibri" panose="020F0502020204030204"/>
            </a:endParaRPr>
          </a:p>
        </p:txBody>
      </p:sp>
      <p:pic>
        <p:nvPicPr>
          <p:cNvPr id="3" name="object 3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1197863" y="2057400"/>
            <a:ext cx="6466332" cy="40386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28547" y="282320"/>
            <a:ext cx="7486015" cy="1391920"/>
          </a:xfrm>
          <a:prstGeom prst="rect">
            <a:avLst/>
          </a:prstGeom>
        </p:spPr>
        <p:txBody>
          <a:bodyPr vert="horz" wrap="square" lIns="0" tIns="67945" rIns="0" bIns="0" rtlCol="0">
            <a:spAutoFit/>
          </a:bodyPr>
          <a:lstStyle/>
          <a:p>
            <a:pPr marL="12700" marR="5080" algn="ctr">
              <a:lnSpc>
                <a:spcPts val="3460"/>
              </a:lnSpc>
              <a:spcBef>
                <a:spcPts val="535"/>
              </a:spcBef>
            </a:pPr>
            <a:r>
              <a:rPr sz="3200" b="1" dirty="0">
                <a:solidFill>
                  <a:srgbClr val="2E5496"/>
                </a:solidFill>
                <a:latin typeface="Calibri" panose="020F0502020204030204"/>
                <a:cs typeface="Calibri" panose="020F0502020204030204"/>
              </a:rPr>
              <a:t>ML is </a:t>
            </a:r>
            <a:r>
              <a:rPr sz="3200" b="1" spc="-5" dirty="0">
                <a:solidFill>
                  <a:srgbClr val="2E5496"/>
                </a:solidFill>
                <a:latin typeface="Calibri" panose="020F0502020204030204"/>
                <a:cs typeface="Calibri" panose="020F0502020204030204"/>
              </a:rPr>
              <a:t>useful </a:t>
            </a:r>
            <a:r>
              <a:rPr sz="3200" b="1" spc="-20" dirty="0">
                <a:solidFill>
                  <a:srgbClr val="2E5496"/>
                </a:solidFill>
                <a:latin typeface="Calibri" panose="020F0502020204030204"/>
                <a:cs typeface="Calibri" panose="020F0502020204030204"/>
              </a:rPr>
              <a:t>for </a:t>
            </a:r>
            <a:r>
              <a:rPr sz="3200" b="1" spc="-5" dirty="0">
                <a:solidFill>
                  <a:srgbClr val="2E5496"/>
                </a:solidFill>
                <a:latin typeface="Calibri" panose="020F0502020204030204"/>
                <a:cs typeface="Calibri" panose="020F0502020204030204"/>
              </a:rPr>
              <a:t>problems that either </a:t>
            </a:r>
            <a:r>
              <a:rPr sz="3200" b="1" spc="-15" dirty="0">
                <a:solidFill>
                  <a:srgbClr val="2E5496"/>
                </a:solidFill>
                <a:latin typeface="Calibri" panose="020F0502020204030204"/>
                <a:cs typeface="Calibri" panose="020F0502020204030204"/>
              </a:rPr>
              <a:t>are too </a:t>
            </a:r>
            <a:r>
              <a:rPr sz="3200" b="1" spc="-710" dirty="0">
                <a:solidFill>
                  <a:srgbClr val="2E5496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3200" b="1" spc="-15" dirty="0">
                <a:solidFill>
                  <a:srgbClr val="2E5496"/>
                </a:solidFill>
                <a:latin typeface="Calibri" panose="020F0502020204030204"/>
                <a:cs typeface="Calibri" panose="020F0502020204030204"/>
              </a:rPr>
              <a:t>complex </a:t>
            </a:r>
            <a:r>
              <a:rPr sz="3200" b="1" spc="-20" dirty="0">
                <a:solidFill>
                  <a:srgbClr val="2E5496"/>
                </a:solidFill>
                <a:latin typeface="Calibri" panose="020F0502020204030204"/>
                <a:cs typeface="Calibri" panose="020F0502020204030204"/>
              </a:rPr>
              <a:t>for </a:t>
            </a:r>
            <a:r>
              <a:rPr sz="3200" b="1" spc="-5" dirty="0">
                <a:solidFill>
                  <a:srgbClr val="2E5496"/>
                </a:solidFill>
                <a:latin typeface="Calibri" panose="020F0502020204030204"/>
                <a:cs typeface="Calibri" panose="020F0502020204030204"/>
              </a:rPr>
              <a:t>traditional approaches </a:t>
            </a:r>
            <a:r>
              <a:rPr sz="3200" b="1" dirty="0">
                <a:solidFill>
                  <a:srgbClr val="2E5496"/>
                </a:solidFill>
                <a:latin typeface="Calibri" panose="020F0502020204030204"/>
                <a:cs typeface="Calibri" panose="020F0502020204030204"/>
              </a:rPr>
              <a:t>or </a:t>
            </a:r>
            <a:r>
              <a:rPr sz="3200" b="1" spc="-20" dirty="0">
                <a:solidFill>
                  <a:srgbClr val="2E5496"/>
                </a:solidFill>
                <a:latin typeface="Calibri" panose="020F0502020204030204"/>
                <a:cs typeface="Calibri" panose="020F0502020204030204"/>
              </a:rPr>
              <a:t>have </a:t>
            </a:r>
            <a:r>
              <a:rPr sz="3200" b="1" spc="-15" dirty="0">
                <a:solidFill>
                  <a:srgbClr val="2E5496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3200" b="1" dirty="0">
                <a:solidFill>
                  <a:srgbClr val="2E5496"/>
                </a:solidFill>
                <a:latin typeface="Calibri" panose="020F0502020204030204"/>
                <a:cs typeface="Calibri" panose="020F0502020204030204"/>
              </a:rPr>
              <a:t>no</a:t>
            </a:r>
            <a:r>
              <a:rPr sz="3200" b="1" spc="-5" dirty="0">
                <a:solidFill>
                  <a:srgbClr val="2E5496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3200" b="1" dirty="0">
                <a:solidFill>
                  <a:srgbClr val="2E5496"/>
                </a:solidFill>
                <a:latin typeface="Calibri" panose="020F0502020204030204"/>
                <a:cs typeface="Calibri" panose="020F0502020204030204"/>
              </a:rPr>
              <a:t>known algorithm</a:t>
            </a:r>
            <a:endParaRPr sz="32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07542" y="1737476"/>
            <a:ext cx="7599680" cy="4485640"/>
          </a:xfrm>
          <a:prstGeom prst="rect">
            <a:avLst/>
          </a:prstGeom>
        </p:spPr>
        <p:txBody>
          <a:bodyPr vert="horz" wrap="square" lIns="0" tIns="77470" rIns="0" bIns="0" rtlCol="0">
            <a:spAutoFit/>
          </a:bodyPr>
          <a:lstStyle/>
          <a:p>
            <a:pPr marL="184785" indent="-172720">
              <a:lnSpc>
                <a:spcPct val="100000"/>
              </a:lnSpc>
              <a:spcBef>
                <a:spcPts val="610"/>
              </a:spcBef>
              <a:buFont typeface="Arial MT"/>
              <a:buChar char="•"/>
              <a:tabLst>
                <a:tab pos="185420" algn="l"/>
              </a:tabLst>
            </a:pPr>
            <a:r>
              <a:rPr sz="2400" b="1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Speech</a:t>
            </a:r>
            <a:r>
              <a:rPr sz="2400" b="1" spc="-3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400" b="1" spc="-1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recognition:</a:t>
            </a:r>
            <a:endParaRPr sz="2400">
              <a:latin typeface="Calibri" panose="020F0502020204030204"/>
              <a:cs typeface="Calibri" panose="020F0502020204030204"/>
            </a:endParaRPr>
          </a:p>
          <a:p>
            <a:pPr marL="469900" indent="-457200" algn="just">
              <a:lnSpc>
                <a:spcPts val="2740"/>
              </a:lnSpc>
              <a:spcBef>
                <a:spcPts val="520"/>
              </a:spcBef>
              <a:buAutoNum type="arabicPeriod"/>
              <a:tabLst>
                <a:tab pos="469265" algn="l"/>
                <a:tab pos="469900" algn="l"/>
              </a:tabLst>
            </a:pPr>
            <a:r>
              <a:rPr sz="2400" spc="-65" dirty="0">
                <a:latin typeface="Calibri" panose="020F0502020204030204"/>
                <a:cs typeface="Calibri" panose="020F0502020204030204"/>
              </a:rPr>
              <a:t>You</a:t>
            </a:r>
            <a:r>
              <a:rPr sz="2400" spc="-10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spc="-15" dirty="0">
                <a:latin typeface="Calibri" panose="020F0502020204030204"/>
                <a:cs typeface="Calibri" panose="020F0502020204030204"/>
              </a:rPr>
              <a:t>want</a:t>
            </a:r>
            <a:r>
              <a:rPr sz="2400" spc="-20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spc="-15" dirty="0">
                <a:latin typeface="Calibri" panose="020F0502020204030204"/>
                <a:cs typeface="Calibri" panose="020F0502020204030204"/>
              </a:rPr>
              <a:t>to </a:t>
            </a:r>
            <a:r>
              <a:rPr sz="2400" spc="-5" dirty="0">
                <a:latin typeface="Calibri" panose="020F0502020204030204"/>
                <a:cs typeface="Calibri" panose="020F0502020204030204"/>
              </a:rPr>
              <a:t>write</a:t>
            </a:r>
            <a:r>
              <a:rPr sz="2400" spc="-10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dirty="0">
                <a:latin typeface="Calibri" panose="020F0502020204030204"/>
                <a:cs typeface="Calibri" panose="020F0502020204030204"/>
              </a:rPr>
              <a:t>a</a:t>
            </a:r>
            <a:r>
              <a:rPr sz="2400" spc="-15" dirty="0">
                <a:latin typeface="Calibri" panose="020F0502020204030204"/>
                <a:cs typeface="Calibri" panose="020F0502020204030204"/>
              </a:rPr>
              <a:t> program</a:t>
            </a:r>
            <a:r>
              <a:rPr sz="2400" spc="-20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spc="-5" dirty="0">
                <a:latin typeface="Calibri" panose="020F0502020204030204"/>
                <a:cs typeface="Calibri" panose="020F0502020204030204"/>
              </a:rPr>
              <a:t>capable</a:t>
            </a:r>
            <a:r>
              <a:rPr sz="2400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spc="-5" dirty="0">
                <a:latin typeface="Calibri" panose="020F0502020204030204"/>
                <a:cs typeface="Calibri" panose="020F0502020204030204"/>
              </a:rPr>
              <a:t>of distinguishing</a:t>
            </a:r>
            <a:r>
              <a:rPr sz="2400" spc="-25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dirty="0">
                <a:latin typeface="Calibri" panose="020F0502020204030204"/>
                <a:cs typeface="Calibri" panose="020F0502020204030204"/>
              </a:rPr>
              <a:t>the</a:t>
            </a:r>
            <a:endParaRPr sz="2400">
              <a:latin typeface="Calibri" panose="020F0502020204030204"/>
              <a:cs typeface="Calibri" panose="020F0502020204030204"/>
            </a:endParaRPr>
          </a:p>
          <a:p>
            <a:pPr marL="469900" algn="just">
              <a:lnSpc>
                <a:spcPts val="2740"/>
              </a:lnSpc>
            </a:pPr>
            <a:r>
              <a:rPr sz="2400" spc="-15" dirty="0">
                <a:latin typeface="Calibri" panose="020F0502020204030204"/>
                <a:cs typeface="Calibri" panose="020F0502020204030204"/>
              </a:rPr>
              <a:t>words</a:t>
            </a:r>
            <a:r>
              <a:rPr sz="2400" spc="-25" dirty="0">
                <a:latin typeface="Calibri" panose="020F0502020204030204"/>
                <a:cs typeface="Calibri" panose="020F0502020204030204"/>
              </a:rPr>
              <a:t> “one”</a:t>
            </a:r>
            <a:r>
              <a:rPr sz="2400" spc="-30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dirty="0">
                <a:latin typeface="Calibri" panose="020F0502020204030204"/>
                <a:cs typeface="Calibri" panose="020F0502020204030204"/>
              </a:rPr>
              <a:t>and</a:t>
            </a:r>
            <a:r>
              <a:rPr sz="2400" spc="-20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spc="-40" dirty="0">
                <a:latin typeface="Calibri" panose="020F0502020204030204"/>
                <a:cs typeface="Calibri" panose="020F0502020204030204"/>
              </a:rPr>
              <a:t>“two.”</a:t>
            </a:r>
            <a:endParaRPr sz="2400">
              <a:latin typeface="Calibri" panose="020F0502020204030204"/>
              <a:cs typeface="Calibri" panose="020F0502020204030204"/>
            </a:endParaRPr>
          </a:p>
          <a:p>
            <a:pPr marL="469900" marR="136525" indent="-457200" algn="just">
              <a:lnSpc>
                <a:spcPct val="90000"/>
              </a:lnSpc>
              <a:spcBef>
                <a:spcPts val="800"/>
              </a:spcBef>
              <a:buAutoNum type="arabicPeriod" startAt="2"/>
              <a:tabLst>
                <a:tab pos="469265" algn="l"/>
                <a:tab pos="469900" algn="l"/>
              </a:tabLst>
            </a:pPr>
            <a:r>
              <a:rPr sz="2400" spc="-65" dirty="0">
                <a:solidFill>
                  <a:srgbClr val="6F2F9F"/>
                </a:solidFill>
                <a:latin typeface="Calibri" panose="020F0502020204030204"/>
                <a:cs typeface="Calibri" panose="020F0502020204030204"/>
              </a:rPr>
              <a:t>You </a:t>
            </a:r>
            <a:r>
              <a:rPr sz="2400" spc="-5" dirty="0">
                <a:solidFill>
                  <a:srgbClr val="6F2F9F"/>
                </a:solidFill>
                <a:latin typeface="Calibri" panose="020F0502020204030204"/>
                <a:cs typeface="Calibri" panose="020F0502020204030204"/>
              </a:rPr>
              <a:t>might notice </a:t>
            </a:r>
            <a:r>
              <a:rPr sz="2400" spc="-10" dirty="0">
                <a:solidFill>
                  <a:srgbClr val="6F2F9F"/>
                </a:solidFill>
                <a:latin typeface="Calibri" panose="020F0502020204030204"/>
                <a:cs typeface="Calibri" panose="020F0502020204030204"/>
              </a:rPr>
              <a:t>that </a:t>
            </a:r>
            <a:r>
              <a:rPr sz="2400" dirty="0">
                <a:solidFill>
                  <a:srgbClr val="6F2F9F"/>
                </a:solidFill>
                <a:latin typeface="Calibri" panose="020F0502020204030204"/>
                <a:cs typeface="Calibri" panose="020F0502020204030204"/>
              </a:rPr>
              <a:t>the </a:t>
            </a:r>
            <a:r>
              <a:rPr sz="2400" spc="-20" dirty="0">
                <a:solidFill>
                  <a:srgbClr val="6F2F9F"/>
                </a:solidFill>
                <a:latin typeface="Calibri" panose="020F0502020204030204"/>
                <a:cs typeface="Calibri" panose="020F0502020204030204"/>
              </a:rPr>
              <a:t>word </a:t>
            </a:r>
            <a:r>
              <a:rPr sz="2400" spc="-10" dirty="0">
                <a:solidFill>
                  <a:srgbClr val="6F2F9F"/>
                </a:solidFill>
                <a:latin typeface="Calibri" panose="020F0502020204030204"/>
                <a:cs typeface="Calibri" panose="020F0502020204030204"/>
              </a:rPr>
              <a:t>“two” starts </a:t>
            </a:r>
            <a:r>
              <a:rPr sz="2400" dirty="0">
                <a:solidFill>
                  <a:srgbClr val="6F2F9F"/>
                </a:solidFill>
                <a:latin typeface="Calibri" panose="020F0502020204030204"/>
                <a:cs typeface="Calibri" panose="020F0502020204030204"/>
              </a:rPr>
              <a:t>with a high- </a:t>
            </a:r>
            <a:r>
              <a:rPr sz="2400" spc="5" dirty="0">
                <a:solidFill>
                  <a:srgbClr val="6F2F9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400" spc="-10" dirty="0">
                <a:solidFill>
                  <a:srgbClr val="6F2F9F"/>
                </a:solidFill>
                <a:latin typeface="Calibri" panose="020F0502020204030204"/>
                <a:cs typeface="Calibri" panose="020F0502020204030204"/>
              </a:rPr>
              <a:t>pitch </a:t>
            </a:r>
            <a:r>
              <a:rPr sz="2400" spc="-5" dirty="0">
                <a:solidFill>
                  <a:srgbClr val="6F2F9F"/>
                </a:solidFill>
                <a:latin typeface="Calibri" panose="020F0502020204030204"/>
                <a:cs typeface="Calibri" panose="020F0502020204030204"/>
              </a:rPr>
              <a:t>sound </a:t>
            </a:r>
            <a:r>
              <a:rPr sz="2400" spc="25" dirty="0">
                <a:solidFill>
                  <a:srgbClr val="6F2F9F"/>
                </a:solidFill>
                <a:latin typeface="Calibri" panose="020F0502020204030204"/>
                <a:cs typeface="Calibri" panose="020F0502020204030204"/>
              </a:rPr>
              <a:t>(“T”), </a:t>
            </a:r>
            <a:r>
              <a:rPr sz="2400" spc="-5" dirty="0">
                <a:solidFill>
                  <a:srgbClr val="6F2F9F"/>
                </a:solidFill>
                <a:latin typeface="Calibri" panose="020F0502020204030204"/>
                <a:cs typeface="Calibri" panose="020F0502020204030204"/>
              </a:rPr>
              <a:t>so </a:t>
            </a:r>
            <a:r>
              <a:rPr sz="2400" spc="-10" dirty="0">
                <a:solidFill>
                  <a:srgbClr val="6F2F9F"/>
                </a:solidFill>
                <a:latin typeface="Calibri" panose="020F0502020204030204"/>
                <a:cs typeface="Calibri" panose="020F0502020204030204"/>
              </a:rPr>
              <a:t>you could </a:t>
            </a:r>
            <a:r>
              <a:rPr sz="2400" spc="-15" dirty="0">
                <a:solidFill>
                  <a:srgbClr val="6F2F9F"/>
                </a:solidFill>
                <a:latin typeface="Calibri" panose="020F0502020204030204"/>
                <a:cs typeface="Calibri" panose="020F0502020204030204"/>
              </a:rPr>
              <a:t>hardcode </a:t>
            </a:r>
            <a:r>
              <a:rPr sz="2400" dirty="0">
                <a:solidFill>
                  <a:srgbClr val="6F2F9F"/>
                </a:solidFill>
                <a:latin typeface="Calibri" panose="020F0502020204030204"/>
                <a:cs typeface="Calibri" panose="020F0502020204030204"/>
              </a:rPr>
              <a:t>an </a:t>
            </a:r>
            <a:r>
              <a:rPr sz="2400" spc="-5" dirty="0">
                <a:solidFill>
                  <a:srgbClr val="6F2F9F"/>
                </a:solidFill>
                <a:latin typeface="Calibri" panose="020F0502020204030204"/>
                <a:cs typeface="Calibri" panose="020F0502020204030204"/>
              </a:rPr>
              <a:t>algorithm </a:t>
            </a:r>
            <a:r>
              <a:rPr sz="2400" dirty="0">
                <a:solidFill>
                  <a:srgbClr val="6F2F9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400" spc="-10" dirty="0">
                <a:solidFill>
                  <a:srgbClr val="6F2F9F"/>
                </a:solidFill>
                <a:latin typeface="Calibri" panose="020F0502020204030204"/>
                <a:cs typeface="Calibri" panose="020F0502020204030204"/>
              </a:rPr>
              <a:t>that measures</a:t>
            </a:r>
            <a:r>
              <a:rPr sz="2400" spc="5" dirty="0">
                <a:solidFill>
                  <a:srgbClr val="6F2F9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400" spc="-10" dirty="0">
                <a:solidFill>
                  <a:srgbClr val="6F2F9F"/>
                </a:solidFill>
                <a:latin typeface="Calibri" panose="020F0502020204030204"/>
                <a:cs typeface="Calibri" panose="020F0502020204030204"/>
              </a:rPr>
              <a:t>high-pitch</a:t>
            </a:r>
            <a:r>
              <a:rPr sz="2400" dirty="0">
                <a:solidFill>
                  <a:srgbClr val="6F2F9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400" spc="-5" dirty="0">
                <a:solidFill>
                  <a:srgbClr val="6F2F9F"/>
                </a:solidFill>
                <a:latin typeface="Calibri" panose="020F0502020204030204"/>
                <a:cs typeface="Calibri" panose="020F0502020204030204"/>
              </a:rPr>
              <a:t>sound</a:t>
            </a:r>
            <a:r>
              <a:rPr sz="2400" spc="10" dirty="0">
                <a:solidFill>
                  <a:srgbClr val="6F2F9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400" spc="-10" dirty="0">
                <a:solidFill>
                  <a:srgbClr val="6F2F9F"/>
                </a:solidFill>
                <a:latin typeface="Calibri" panose="020F0502020204030204"/>
                <a:cs typeface="Calibri" panose="020F0502020204030204"/>
              </a:rPr>
              <a:t>intensity</a:t>
            </a:r>
            <a:r>
              <a:rPr sz="2400" dirty="0">
                <a:solidFill>
                  <a:srgbClr val="6F2F9F"/>
                </a:solidFill>
                <a:latin typeface="Calibri" panose="020F0502020204030204"/>
                <a:cs typeface="Calibri" panose="020F0502020204030204"/>
              </a:rPr>
              <a:t> and </a:t>
            </a:r>
            <a:r>
              <a:rPr sz="2400" spc="-5" dirty="0">
                <a:solidFill>
                  <a:srgbClr val="6F2F9F"/>
                </a:solidFill>
                <a:latin typeface="Calibri" panose="020F0502020204030204"/>
                <a:cs typeface="Calibri" panose="020F0502020204030204"/>
              </a:rPr>
              <a:t>use</a:t>
            </a:r>
            <a:r>
              <a:rPr sz="2400" spc="5" dirty="0">
                <a:solidFill>
                  <a:srgbClr val="6F2F9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400" spc="-10" dirty="0">
                <a:solidFill>
                  <a:srgbClr val="6F2F9F"/>
                </a:solidFill>
                <a:latin typeface="Calibri" panose="020F0502020204030204"/>
                <a:cs typeface="Calibri" panose="020F0502020204030204"/>
              </a:rPr>
              <a:t>that </a:t>
            </a:r>
            <a:r>
              <a:rPr sz="2400" spc="-15" dirty="0">
                <a:solidFill>
                  <a:srgbClr val="6F2F9F"/>
                </a:solidFill>
                <a:latin typeface="Calibri" panose="020F0502020204030204"/>
                <a:cs typeface="Calibri" panose="020F0502020204030204"/>
              </a:rPr>
              <a:t>to </a:t>
            </a:r>
            <a:r>
              <a:rPr sz="2400" spc="-525" dirty="0">
                <a:solidFill>
                  <a:srgbClr val="6F2F9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400" spc="-5" dirty="0">
                <a:solidFill>
                  <a:srgbClr val="6F2F9F"/>
                </a:solidFill>
                <a:latin typeface="Calibri" panose="020F0502020204030204"/>
                <a:cs typeface="Calibri" panose="020F0502020204030204"/>
              </a:rPr>
              <a:t>distinguish</a:t>
            </a:r>
            <a:r>
              <a:rPr sz="2400" spc="-15" dirty="0">
                <a:solidFill>
                  <a:srgbClr val="6F2F9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400" spc="-5" dirty="0">
                <a:solidFill>
                  <a:srgbClr val="6F2F9F"/>
                </a:solidFill>
                <a:latin typeface="Calibri" panose="020F0502020204030204"/>
                <a:cs typeface="Calibri" panose="020F0502020204030204"/>
              </a:rPr>
              <a:t>ones </a:t>
            </a:r>
            <a:r>
              <a:rPr sz="2400" dirty="0">
                <a:solidFill>
                  <a:srgbClr val="6F2F9F"/>
                </a:solidFill>
                <a:latin typeface="Calibri" panose="020F0502020204030204"/>
                <a:cs typeface="Calibri" panose="020F0502020204030204"/>
              </a:rPr>
              <a:t>and</a:t>
            </a:r>
            <a:r>
              <a:rPr sz="2400" spc="-5" dirty="0">
                <a:solidFill>
                  <a:srgbClr val="6F2F9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400" spc="-10" dirty="0">
                <a:solidFill>
                  <a:srgbClr val="6F2F9F"/>
                </a:solidFill>
                <a:latin typeface="Calibri" panose="020F0502020204030204"/>
                <a:cs typeface="Calibri" panose="020F0502020204030204"/>
              </a:rPr>
              <a:t>twos.</a:t>
            </a:r>
            <a:endParaRPr sz="2400">
              <a:latin typeface="Calibri" panose="020F0502020204030204"/>
              <a:cs typeface="Calibri" panose="020F0502020204030204"/>
            </a:endParaRPr>
          </a:p>
          <a:p>
            <a:pPr marL="469900" marR="25400" indent="-457200" algn="just">
              <a:lnSpc>
                <a:spcPts val="2590"/>
              </a:lnSpc>
              <a:spcBef>
                <a:spcPts val="835"/>
              </a:spcBef>
              <a:buAutoNum type="arabicPeriod" startAt="2"/>
              <a:tabLst>
                <a:tab pos="469265" algn="l"/>
                <a:tab pos="469900" algn="l"/>
              </a:tabLst>
            </a:pPr>
            <a:r>
              <a:rPr sz="2400" spc="-10" dirty="0">
                <a:solidFill>
                  <a:srgbClr val="00AF50"/>
                </a:solidFill>
                <a:latin typeface="Calibri" panose="020F0502020204030204"/>
                <a:cs typeface="Calibri" panose="020F0502020204030204"/>
              </a:rPr>
              <a:t>Obviously </a:t>
            </a:r>
            <a:r>
              <a:rPr sz="2400" dirty="0">
                <a:solidFill>
                  <a:srgbClr val="00AF50"/>
                </a:solidFill>
                <a:latin typeface="Calibri" panose="020F0502020204030204"/>
                <a:cs typeface="Calibri" panose="020F0502020204030204"/>
              </a:rPr>
              <a:t>this </a:t>
            </a:r>
            <a:r>
              <a:rPr sz="2400" spc="-5" dirty="0">
                <a:solidFill>
                  <a:srgbClr val="00AF50"/>
                </a:solidFill>
                <a:latin typeface="Calibri" panose="020F0502020204030204"/>
                <a:cs typeface="Calibri" panose="020F0502020204030204"/>
              </a:rPr>
              <a:t>technique </a:t>
            </a:r>
            <a:r>
              <a:rPr sz="2400" dirty="0">
                <a:solidFill>
                  <a:srgbClr val="00AF50"/>
                </a:solidFill>
                <a:latin typeface="Calibri" panose="020F0502020204030204"/>
                <a:cs typeface="Calibri" panose="020F0502020204030204"/>
              </a:rPr>
              <a:t>will </a:t>
            </a:r>
            <a:r>
              <a:rPr sz="2400" spc="-5" dirty="0">
                <a:solidFill>
                  <a:srgbClr val="00AF50"/>
                </a:solidFill>
                <a:latin typeface="Calibri" panose="020F0502020204030204"/>
                <a:cs typeface="Calibri" panose="020F0502020204030204"/>
              </a:rPr>
              <a:t>not </a:t>
            </a:r>
            <a:r>
              <a:rPr sz="2400" spc="-10" dirty="0">
                <a:solidFill>
                  <a:srgbClr val="00AF50"/>
                </a:solidFill>
                <a:latin typeface="Calibri" panose="020F0502020204030204"/>
                <a:cs typeface="Calibri" panose="020F0502020204030204"/>
              </a:rPr>
              <a:t>scale </a:t>
            </a:r>
            <a:r>
              <a:rPr sz="2400" spc="-15" dirty="0">
                <a:solidFill>
                  <a:srgbClr val="00AF50"/>
                </a:solidFill>
                <a:latin typeface="Calibri" panose="020F0502020204030204"/>
                <a:cs typeface="Calibri" panose="020F0502020204030204"/>
              </a:rPr>
              <a:t>to </a:t>
            </a:r>
            <a:r>
              <a:rPr sz="2400" spc="-5" dirty="0">
                <a:solidFill>
                  <a:srgbClr val="00AF50"/>
                </a:solidFill>
                <a:latin typeface="Calibri" panose="020F0502020204030204"/>
                <a:cs typeface="Calibri" panose="020F0502020204030204"/>
              </a:rPr>
              <a:t>thousands of </a:t>
            </a:r>
            <a:r>
              <a:rPr sz="2400" dirty="0">
                <a:solidFill>
                  <a:srgbClr val="00AF5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400" spc="-15" dirty="0">
                <a:solidFill>
                  <a:srgbClr val="00AF50"/>
                </a:solidFill>
                <a:latin typeface="Calibri" panose="020F0502020204030204"/>
                <a:cs typeface="Calibri" panose="020F0502020204030204"/>
              </a:rPr>
              <a:t>words</a:t>
            </a:r>
            <a:r>
              <a:rPr sz="2400" spc="-10" dirty="0">
                <a:solidFill>
                  <a:srgbClr val="00AF5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400" spc="-20" dirty="0">
                <a:solidFill>
                  <a:srgbClr val="00AF50"/>
                </a:solidFill>
                <a:latin typeface="Calibri" panose="020F0502020204030204"/>
                <a:cs typeface="Calibri" panose="020F0502020204030204"/>
              </a:rPr>
              <a:t>spoken</a:t>
            </a:r>
            <a:r>
              <a:rPr sz="2400" spc="-5" dirty="0">
                <a:solidFill>
                  <a:srgbClr val="00AF5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400" spc="-10" dirty="0">
                <a:solidFill>
                  <a:srgbClr val="00AF50"/>
                </a:solidFill>
                <a:latin typeface="Calibri" panose="020F0502020204030204"/>
                <a:cs typeface="Calibri" panose="020F0502020204030204"/>
              </a:rPr>
              <a:t>by</a:t>
            </a:r>
            <a:r>
              <a:rPr sz="2400" dirty="0">
                <a:solidFill>
                  <a:srgbClr val="00AF50"/>
                </a:solidFill>
                <a:latin typeface="Calibri" panose="020F0502020204030204"/>
                <a:cs typeface="Calibri" panose="020F0502020204030204"/>
              </a:rPr>
              <a:t> millions</a:t>
            </a:r>
            <a:r>
              <a:rPr sz="2400" spc="-25" dirty="0">
                <a:solidFill>
                  <a:srgbClr val="00AF5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400" spc="-5" dirty="0">
                <a:solidFill>
                  <a:srgbClr val="00AF50"/>
                </a:solidFill>
                <a:latin typeface="Calibri" panose="020F0502020204030204"/>
                <a:cs typeface="Calibri" panose="020F0502020204030204"/>
              </a:rPr>
              <a:t>of</a:t>
            </a:r>
            <a:r>
              <a:rPr sz="2400" spc="-15" dirty="0">
                <a:solidFill>
                  <a:srgbClr val="00AF5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400" spc="-5" dirty="0">
                <a:solidFill>
                  <a:srgbClr val="00AF50"/>
                </a:solidFill>
                <a:latin typeface="Calibri" panose="020F0502020204030204"/>
                <a:cs typeface="Calibri" panose="020F0502020204030204"/>
              </a:rPr>
              <a:t>very</a:t>
            </a:r>
            <a:r>
              <a:rPr sz="2400" dirty="0">
                <a:solidFill>
                  <a:srgbClr val="00AF5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400" spc="-20" dirty="0">
                <a:solidFill>
                  <a:srgbClr val="00AF50"/>
                </a:solidFill>
                <a:latin typeface="Calibri" panose="020F0502020204030204"/>
                <a:cs typeface="Calibri" panose="020F0502020204030204"/>
              </a:rPr>
              <a:t>different</a:t>
            </a:r>
            <a:r>
              <a:rPr sz="2400" dirty="0">
                <a:solidFill>
                  <a:srgbClr val="00AF5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400" spc="-5" dirty="0">
                <a:solidFill>
                  <a:srgbClr val="00AF50"/>
                </a:solidFill>
                <a:latin typeface="Calibri" panose="020F0502020204030204"/>
                <a:cs typeface="Calibri" panose="020F0502020204030204"/>
              </a:rPr>
              <a:t>people</a:t>
            </a:r>
            <a:r>
              <a:rPr sz="2400" spc="-10" dirty="0">
                <a:solidFill>
                  <a:srgbClr val="00AF5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400" dirty="0">
                <a:solidFill>
                  <a:srgbClr val="00AF50"/>
                </a:solidFill>
                <a:latin typeface="Calibri" panose="020F0502020204030204"/>
                <a:cs typeface="Calibri" panose="020F0502020204030204"/>
              </a:rPr>
              <a:t>in </a:t>
            </a:r>
            <a:r>
              <a:rPr sz="2400" spc="-15" dirty="0">
                <a:solidFill>
                  <a:srgbClr val="00AF50"/>
                </a:solidFill>
                <a:latin typeface="Calibri" panose="020F0502020204030204"/>
                <a:cs typeface="Calibri" panose="020F0502020204030204"/>
              </a:rPr>
              <a:t>noisy </a:t>
            </a:r>
            <a:r>
              <a:rPr sz="2400" spc="-530" dirty="0">
                <a:solidFill>
                  <a:srgbClr val="00AF5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400" spc="-10" dirty="0">
                <a:solidFill>
                  <a:srgbClr val="00AF50"/>
                </a:solidFill>
                <a:latin typeface="Calibri" panose="020F0502020204030204"/>
                <a:cs typeface="Calibri" panose="020F0502020204030204"/>
              </a:rPr>
              <a:t>environments</a:t>
            </a:r>
            <a:r>
              <a:rPr sz="2400" spc="-5" dirty="0">
                <a:solidFill>
                  <a:srgbClr val="00AF5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400" dirty="0">
                <a:solidFill>
                  <a:srgbClr val="00AF50"/>
                </a:solidFill>
                <a:latin typeface="Calibri" panose="020F0502020204030204"/>
                <a:cs typeface="Calibri" panose="020F0502020204030204"/>
              </a:rPr>
              <a:t>and</a:t>
            </a:r>
            <a:r>
              <a:rPr sz="2400" spc="-5" dirty="0">
                <a:solidFill>
                  <a:srgbClr val="00AF5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400" dirty="0">
                <a:solidFill>
                  <a:srgbClr val="00AF50"/>
                </a:solidFill>
                <a:latin typeface="Calibri" panose="020F0502020204030204"/>
                <a:cs typeface="Calibri" panose="020F0502020204030204"/>
              </a:rPr>
              <a:t>in</a:t>
            </a:r>
            <a:r>
              <a:rPr sz="2400" spc="-5" dirty="0">
                <a:solidFill>
                  <a:srgbClr val="00AF5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400" spc="-20" dirty="0">
                <a:solidFill>
                  <a:srgbClr val="00AF50"/>
                </a:solidFill>
                <a:latin typeface="Calibri" panose="020F0502020204030204"/>
                <a:cs typeface="Calibri" panose="020F0502020204030204"/>
              </a:rPr>
              <a:t>dozens</a:t>
            </a:r>
            <a:r>
              <a:rPr sz="2400" spc="-5" dirty="0">
                <a:solidFill>
                  <a:srgbClr val="00AF50"/>
                </a:solidFill>
                <a:latin typeface="Calibri" panose="020F0502020204030204"/>
                <a:cs typeface="Calibri" panose="020F0502020204030204"/>
              </a:rPr>
              <a:t> of languages.</a:t>
            </a:r>
            <a:endParaRPr sz="2400">
              <a:latin typeface="Calibri" panose="020F0502020204030204"/>
              <a:cs typeface="Calibri" panose="020F0502020204030204"/>
            </a:endParaRPr>
          </a:p>
          <a:p>
            <a:pPr marL="469900" marR="116205" indent="-457200" algn="just">
              <a:lnSpc>
                <a:spcPts val="2590"/>
              </a:lnSpc>
              <a:spcBef>
                <a:spcPts val="810"/>
              </a:spcBef>
              <a:buAutoNum type="arabicPeriod" startAt="2"/>
              <a:tabLst>
                <a:tab pos="469265" algn="l"/>
                <a:tab pos="469900" algn="l"/>
              </a:tabLst>
            </a:pPr>
            <a:r>
              <a:rPr sz="2400" b="1" spc="-5" dirty="0">
                <a:solidFill>
                  <a:srgbClr val="006FC0"/>
                </a:solidFill>
                <a:latin typeface="Calibri" panose="020F0502020204030204"/>
                <a:cs typeface="Calibri" panose="020F0502020204030204"/>
              </a:rPr>
              <a:t>The</a:t>
            </a:r>
            <a:r>
              <a:rPr sz="2400" b="1" spc="-10" dirty="0">
                <a:solidFill>
                  <a:srgbClr val="006FC0"/>
                </a:solidFill>
                <a:latin typeface="Calibri" panose="020F0502020204030204"/>
                <a:cs typeface="Calibri" panose="020F0502020204030204"/>
              </a:rPr>
              <a:t> best</a:t>
            </a:r>
            <a:r>
              <a:rPr sz="2400" b="1" spc="-5" dirty="0">
                <a:solidFill>
                  <a:srgbClr val="006FC0"/>
                </a:solidFill>
                <a:latin typeface="Calibri" panose="020F0502020204030204"/>
                <a:cs typeface="Calibri" panose="020F0502020204030204"/>
              </a:rPr>
              <a:t> solution is</a:t>
            </a:r>
            <a:r>
              <a:rPr sz="2400" b="1" dirty="0">
                <a:solidFill>
                  <a:srgbClr val="006FC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400" b="1" spc="-15" dirty="0">
                <a:solidFill>
                  <a:srgbClr val="006FC0"/>
                </a:solidFill>
                <a:latin typeface="Calibri" panose="020F0502020204030204"/>
                <a:cs typeface="Calibri" panose="020F0502020204030204"/>
              </a:rPr>
              <a:t>to</a:t>
            </a:r>
            <a:r>
              <a:rPr sz="2400" b="1" spc="-5" dirty="0">
                <a:solidFill>
                  <a:srgbClr val="006FC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400" b="1" spc="-10" dirty="0">
                <a:solidFill>
                  <a:srgbClr val="006FC0"/>
                </a:solidFill>
                <a:latin typeface="Calibri" panose="020F0502020204030204"/>
                <a:cs typeface="Calibri" panose="020F0502020204030204"/>
              </a:rPr>
              <a:t>write </a:t>
            </a:r>
            <a:r>
              <a:rPr sz="2400" b="1" dirty="0">
                <a:solidFill>
                  <a:srgbClr val="006FC0"/>
                </a:solidFill>
                <a:latin typeface="Calibri" panose="020F0502020204030204"/>
                <a:cs typeface="Calibri" panose="020F0502020204030204"/>
              </a:rPr>
              <a:t>an </a:t>
            </a:r>
            <a:r>
              <a:rPr sz="2400" b="1" spc="-5" dirty="0">
                <a:solidFill>
                  <a:srgbClr val="006FC0"/>
                </a:solidFill>
                <a:latin typeface="Calibri" panose="020F0502020204030204"/>
                <a:cs typeface="Calibri" panose="020F0502020204030204"/>
              </a:rPr>
              <a:t>algorithm</a:t>
            </a:r>
            <a:r>
              <a:rPr sz="2400" b="1" spc="-20" dirty="0">
                <a:solidFill>
                  <a:srgbClr val="006FC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400" b="1" spc="-10" dirty="0">
                <a:solidFill>
                  <a:srgbClr val="006FC0"/>
                </a:solidFill>
                <a:latin typeface="Calibri" panose="020F0502020204030204"/>
                <a:cs typeface="Calibri" panose="020F0502020204030204"/>
              </a:rPr>
              <a:t>that</a:t>
            </a:r>
            <a:r>
              <a:rPr sz="2400" b="1" spc="10" dirty="0">
                <a:solidFill>
                  <a:srgbClr val="006FC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400" b="1" dirty="0">
                <a:solidFill>
                  <a:srgbClr val="006FC0"/>
                </a:solidFill>
                <a:latin typeface="Calibri" panose="020F0502020204030204"/>
                <a:cs typeface="Calibri" panose="020F0502020204030204"/>
              </a:rPr>
              <a:t>learns </a:t>
            </a:r>
            <a:r>
              <a:rPr sz="2400" b="1" spc="-10" dirty="0">
                <a:solidFill>
                  <a:srgbClr val="006FC0"/>
                </a:solidFill>
                <a:latin typeface="Calibri" panose="020F0502020204030204"/>
                <a:cs typeface="Calibri" panose="020F0502020204030204"/>
              </a:rPr>
              <a:t>by </a:t>
            </a:r>
            <a:r>
              <a:rPr sz="2400" b="1" spc="-530" dirty="0">
                <a:solidFill>
                  <a:srgbClr val="006FC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400" b="1" spc="-20" dirty="0">
                <a:solidFill>
                  <a:srgbClr val="006FC0"/>
                </a:solidFill>
                <a:latin typeface="Calibri" panose="020F0502020204030204"/>
                <a:cs typeface="Calibri" panose="020F0502020204030204"/>
              </a:rPr>
              <a:t>itself,</a:t>
            </a:r>
            <a:r>
              <a:rPr sz="2400" b="1" spc="15" dirty="0">
                <a:solidFill>
                  <a:srgbClr val="006FC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400" b="1" spc="-10" dirty="0">
                <a:solidFill>
                  <a:srgbClr val="006FC0"/>
                </a:solidFill>
                <a:latin typeface="Calibri" panose="020F0502020204030204"/>
                <a:cs typeface="Calibri" panose="020F0502020204030204"/>
              </a:rPr>
              <a:t>given</a:t>
            </a:r>
            <a:r>
              <a:rPr sz="2400" b="1" spc="-20" dirty="0">
                <a:solidFill>
                  <a:srgbClr val="006FC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400" b="1" spc="-15" dirty="0">
                <a:solidFill>
                  <a:srgbClr val="006FC0"/>
                </a:solidFill>
                <a:latin typeface="Calibri" panose="020F0502020204030204"/>
                <a:cs typeface="Calibri" panose="020F0502020204030204"/>
              </a:rPr>
              <a:t>many</a:t>
            </a:r>
            <a:r>
              <a:rPr sz="2400" b="1" dirty="0">
                <a:solidFill>
                  <a:srgbClr val="006FC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400" b="1" spc="-15" dirty="0">
                <a:solidFill>
                  <a:srgbClr val="006FC0"/>
                </a:solidFill>
                <a:latin typeface="Calibri" panose="020F0502020204030204"/>
                <a:cs typeface="Calibri" panose="020F0502020204030204"/>
              </a:rPr>
              <a:t>example </a:t>
            </a:r>
            <a:r>
              <a:rPr sz="2400" b="1" spc="-10" dirty="0">
                <a:solidFill>
                  <a:srgbClr val="006FC0"/>
                </a:solidFill>
                <a:latin typeface="Calibri" panose="020F0502020204030204"/>
                <a:cs typeface="Calibri" panose="020F0502020204030204"/>
              </a:rPr>
              <a:t>recordings</a:t>
            </a:r>
            <a:r>
              <a:rPr sz="2400" b="1" spc="-30" dirty="0">
                <a:solidFill>
                  <a:srgbClr val="006FC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400" b="1" spc="-15" dirty="0">
                <a:solidFill>
                  <a:srgbClr val="006FC0"/>
                </a:solidFill>
                <a:latin typeface="Calibri" panose="020F0502020204030204"/>
                <a:cs typeface="Calibri" panose="020F0502020204030204"/>
              </a:rPr>
              <a:t>for</a:t>
            </a:r>
            <a:r>
              <a:rPr sz="2400" b="1" dirty="0">
                <a:solidFill>
                  <a:srgbClr val="006FC0"/>
                </a:solidFill>
                <a:latin typeface="Calibri" panose="020F0502020204030204"/>
                <a:cs typeface="Calibri" panose="020F0502020204030204"/>
              </a:rPr>
              <a:t> each</a:t>
            </a:r>
            <a:r>
              <a:rPr sz="2400" b="1" spc="-15" dirty="0">
                <a:solidFill>
                  <a:srgbClr val="006FC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400" b="1" spc="-10" dirty="0">
                <a:solidFill>
                  <a:srgbClr val="006FC0"/>
                </a:solidFill>
                <a:latin typeface="Calibri" panose="020F0502020204030204"/>
                <a:cs typeface="Calibri" panose="020F0502020204030204"/>
              </a:rPr>
              <a:t>word.</a:t>
            </a:r>
            <a:endParaRPr sz="2400">
              <a:latin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506982" y="609676"/>
            <a:ext cx="613537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b="1" dirty="0">
                <a:solidFill>
                  <a:srgbClr val="2E5496"/>
                </a:solidFill>
                <a:latin typeface="Calibri" panose="020F0502020204030204"/>
                <a:cs typeface="Calibri" panose="020F0502020204030204"/>
              </a:rPr>
              <a:t>ML</a:t>
            </a:r>
            <a:r>
              <a:rPr sz="4400" b="1" spc="-10" dirty="0">
                <a:solidFill>
                  <a:srgbClr val="2E5496"/>
                </a:solidFill>
                <a:latin typeface="Calibri" panose="020F0502020204030204"/>
                <a:cs typeface="Calibri" panose="020F0502020204030204"/>
              </a:rPr>
              <a:t> can </a:t>
            </a:r>
            <a:r>
              <a:rPr sz="4400" b="1" dirty="0">
                <a:solidFill>
                  <a:srgbClr val="2E5496"/>
                </a:solidFill>
                <a:latin typeface="Calibri" panose="020F0502020204030204"/>
                <a:cs typeface="Calibri" panose="020F0502020204030204"/>
              </a:rPr>
              <a:t>help</a:t>
            </a:r>
            <a:r>
              <a:rPr sz="4400" b="1" spc="-30" dirty="0">
                <a:solidFill>
                  <a:srgbClr val="2E5496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4400" b="1" dirty="0">
                <a:solidFill>
                  <a:srgbClr val="2E5496"/>
                </a:solidFill>
                <a:latin typeface="Calibri" panose="020F0502020204030204"/>
                <a:cs typeface="Calibri" panose="020F0502020204030204"/>
              </a:rPr>
              <a:t>humans</a:t>
            </a:r>
            <a:r>
              <a:rPr sz="4400" b="1" spc="-30" dirty="0">
                <a:solidFill>
                  <a:srgbClr val="2E5496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4400" b="1" dirty="0">
                <a:solidFill>
                  <a:srgbClr val="2E5496"/>
                </a:solidFill>
                <a:latin typeface="Calibri" panose="020F0502020204030204"/>
                <a:cs typeface="Calibri" panose="020F0502020204030204"/>
              </a:rPr>
              <a:t>learn</a:t>
            </a:r>
            <a:endParaRPr sz="44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07542" y="1802638"/>
            <a:ext cx="7524115" cy="3229610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184785" marR="250190" indent="-172720" algn="just">
              <a:lnSpc>
                <a:spcPts val="2590"/>
              </a:lnSpc>
              <a:spcBef>
                <a:spcPts val="425"/>
              </a:spcBef>
              <a:buFont typeface="Arial MT"/>
              <a:buChar char="•"/>
              <a:tabLst>
                <a:tab pos="185420" algn="l"/>
              </a:tabLst>
            </a:pPr>
            <a:r>
              <a:rPr sz="2400" dirty="0">
                <a:solidFill>
                  <a:srgbClr val="6F2F9F"/>
                </a:solidFill>
                <a:latin typeface="Calibri" panose="020F0502020204030204"/>
                <a:cs typeface="Calibri" panose="020F0502020204030204"/>
              </a:rPr>
              <a:t>ML </a:t>
            </a:r>
            <a:r>
              <a:rPr sz="2400" spc="-5" dirty="0">
                <a:solidFill>
                  <a:srgbClr val="6F2F9F"/>
                </a:solidFill>
                <a:latin typeface="Calibri" panose="020F0502020204030204"/>
                <a:cs typeface="Calibri" panose="020F0502020204030204"/>
              </a:rPr>
              <a:t>algorithms </a:t>
            </a:r>
            <a:r>
              <a:rPr sz="2400" spc="-10" dirty="0">
                <a:solidFill>
                  <a:srgbClr val="6F2F9F"/>
                </a:solidFill>
                <a:latin typeface="Calibri" panose="020F0502020204030204"/>
                <a:cs typeface="Calibri" panose="020F0502020204030204"/>
              </a:rPr>
              <a:t>can </a:t>
            </a:r>
            <a:r>
              <a:rPr sz="2400" spc="-5" dirty="0">
                <a:solidFill>
                  <a:srgbClr val="6F2F9F"/>
                </a:solidFill>
                <a:latin typeface="Calibri" panose="020F0502020204030204"/>
                <a:cs typeface="Calibri" panose="020F0502020204030204"/>
              </a:rPr>
              <a:t>be inspected </a:t>
            </a:r>
            <a:r>
              <a:rPr sz="2400" spc="-15" dirty="0">
                <a:solidFill>
                  <a:srgbClr val="6F2F9F"/>
                </a:solidFill>
                <a:latin typeface="Calibri" panose="020F0502020204030204"/>
                <a:cs typeface="Calibri" panose="020F0502020204030204"/>
              </a:rPr>
              <a:t>to </a:t>
            </a:r>
            <a:r>
              <a:rPr sz="2400" spc="-5" dirty="0">
                <a:solidFill>
                  <a:srgbClr val="6F2F9F"/>
                </a:solidFill>
                <a:latin typeface="Calibri" panose="020F0502020204030204"/>
                <a:cs typeface="Calibri" panose="020F0502020204030204"/>
              </a:rPr>
              <a:t>see </a:t>
            </a:r>
            <a:r>
              <a:rPr sz="2400" spc="-10" dirty="0">
                <a:solidFill>
                  <a:srgbClr val="6F2F9F"/>
                </a:solidFill>
                <a:latin typeface="Calibri" panose="020F0502020204030204"/>
                <a:cs typeface="Calibri" panose="020F0502020204030204"/>
              </a:rPr>
              <a:t>what </a:t>
            </a:r>
            <a:r>
              <a:rPr sz="2400" spc="-5" dirty="0">
                <a:solidFill>
                  <a:srgbClr val="6F2F9F"/>
                </a:solidFill>
                <a:latin typeface="Calibri" panose="020F0502020204030204"/>
                <a:cs typeface="Calibri" panose="020F0502020204030204"/>
              </a:rPr>
              <a:t>they </a:t>
            </a:r>
            <a:r>
              <a:rPr sz="2400" spc="-20" dirty="0">
                <a:solidFill>
                  <a:srgbClr val="6F2F9F"/>
                </a:solidFill>
                <a:latin typeface="Calibri" panose="020F0502020204030204"/>
                <a:cs typeface="Calibri" panose="020F0502020204030204"/>
              </a:rPr>
              <a:t>have </a:t>
            </a:r>
            <a:r>
              <a:rPr sz="2400" spc="-15" dirty="0">
                <a:solidFill>
                  <a:srgbClr val="6F2F9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400" dirty="0">
                <a:solidFill>
                  <a:srgbClr val="6F2F9F"/>
                </a:solidFill>
                <a:latin typeface="Calibri" panose="020F0502020204030204"/>
                <a:cs typeface="Calibri" panose="020F0502020204030204"/>
              </a:rPr>
              <a:t>learned</a:t>
            </a:r>
            <a:r>
              <a:rPr sz="2400" spc="-15" dirty="0">
                <a:solidFill>
                  <a:srgbClr val="6F2F9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400" spc="-5" dirty="0">
                <a:solidFill>
                  <a:srgbClr val="6F2F9F"/>
                </a:solidFill>
                <a:latin typeface="Calibri" panose="020F0502020204030204"/>
                <a:cs typeface="Calibri" panose="020F0502020204030204"/>
              </a:rPr>
              <a:t>(although</a:t>
            </a:r>
            <a:r>
              <a:rPr sz="2400" spc="-25" dirty="0">
                <a:solidFill>
                  <a:srgbClr val="6F2F9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400" spc="-20" dirty="0">
                <a:solidFill>
                  <a:srgbClr val="6F2F9F"/>
                </a:solidFill>
                <a:latin typeface="Calibri" panose="020F0502020204030204"/>
                <a:cs typeface="Calibri" panose="020F0502020204030204"/>
              </a:rPr>
              <a:t>for</a:t>
            </a:r>
            <a:r>
              <a:rPr sz="2400" spc="-15" dirty="0">
                <a:solidFill>
                  <a:srgbClr val="6F2F9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400" spc="-5" dirty="0">
                <a:solidFill>
                  <a:srgbClr val="6F2F9F"/>
                </a:solidFill>
                <a:latin typeface="Calibri" panose="020F0502020204030204"/>
                <a:cs typeface="Calibri" panose="020F0502020204030204"/>
              </a:rPr>
              <a:t>some</a:t>
            </a:r>
            <a:r>
              <a:rPr sz="2400" spc="-20" dirty="0">
                <a:solidFill>
                  <a:srgbClr val="6F2F9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400" spc="-5" dirty="0">
                <a:solidFill>
                  <a:srgbClr val="6F2F9F"/>
                </a:solidFill>
                <a:latin typeface="Calibri" panose="020F0502020204030204"/>
                <a:cs typeface="Calibri" panose="020F0502020204030204"/>
              </a:rPr>
              <a:t>algorithms</a:t>
            </a:r>
            <a:r>
              <a:rPr sz="2400" spc="-40" dirty="0">
                <a:solidFill>
                  <a:srgbClr val="6F2F9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400" dirty="0">
                <a:solidFill>
                  <a:srgbClr val="6F2F9F"/>
                </a:solidFill>
                <a:latin typeface="Calibri" panose="020F0502020204030204"/>
                <a:cs typeface="Calibri" panose="020F0502020204030204"/>
              </a:rPr>
              <a:t>this</a:t>
            </a:r>
            <a:r>
              <a:rPr sz="2400" spc="-5" dirty="0">
                <a:solidFill>
                  <a:srgbClr val="6F2F9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400" spc="-10" dirty="0">
                <a:solidFill>
                  <a:srgbClr val="6F2F9F"/>
                </a:solidFill>
                <a:latin typeface="Calibri" panose="020F0502020204030204"/>
                <a:cs typeface="Calibri" panose="020F0502020204030204"/>
              </a:rPr>
              <a:t>can</a:t>
            </a:r>
            <a:r>
              <a:rPr sz="2400" spc="-15" dirty="0">
                <a:solidFill>
                  <a:srgbClr val="6F2F9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400" spc="-5" dirty="0">
                <a:solidFill>
                  <a:srgbClr val="6F2F9F"/>
                </a:solidFill>
                <a:latin typeface="Calibri" panose="020F0502020204030204"/>
                <a:cs typeface="Calibri" panose="020F0502020204030204"/>
              </a:rPr>
              <a:t>be</a:t>
            </a:r>
            <a:r>
              <a:rPr sz="2400" spc="-10" dirty="0">
                <a:solidFill>
                  <a:srgbClr val="6F2F9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400" dirty="0">
                <a:solidFill>
                  <a:srgbClr val="6F2F9F"/>
                </a:solidFill>
                <a:latin typeface="Calibri" panose="020F0502020204030204"/>
                <a:cs typeface="Calibri" panose="020F0502020204030204"/>
              </a:rPr>
              <a:t>tricky).</a:t>
            </a:r>
            <a:endParaRPr sz="2400">
              <a:latin typeface="Calibri" panose="020F0502020204030204"/>
              <a:cs typeface="Calibri" panose="020F0502020204030204"/>
            </a:endParaRPr>
          </a:p>
          <a:p>
            <a:pPr marL="184785" marR="43180" indent="-172720" algn="just">
              <a:lnSpc>
                <a:spcPts val="2590"/>
              </a:lnSpc>
              <a:spcBef>
                <a:spcPts val="815"/>
              </a:spcBef>
              <a:buFont typeface="Arial MT"/>
              <a:buChar char="•"/>
              <a:tabLst>
                <a:tab pos="185420" algn="l"/>
              </a:tabLst>
            </a:pPr>
            <a:r>
              <a:rPr sz="2400" spc="-1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For </a:t>
            </a:r>
            <a:r>
              <a:rPr sz="2400" spc="-1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instance, </a:t>
            </a:r>
            <a:r>
              <a:rPr sz="2400" spc="-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once </a:t>
            </a:r>
            <a:r>
              <a:rPr sz="240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the </a:t>
            </a:r>
            <a:r>
              <a:rPr sz="2400" spc="-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spam </a:t>
            </a:r>
            <a:r>
              <a:rPr sz="2400" spc="-1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filter </a:t>
            </a:r>
            <a:r>
              <a:rPr sz="2400" spc="-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has been </a:t>
            </a:r>
            <a:r>
              <a:rPr sz="2400" spc="-1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trained </a:t>
            </a:r>
            <a:r>
              <a:rPr sz="2400" spc="-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on </a:t>
            </a:r>
            <a:r>
              <a:rPr sz="240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 enough </a:t>
            </a:r>
            <a:r>
              <a:rPr sz="2400" spc="-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spam, </a:t>
            </a:r>
            <a:r>
              <a:rPr sz="240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it </a:t>
            </a:r>
            <a:r>
              <a:rPr sz="2400" spc="-1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can </a:t>
            </a:r>
            <a:r>
              <a:rPr sz="2400" spc="-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easily be inspected </a:t>
            </a:r>
            <a:r>
              <a:rPr sz="2400" spc="-1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to reveal </a:t>
            </a:r>
            <a:r>
              <a:rPr sz="240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the </a:t>
            </a:r>
            <a:r>
              <a:rPr sz="2400" spc="-1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list </a:t>
            </a:r>
            <a:r>
              <a:rPr sz="2400" spc="-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of </a:t>
            </a:r>
            <a:r>
              <a:rPr sz="2400" spc="-53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400" spc="-1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words</a:t>
            </a:r>
            <a:r>
              <a:rPr sz="2400" spc="-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40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and</a:t>
            </a:r>
            <a:r>
              <a:rPr sz="2400" spc="-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400" spc="-1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combinations </a:t>
            </a:r>
            <a:r>
              <a:rPr sz="2400" spc="-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of </a:t>
            </a:r>
            <a:r>
              <a:rPr sz="2400" spc="-2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words</a:t>
            </a:r>
            <a:r>
              <a:rPr sz="2400" spc="-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400" spc="-1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that</a:t>
            </a:r>
            <a:r>
              <a:rPr sz="240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 it</a:t>
            </a:r>
            <a:r>
              <a:rPr sz="2400" spc="-1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400" spc="-1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believes</a:t>
            </a:r>
            <a:r>
              <a:rPr sz="240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400" spc="-1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are</a:t>
            </a:r>
            <a:r>
              <a:rPr sz="240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 the </a:t>
            </a:r>
            <a:r>
              <a:rPr sz="2400" spc="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400" spc="-1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best</a:t>
            </a:r>
            <a:r>
              <a:rPr sz="2400" spc="-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400" spc="-1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predictors</a:t>
            </a:r>
            <a:r>
              <a:rPr sz="2400" spc="-2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400" spc="-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of</a:t>
            </a:r>
            <a:r>
              <a:rPr sz="2400" spc="-1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400" spc="-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spam.</a:t>
            </a:r>
            <a:endParaRPr sz="2400">
              <a:latin typeface="Calibri" panose="020F0502020204030204"/>
              <a:cs typeface="Calibri" panose="020F0502020204030204"/>
            </a:endParaRPr>
          </a:p>
          <a:p>
            <a:pPr marL="184785" marR="5080" indent="-172720" algn="just">
              <a:lnSpc>
                <a:spcPts val="2590"/>
              </a:lnSpc>
              <a:spcBef>
                <a:spcPts val="810"/>
              </a:spcBef>
              <a:buFont typeface="Arial MT"/>
              <a:buChar char="•"/>
              <a:tabLst>
                <a:tab pos="185420" algn="l"/>
              </a:tabLst>
            </a:pPr>
            <a:r>
              <a:rPr sz="2400" spc="-5" dirty="0">
                <a:latin typeface="Calibri" panose="020F0502020204030204"/>
                <a:cs typeface="Calibri" panose="020F0502020204030204"/>
              </a:rPr>
              <a:t>Sometimes </a:t>
            </a:r>
            <a:r>
              <a:rPr sz="2400" dirty="0">
                <a:latin typeface="Calibri" panose="020F0502020204030204"/>
                <a:cs typeface="Calibri" panose="020F0502020204030204"/>
              </a:rPr>
              <a:t>this will </a:t>
            </a:r>
            <a:r>
              <a:rPr sz="2400" spc="-15" dirty="0">
                <a:latin typeface="Calibri" panose="020F0502020204030204"/>
                <a:cs typeface="Calibri" panose="020F0502020204030204"/>
              </a:rPr>
              <a:t>reveal </a:t>
            </a:r>
            <a:r>
              <a:rPr sz="2400" spc="-10" dirty="0">
                <a:latin typeface="Calibri" panose="020F0502020204030204"/>
                <a:cs typeface="Calibri" panose="020F0502020204030204"/>
              </a:rPr>
              <a:t>unsuspected correlations </a:t>
            </a:r>
            <a:r>
              <a:rPr sz="2400" spc="-5" dirty="0">
                <a:latin typeface="Calibri" panose="020F0502020204030204"/>
                <a:cs typeface="Calibri" panose="020F0502020204030204"/>
              </a:rPr>
              <a:t>or </a:t>
            </a:r>
            <a:r>
              <a:rPr sz="2400" spc="-10" dirty="0">
                <a:latin typeface="Calibri" panose="020F0502020204030204"/>
                <a:cs typeface="Calibri" panose="020F0502020204030204"/>
              </a:rPr>
              <a:t>new </a:t>
            </a:r>
            <a:r>
              <a:rPr sz="2400" spc="-530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spc="-5" dirty="0">
                <a:latin typeface="Calibri" panose="020F0502020204030204"/>
                <a:cs typeface="Calibri" panose="020F0502020204030204"/>
              </a:rPr>
              <a:t>trends, </a:t>
            </a:r>
            <a:r>
              <a:rPr sz="2400" dirty="0">
                <a:latin typeface="Calibri" panose="020F0502020204030204"/>
                <a:cs typeface="Calibri" panose="020F0502020204030204"/>
              </a:rPr>
              <a:t>and </a:t>
            </a:r>
            <a:r>
              <a:rPr sz="2400" spc="-10" dirty="0">
                <a:latin typeface="Calibri" panose="020F0502020204030204"/>
                <a:cs typeface="Calibri" panose="020F0502020204030204"/>
              </a:rPr>
              <a:t>thereby </a:t>
            </a:r>
            <a:r>
              <a:rPr sz="2400" dirty="0">
                <a:latin typeface="Calibri" panose="020F0502020204030204"/>
                <a:cs typeface="Calibri" panose="020F0502020204030204"/>
              </a:rPr>
              <a:t>lead </a:t>
            </a:r>
            <a:r>
              <a:rPr sz="2400" spc="-15" dirty="0">
                <a:latin typeface="Calibri" panose="020F0502020204030204"/>
                <a:cs typeface="Calibri" panose="020F0502020204030204"/>
              </a:rPr>
              <a:t>to </a:t>
            </a:r>
            <a:r>
              <a:rPr sz="2400" dirty="0">
                <a:latin typeface="Calibri" panose="020F0502020204030204"/>
                <a:cs typeface="Calibri" panose="020F0502020204030204"/>
              </a:rPr>
              <a:t>a </a:t>
            </a:r>
            <a:r>
              <a:rPr sz="2400" spc="-15" dirty="0">
                <a:latin typeface="Calibri" panose="020F0502020204030204"/>
                <a:cs typeface="Calibri" panose="020F0502020204030204"/>
              </a:rPr>
              <a:t>better </a:t>
            </a:r>
            <a:r>
              <a:rPr sz="2400" spc="-10" dirty="0">
                <a:latin typeface="Calibri" panose="020F0502020204030204"/>
                <a:cs typeface="Calibri" panose="020F0502020204030204"/>
              </a:rPr>
              <a:t>understanding </a:t>
            </a:r>
            <a:r>
              <a:rPr sz="2400" spc="-5" dirty="0">
                <a:latin typeface="Calibri" panose="020F0502020204030204"/>
                <a:cs typeface="Calibri" panose="020F0502020204030204"/>
              </a:rPr>
              <a:t>of </a:t>
            </a:r>
            <a:r>
              <a:rPr sz="2400" dirty="0">
                <a:latin typeface="Calibri" panose="020F0502020204030204"/>
                <a:cs typeface="Calibri" panose="020F0502020204030204"/>
              </a:rPr>
              <a:t>the </a:t>
            </a:r>
            <a:r>
              <a:rPr sz="2400" spc="5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spc="-10" dirty="0">
                <a:latin typeface="Calibri" panose="020F0502020204030204"/>
                <a:cs typeface="Calibri" panose="020F0502020204030204"/>
              </a:rPr>
              <a:t>problem.</a:t>
            </a:r>
            <a:endParaRPr sz="2400">
              <a:latin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1828800" y="1580388"/>
            <a:ext cx="5791200" cy="4870704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506982" y="609676"/>
            <a:ext cx="613537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b="1" dirty="0">
                <a:solidFill>
                  <a:srgbClr val="2E5496"/>
                </a:solidFill>
                <a:latin typeface="Calibri" panose="020F0502020204030204"/>
                <a:cs typeface="Calibri" panose="020F0502020204030204"/>
              </a:rPr>
              <a:t>ML</a:t>
            </a:r>
            <a:r>
              <a:rPr sz="4400" b="1" spc="-10" dirty="0">
                <a:solidFill>
                  <a:srgbClr val="2E5496"/>
                </a:solidFill>
                <a:latin typeface="Calibri" panose="020F0502020204030204"/>
                <a:cs typeface="Calibri" panose="020F0502020204030204"/>
              </a:rPr>
              <a:t> can </a:t>
            </a:r>
            <a:r>
              <a:rPr sz="4400" b="1" dirty="0">
                <a:solidFill>
                  <a:srgbClr val="2E5496"/>
                </a:solidFill>
                <a:latin typeface="Calibri" panose="020F0502020204030204"/>
                <a:cs typeface="Calibri" panose="020F0502020204030204"/>
              </a:rPr>
              <a:t>help</a:t>
            </a:r>
            <a:r>
              <a:rPr sz="4400" b="1" spc="-30" dirty="0">
                <a:solidFill>
                  <a:srgbClr val="2E5496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4400" b="1" dirty="0">
                <a:solidFill>
                  <a:srgbClr val="2E5496"/>
                </a:solidFill>
                <a:latin typeface="Calibri" panose="020F0502020204030204"/>
                <a:cs typeface="Calibri" panose="020F0502020204030204"/>
              </a:rPr>
              <a:t>humans</a:t>
            </a:r>
            <a:r>
              <a:rPr sz="4400" b="1" spc="-30" dirty="0">
                <a:solidFill>
                  <a:srgbClr val="2E5496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4400" b="1" dirty="0">
                <a:solidFill>
                  <a:srgbClr val="2E5496"/>
                </a:solidFill>
                <a:latin typeface="Calibri" panose="020F0502020204030204"/>
                <a:cs typeface="Calibri" panose="020F0502020204030204"/>
              </a:rPr>
              <a:t>learn</a:t>
            </a:r>
            <a:endParaRPr sz="4400">
              <a:latin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400047" y="609676"/>
            <a:ext cx="635254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b="1" spc="-30" dirty="0">
                <a:solidFill>
                  <a:srgbClr val="2E5496"/>
                </a:solidFill>
                <a:latin typeface="Calibri" panose="020F0502020204030204"/>
                <a:cs typeface="Calibri" panose="020F0502020204030204"/>
              </a:rPr>
              <a:t>Why</a:t>
            </a:r>
            <a:r>
              <a:rPr sz="4400" b="1" spc="-10" dirty="0">
                <a:solidFill>
                  <a:srgbClr val="2E5496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4400" b="1" dirty="0">
                <a:solidFill>
                  <a:srgbClr val="2E5496"/>
                </a:solidFill>
                <a:latin typeface="Calibri" panose="020F0502020204030204"/>
                <a:cs typeface="Calibri" panose="020F0502020204030204"/>
              </a:rPr>
              <a:t>and</a:t>
            </a:r>
            <a:r>
              <a:rPr sz="4400" b="1" spc="-10" dirty="0">
                <a:solidFill>
                  <a:srgbClr val="2E5496"/>
                </a:solidFill>
                <a:latin typeface="Calibri" panose="020F0502020204030204"/>
                <a:cs typeface="Calibri" panose="020F0502020204030204"/>
              </a:rPr>
              <a:t> where</a:t>
            </a:r>
            <a:r>
              <a:rPr sz="4400" b="1" spc="-15" dirty="0">
                <a:solidFill>
                  <a:srgbClr val="2E5496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4400" b="1" spc="-25" dirty="0">
                <a:solidFill>
                  <a:srgbClr val="2E5496"/>
                </a:solidFill>
                <a:latin typeface="Calibri" panose="020F0502020204030204"/>
                <a:cs typeface="Calibri" panose="020F0502020204030204"/>
              </a:rPr>
              <a:t>to</a:t>
            </a:r>
            <a:r>
              <a:rPr sz="4400" b="1" spc="-10" dirty="0">
                <a:solidFill>
                  <a:srgbClr val="2E5496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4400" b="1" dirty="0">
                <a:solidFill>
                  <a:srgbClr val="2E5496"/>
                </a:solidFill>
                <a:latin typeface="Calibri" panose="020F0502020204030204"/>
                <a:cs typeface="Calibri" panose="020F0502020204030204"/>
              </a:rPr>
              <a:t>use</a:t>
            </a:r>
            <a:r>
              <a:rPr sz="4400" b="1" spc="-10" dirty="0">
                <a:solidFill>
                  <a:srgbClr val="2E5496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4400" b="1" spc="-5" dirty="0">
                <a:solidFill>
                  <a:srgbClr val="2E5496"/>
                </a:solidFill>
                <a:latin typeface="Calibri" panose="020F0502020204030204"/>
                <a:cs typeface="Calibri" panose="020F0502020204030204"/>
              </a:rPr>
              <a:t>ML?</a:t>
            </a:r>
            <a:endParaRPr sz="44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85800" y="1447800"/>
            <a:ext cx="7657465" cy="5175885"/>
          </a:xfrm>
          <a:prstGeom prst="rect">
            <a:avLst/>
          </a:prstGeom>
        </p:spPr>
        <p:txBody>
          <a:bodyPr vert="horz" wrap="square" lIns="0" tIns="48260" rIns="0" bIns="0" rtlCol="0">
            <a:noAutofit/>
          </a:bodyPr>
          <a:lstStyle/>
          <a:p>
            <a:pPr marL="184785" marR="5080" indent="-172720" algn="just">
              <a:lnSpc>
                <a:spcPct val="150000"/>
              </a:lnSpc>
              <a:spcBef>
                <a:spcPts val="380"/>
              </a:spcBef>
              <a:buFont typeface="Arial MT"/>
              <a:buChar char="•"/>
              <a:tabLst>
                <a:tab pos="185420" algn="l"/>
              </a:tabLst>
            </a:pPr>
            <a:r>
              <a:rPr sz="2100" spc="-10" dirty="0">
                <a:latin typeface="Calibri" panose="020F0502020204030204"/>
                <a:cs typeface="Calibri" panose="020F0502020204030204"/>
              </a:rPr>
              <a:t>Problems</a:t>
            </a:r>
            <a:r>
              <a:rPr sz="2100" spc="25" dirty="0">
                <a:latin typeface="Calibri" panose="020F0502020204030204"/>
                <a:cs typeface="Calibri" panose="020F0502020204030204"/>
              </a:rPr>
              <a:t> </a:t>
            </a:r>
            <a:r>
              <a:rPr sz="2100" spc="-20" dirty="0">
                <a:latin typeface="Calibri" panose="020F0502020204030204"/>
                <a:cs typeface="Calibri" panose="020F0502020204030204"/>
              </a:rPr>
              <a:t>for</a:t>
            </a:r>
            <a:r>
              <a:rPr sz="2100" spc="5" dirty="0">
                <a:latin typeface="Calibri" panose="020F0502020204030204"/>
                <a:cs typeface="Calibri" panose="020F0502020204030204"/>
              </a:rPr>
              <a:t> </a:t>
            </a:r>
            <a:r>
              <a:rPr sz="2100" dirty="0">
                <a:latin typeface="Calibri" panose="020F0502020204030204"/>
                <a:cs typeface="Calibri" panose="020F0502020204030204"/>
              </a:rPr>
              <a:t>which</a:t>
            </a:r>
            <a:r>
              <a:rPr sz="2100" spc="-10" dirty="0">
                <a:latin typeface="Calibri" panose="020F0502020204030204"/>
                <a:cs typeface="Calibri" panose="020F0502020204030204"/>
              </a:rPr>
              <a:t> existing</a:t>
            </a:r>
            <a:r>
              <a:rPr sz="2100" spc="20" dirty="0">
                <a:latin typeface="Calibri" panose="020F0502020204030204"/>
                <a:cs typeface="Calibri" panose="020F0502020204030204"/>
              </a:rPr>
              <a:t> </a:t>
            </a:r>
            <a:r>
              <a:rPr sz="2100" spc="-5" dirty="0">
                <a:latin typeface="Calibri" panose="020F0502020204030204"/>
                <a:cs typeface="Calibri" panose="020F0502020204030204"/>
              </a:rPr>
              <a:t>solutions</a:t>
            </a:r>
            <a:r>
              <a:rPr sz="2100" spc="30" dirty="0">
                <a:latin typeface="Calibri" panose="020F0502020204030204"/>
                <a:cs typeface="Calibri" panose="020F0502020204030204"/>
              </a:rPr>
              <a:t> </a:t>
            </a:r>
            <a:r>
              <a:rPr sz="2100" spc="-10" dirty="0">
                <a:latin typeface="Calibri" panose="020F0502020204030204"/>
                <a:cs typeface="Calibri" panose="020F0502020204030204"/>
              </a:rPr>
              <a:t>require</a:t>
            </a:r>
            <a:r>
              <a:rPr sz="2100" spc="-5" dirty="0">
                <a:latin typeface="Calibri" panose="020F0502020204030204"/>
                <a:cs typeface="Calibri" panose="020F0502020204030204"/>
              </a:rPr>
              <a:t> </a:t>
            </a:r>
            <a:r>
              <a:rPr sz="2100" dirty="0">
                <a:latin typeface="Calibri" panose="020F0502020204030204"/>
                <a:cs typeface="Calibri" panose="020F0502020204030204"/>
              </a:rPr>
              <a:t>a</a:t>
            </a:r>
            <a:r>
              <a:rPr sz="2100" spc="-5" dirty="0">
                <a:latin typeface="Calibri" panose="020F0502020204030204"/>
                <a:cs typeface="Calibri" panose="020F0502020204030204"/>
              </a:rPr>
              <a:t> lot</a:t>
            </a:r>
            <a:r>
              <a:rPr sz="2100" spc="10" dirty="0">
                <a:latin typeface="Calibri" panose="020F0502020204030204"/>
                <a:cs typeface="Calibri" panose="020F0502020204030204"/>
              </a:rPr>
              <a:t> </a:t>
            </a:r>
            <a:r>
              <a:rPr sz="2100" spc="-5" dirty="0">
                <a:latin typeface="Calibri" panose="020F0502020204030204"/>
                <a:cs typeface="Calibri" panose="020F0502020204030204"/>
              </a:rPr>
              <a:t>of</a:t>
            </a:r>
            <a:r>
              <a:rPr sz="2100" spc="-10" dirty="0">
                <a:latin typeface="Calibri" panose="020F0502020204030204"/>
                <a:cs typeface="Calibri" panose="020F0502020204030204"/>
              </a:rPr>
              <a:t> </a:t>
            </a:r>
            <a:r>
              <a:rPr sz="2100" dirty="0">
                <a:latin typeface="Calibri" panose="020F0502020204030204"/>
                <a:cs typeface="Calibri" panose="020F0502020204030204"/>
              </a:rPr>
              <a:t>fine-tuning</a:t>
            </a:r>
            <a:r>
              <a:rPr sz="2100" spc="-20" dirty="0">
                <a:latin typeface="Calibri" panose="020F0502020204030204"/>
                <a:cs typeface="Calibri" panose="020F0502020204030204"/>
              </a:rPr>
              <a:t> </a:t>
            </a:r>
            <a:r>
              <a:rPr sz="2100" spc="-5" dirty="0">
                <a:latin typeface="Calibri" panose="020F0502020204030204"/>
                <a:cs typeface="Calibri" panose="020F0502020204030204"/>
              </a:rPr>
              <a:t>or </a:t>
            </a:r>
            <a:r>
              <a:rPr sz="2100" dirty="0">
                <a:latin typeface="Calibri" panose="020F0502020204030204"/>
                <a:cs typeface="Calibri" panose="020F0502020204030204"/>
              </a:rPr>
              <a:t> long </a:t>
            </a:r>
            <a:r>
              <a:rPr sz="2100" spc="-10" dirty="0">
                <a:latin typeface="Calibri" panose="020F0502020204030204"/>
                <a:cs typeface="Calibri" panose="020F0502020204030204"/>
              </a:rPr>
              <a:t>lists</a:t>
            </a:r>
            <a:r>
              <a:rPr sz="2100" spc="25" dirty="0">
                <a:latin typeface="Calibri" panose="020F0502020204030204"/>
                <a:cs typeface="Calibri" panose="020F0502020204030204"/>
              </a:rPr>
              <a:t> </a:t>
            </a:r>
            <a:r>
              <a:rPr sz="2100" spc="-5" dirty="0">
                <a:latin typeface="Calibri" panose="020F0502020204030204"/>
                <a:cs typeface="Calibri" panose="020F0502020204030204"/>
              </a:rPr>
              <a:t>of</a:t>
            </a:r>
            <a:r>
              <a:rPr sz="2100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sz="2100" dirty="0">
                <a:latin typeface="Calibri" panose="020F0502020204030204"/>
                <a:cs typeface="Calibri" panose="020F0502020204030204"/>
              </a:rPr>
              <a:t>rules:</a:t>
            </a:r>
            <a:r>
              <a:rPr sz="2100" spc="10" dirty="0">
                <a:latin typeface="Calibri" panose="020F0502020204030204"/>
                <a:cs typeface="Calibri" panose="020F0502020204030204"/>
              </a:rPr>
              <a:t> </a:t>
            </a:r>
            <a:r>
              <a:rPr sz="2100" spc="-5" dirty="0">
                <a:latin typeface="Calibri" panose="020F0502020204030204"/>
                <a:cs typeface="Calibri" panose="020F0502020204030204"/>
              </a:rPr>
              <a:t>one</a:t>
            </a:r>
            <a:r>
              <a:rPr sz="2100" spc="10" dirty="0">
                <a:latin typeface="Calibri" panose="020F0502020204030204"/>
                <a:cs typeface="Calibri" panose="020F0502020204030204"/>
              </a:rPr>
              <a:t> </a:t>
            </a:r>
            <a:r>
              <a:rPr sz="2100" dirty="0">
                <a:latin typeface="Calibri" panose="020F0502020204030204"/>
                <a:cs typeface="Calibri" panose="020F0502020204030204"/>
              </a:rPr>
              <a:t>Machine</a:t>
            </a:r>
            <a:r>
              <a:rPr sz="2100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sz="2100" spc="-5" dirty="0">
                <a:latin typeface="Calibri" panose="020F0502020204030204"/>
                <a:cs typeface="Calibri" panose="020F0502020204030204"/>
              </a:rPr>
              <a:t>Learning</a:t>
            </a:r>
            <a:r>
              <a:rPr sz="2100" dirty="0">
                <a:latin typeface="Calibri" panose="020F0502020204030204"/>
                <a:cs typeface="Calibri" panose="020F0502020204030204"/>
              </a:rPr>
              <a:t> </a:t>
            </a:r>
            <a:r>
              <a:rPr sz="2100" spc="-5" dirty="0">
                <a:latin typeface="Calibri" panose="020F0502020204030204"/>
                <a:cs typeface="Calibri" panose="020F0502020204030204"/>
              </a:rPr>
              <a:t>algorithm</a:t>
            </a:r>
            <a:r>
              <a:rPr sz="2100" dirty="0">
                <a:latin typeface="Calibri" panose="020F0502020204030204"/>
                <a:cs typeface="Calibri" panose="020F0502020204030204"/>
              </a:rPr>
              <a:t> </a:t>
            </a:r>
            <a:r>
              <a:rPr sz="2100" spc="-5" dirty="0">
                <a:latin typeface="Calibri" panose="020F0502020204030204"/>
                <a:cs typeface="Calibri" panose="020F0502020204030204"/>
              </a:rPr>
              <a:t>can</a:t>
            </a:r>
            <a:r>
              <a:rPr sz="2100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sz="2100" spc="-10" dirty="0">
                <a:latin typeface="Calibri" panose="020F0502020204030204"/>
                <a:cs typeface="Calibri" panose="020F0502020204030204"/>
              </a:rPr>
              <a:t>often</a:t>
            </a:r>
            <a:r>
              <a:rPr sz="2100" dirty="0">
                <a:latin typeface="Calibri" panose="020F0502020204030204"/>
                <a:cs typeface="Calibri" panose="020F0502020204030204"/>
              </a:rPr>
              <a:t> </a:t>
            </a:r>
            <a:r>
              <a:rPr sz="2100" spc="-5" dirty="0">
                <a:latin typeface="Calibri" panose="020F0502020204030204"/>
                <a:cs typeface="Calibri" panose="020F0502020204030204"/>
              </a:rPr>
              <a:t>simplify </a:t>
            </a:r>
            <a:r>
              <a:rPr sz="2100" spc="-459" dirty="0">
                <a:latin typeface="Calibri" panose="020F0502020204030204"/>
                <a:cs typeface="Calibri" panose="020F0502020204030204"/>
              </a:rPr>
              <a:t> </a:t>
            </a:r>
            <a:r>
              <a:rPr sz="2100" spc="-10" dirty="0">
                <a:latin typeface="Calibri" panose="020F0502020204030204"/>
                <a:cs typeface="Calibri" panose="020F0502020204030204"/>
              </a:rPr>
              <a:t>code </a:t>
            </a:r>
            <a:r>
              <a:rPr sz="2100" dirty="0">
                <a:latin typeface="Calibri" panose="020F0502020204030204"/>
                <a:cs typeface="Calibri" panose="020F0502020204030204"/>
              </a:rPr>
              <a:t>and</a:t>
            </a:r>
            <a:r>
              <a:rPr sz="2100" spc="-15" dirty="0">
                <a:latin typeface="Calibri" panose="020F0502020204030204"/>
                <a:cs typeface="Calibri" panose="020F0502020204030204"/>
              </a:rPr>
              <a:t> perform</a:t>
            </a:r>
            <a:r>
              <a:rPr sz="2100" spc="20" dirty="0">
                <a:latin typeface="Calibri" panose="020F0502020204030204"/>
                <a:cs typeface="Calibri" panose="020F0502020204030204"/>
              </a:rPr>
              <a:t> </a:t>
            </a:r>
            <a:r>
              <a:rPr sz="2100" spc="-15" dirty="0">
                <a:latin typeface="Calibri" panose="020F0502020204030204"/>
                <a:cs typeface="Calibri" panose="020F0502020204030204"/>
              </a:rPr>
              <a:t>better </a:t>
            </a:r>
            <a:r>
              <a:rPr sz="2100" dirty="0">
                <a:latin typeface="Calibri" panose="020F0502020204030204"/>
                <a:cs typeface="Calibri" panose="020F0502020204030204"/>
              </a:rPr>
              <a:t>than</a:t>
            </a:r>
            <a:r>
              <a:rPr sz="2100" spc="-25" dirty="0">
                <a:latin typeface="Calibri" panose="020F0502020204030204"/>
                <a:cs typeface="Calibri" panose="020F0502020204030204"/>
              </a:rPr>
              <a:t> </a:t>
            </a:r>
            <a:r>
              <a:rPr sz="2100" dirty="0">
                <a:latin typeface="Calibri" panose="020F0502020204030204"/>
                <a:cs typeface="Calibri" panose="020F0502020204030204"/>
              </a:rPr>
              <a:t>the</a:t>
            </a:r>
            <a:r>
              <a:rPr sz="2100" spc="5" dirty="0">
                <a:latin typeface="Calibri" panose="020F0502020204030204"/>
                <a:cs typeface="Calibri" panose="020F0502020204030204"/>
              </a:rPr>
              <a:t> </a:t>
            </a:r>
            <a:r>
              <a:rPr sz="2100" spc="-5" dirty="0">
                <a:latin typeface="Calibri" panose="020F0502020204030204"/>
                <a:cs typeface="Calibri" panose="020F0502020204030204"/>
              </a:rPr>
              <a:t>traditional</a:t>
            </a:r>
            <a:r>
              <a:rPr sz="2100" spc="-10" dirty="0">
                <a:latin typeface="Calibri" panose="020F0502020204030204"/>
                <a:cs typeface="Calibri" panose="020F0502020204030204"/>
              </a:rPr>
              <a:t> approach.</a:t>
            </a:r>
            <a:endParaRPr sz="2100">
              <a:latin typeface="Calibri" panose="020F0502020204030204"/>
              <a:cs typeface="Calibri" panose="020F0502020204030204"/>
            </a:endParaRPr>
          </a:p>
          <a:p>
            <a:pPr marL="184785" marR="260350" indent="-172720" algn="just">
              <a:lnSpc>
                <a:spcPct val="150000"/>
              </a:lnSpc>
              <a:spcBef>
                <a:spcPts val="790"/>
              </a:spcBef>
              <a:buFont typeface="Arial MT"/>
              <a:buChar char="•"/>
              <a:tabLst>
                <a:tab pos="185420" algn="l"/>
              </a:tabLst>
            </a:pPr>
            <a:r>
              <a:rPr sz="2100" spc="-10" dirty="0">
                <a:latin typeface="Calibri" panose="020F0502020204030204"/>
                <a:cs typeface="Calibri" panose="020F0502020204030204"/>
              </a:rPr>
              <a:t>Complex problems </a:t>
            </a:r>
            <a:r>
              <a:rPr sz="2100" spc="-20" dirty="0">
                <a:latin typeface="Calibri" panose="020F0502020204030204"/>
                <a:cs typeface="Calibri" panose="020F0502020204030204"/>
              </a:rPr>
              <a:t>for </a:t>
            </a:r>
            <a:r>
              <a:rPr sz="2100" dirty="0">
                <a:latin typeface="Calibri" panose="020F0502020204030204"/>
                <a:cs typeface="Calibri" panose="020F0502020204030204"/>
              </a:rPr>
              <a:t>which </a:t>
            </a:r>
            <a:r>
              <a:rPr sz="2100" spc="-5" dirty="0">
                <a:latin typeface="Calibri" panose="020F0502020204030204"/>
                <a:cs typeface="Calibri" panose="020F0502020204030204"/>
              </a:rPr>
              <a:t>using </a:t>
            </a:r>
            <a:r>
              <a:rPr sz="2100" dirty="0">
                <a:latin typeface="Calibri" panose="020F0502020204030204"/>
                <a:cs typeface="Calibri" panose="020F0502020204030204"/>
              </a:rPr>
              <a:t>a </a:t>
            </a:r>
            <a:r>
              <a:rPr sz="2100" spc="-5" dirty="0">
                <a:latin typeface="Calibri" panose="020F0502020204030204"/>
                <a:cs typeface="Calibri" panose="020F0502020204030204"/>
              </a:rPr>
              <a:t>traditional </a:t>
            </a:r>
            <a:r>
              <a:rPr sz="2100" spc="-10" dirty="0">
                <a:latin typeface="Calibri" panose="020F0502020204030204"/>
                <a:cs typeface="Calibri" panose="020F0502020204030204"/>
              </a:rPr>
              <a:t>approach </a:t>
            </a:r>
            <a:r>
              <a:rPr sz="2100" spc="-5" dirty="0">
                <a:latin typeface="Calibri" panose="020F0502020204030204"/>
                <a:cs typeface="Calibri" panose="020F0502020204030204"/>
              </a:rPr>
              <a:t>yields no </a:t>
            </a:r>
            <a:r>
              <a:rPr sz="2100" spc="-459" dirty="0">
                <a:latin typeface="Calibri" panose="020F0502020204030204"/>
                <a:cs typeface="Calibri" panose="020F0502020204030204"/>
              </a:rPr>
              <a:t> </a:t>
            </a:r>
            <a:r>
              <a:rPr sz="2100" spc="-10" dirty="0">
                <a:latin typeface="Calibri" panose="020F0502020204030204"/>
                <a:cs typeface="Calibri" panose="020F0502020204030204"/>
              </a:rPr>
              <a:t>good </a:t>
            </a:r>
            <a:r>
              <a:rPr sz="2100" spc="-5" dirty="0">
                <a:latin typeface="Calibri" panose="020F0502020204030204"/>
                <a:cs typeface="Calibri" panose="020F0502020204030204"/>
              </a:rPr>
              <a:t>solution: </a:t>
            </a:r>
            <a:r>
              <a:rPr sz="2100" dirty="0">
                <a:latin typeface="Calibri" panose="020F0502020204030204"/>
                <a:cs typeface="Calibri" panose="020F0502020204030204"/>
              </a:rPr>
              <a:t>the </a:t>
            </a:r>
            <a:r>
              <a:rPr sz="2100" spc="-15" dirty="0">
                <a:latin typeface="Calibri" panose="020F0502020204030204"/>
                <a:cs typeface="Calibri" panose="020F0502020204030204"/>
              </a:rPr>
              <a:t>best </a:t>
            </a:r>
            <a:r>
              <a:rPr sz="2100" dirty="0">
                <a:latin typeface="Calibri" panose="020F0502020204030204"/>
                <a:cs typeface="Calibri" panose="020F0502020204030204"/>
              </a:rPr>
              <a:t>Machine Learning </a:t>
            </a:r>
            <a:r>
              <a:rPr sz="2100" spc="-5" dirty="0">
                <a:latin typeface="Calibri" panose="020F0502020204030204"/>
                <a:cs typeface="Calibri" panose="020F0502020204030204"/>
              </a:rPr>
              <a:t>techniques can perhaps </a:t>
            </a:r>
            <a:r>
              <a:rPr sz="2100" dirty="0">
                <a:latin typeface="Calibri" panose="020F0502020204030204"/>
                <a:cs typeface="Calibri" panose="020F0502020204030204"/>
              </a:rPr>
              <a:t> </a:t>
            </a:r>
            <a:r>
              <a:rPr sz="2100" spc="-5" dirty="0">
                <a:latin typeface="Calibri" panose="020F0502020204030204"/>
                <a:cs typeface="Calibri" panose="020F0502020204030204"/>
              </a:rPr>
              <a:t>find </a:t>
            </a:r>
            <a:r>
              <a:rPr sz="2100" dirty="0">
                <a:latin typeface="Calibri" panose="020F0502020204030204"/>
                <a:cs typeface="Calibri" panose="020F0502020204030204"/>
              </a:rPr>
              <a:t>a</a:t>
            </a:r>
            <a:r>
              <a:rPr sz="2100" spc="-5" dirty="0">
                <a:latin typeface="Calibri" panose="020F0502020204030204"/>
                <a:cs typeface="Calibri" panose="020F0502020204030204"/>
              </a:rPr>
              <a:t> </a:t>
            </a:r>
            <a:r>
              <a:rPr sz="2100" spc="-10" dirty="0">
                <a:latin typeface="Calibri" panose="020F0502020204030204"/>
                <a:cs typeface="Calibri" panose="020F0502020204030204"/>
              </a:rPr>
              <a:t>solution.</a:t>
            </a:r>
            <a:endParaRPr sz="2100">
              <a:latin typeface="Calibri" panose="020F0502020204030204"/>
              <a:cs typeface="Calibri" panose="020F0502020204030204"/>
            </a:endParaRPr>
          </a:p>
          <a:p>
            <a:pPr marL="184785" indent="-172720" algn="just">
              <a:lnSpc>
                <a:spcPct val="150000"/>
              </a:lnSpc>
              <a:spcBef>
                <a:spcPts val="515"/>
              </a:spcBef>
              <a:buFont typeface="Arial MT"/>
              <a:buChar char="•"/>
              <a:tabLst>
                <a:tab pos="185420" algn="l"/>
              </a:tabLst>
            </a:pPr>
            <a:r>
              <a:rPr sz="2100" spc="-5" dirty="0">
                <a:latin typeface="Calibri" panose="020F0502020204030204"/>
                <a:cs typeface="Calibri" panose="020F0502020204030204"/>
              </a:rPr>
              <a:t>Fluctuating</a:t>
            </a:r>
            <a:r>
              <a:rPr sz="2100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sz="2100" spc="-10" dirty="0">
                <a:latin typeface="Calibri" panose="020F0502020204030204"/>
                <a:cs typeface="Calibri" panose="020F0502020204030204"/>
              </a:rPr>
              <a:t>environments:</a:t>
            </a:r>
            <a:r>
              <a:rPr sz="2100" spc="15" dirty="0">
                <a:latin typeface="Calibri" panose="020F0502020204030204"/>
                <a:cs typeface="Calibri" panose="020F0502020204030204"/>
              </a:rPr>
              <a:t> </a:t>
            </a:r>
            <a:r>
              <a:rPr sz="2100" dirty="0">
                <a:latin typeface="Calibri" panose="020F0502020204030204"/>
                <a:cs typeface="Calibri" panose="020F0502020204030204"/>
              </a:rPr>
              <a:t>a </a:t>
            </a:r>
            <a:r>
              <a:rPr sz="2100" spc="-5" dirty="0">
                <a:latin typeface="Calibri" panose="020F0502020204030204"/>
                <a:cs typeface="Calibri" panose="020F0502020204030204"/>
              </a:rPr>
              <a:t>Machine</a:t>
            </a:r>
            <a:r>
              <a:rPr sz="2100" dirty="0">
                <a:latin typeface="Calibri" panose="020F0502020204030204"/>
                <a:cs typeface="Calibri" panose="020F0502020204030204"/>
              </a:rPr>
              <a:t> </a:t>
            </a:r>
            <a:r>
              <a:rPr sz="2100" spc="-5" dirty="0">
                <a:latin typeface="Calibri" panose="020F0502020204030204"/>
                <a:cs typeface="Calibri" panose="020F0502020204030204"/>
              </a:rPr>
              <a:t>Learning</a:t>
            </a:r>
            <a:r>
              <a:rPr sz="2100" dirty="0">
                <a:latin typeface="Calibri" panose="020F0502020204030204"/>
                <a:cs typeface="Calibri" panose="020F0502020204030204"/>
              </a:rPr>
              <a:t> </a:t>
            </a:r>
            <a:r>
              <a:rPr sz="2100" spc="-25" dirty="0">
                <a:latin typeface="Calibri" panose="020F0502020204030204"/>
                <a:cs typeface="Calibri" panose="020F0502020204030204"/>
              </a:rPr>
              <a:t>system</a:t>
            </a:r>
            <a:r>
              <a:rPr sz="2100" spc="10" dirty="0">
                <a:latin typeface="Calibri" panose="020F0502020204030204"/>
                <a:cs typeface="Calibri" panose="020F0502020204030204"/>
              </a:rPr>
              <a:t> </a:t>
            </a:r>
            <a:r>
              <a:rPr sz="2100" spc="-5" dirty="0">
                <a:latin typeface="Calibri" panose="020F0502020204030204"/>
                <a:cs typeface="Calibri" panose="020F0502020204030204"/>
              </a:rPr>
              <a:t>can</a:t>
            </a:r>
            <a:r>
              <a:rPr sz="2100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sz="2100" spc="-5" dirty="0">
                <a:latin typeface="Calibri" panose="020F0502020204030204"/>
                <a:cs typeface="Calibri" panose="020F0502020204030204"/>
              </a:rPr>
              <a:t>adapt</a:t>
            </a:r>
            <a:r>
              <a:rPr sz="2100" spc="-25" dirty="0">
                <a:latin typeface="Calibri" panose="020F0502020204030204"/>
                <a:cs typeface="Calibri" panose="020F0502020204030204"/>
              </a:rPr>
              <a:t> </a:t>
            </a:r>
            <a:r>
              <a:rPr sz="2100" spc="-15" dirty="0">
                <a:latin typeface="Calibri" panose="020F0502020204030204"/>
                <a:cs typeface="Calibri" panose="020F0502020204030204"/>
              </a:rPr>
              <a:t>to</a:t>
            </a:r>
            <a:endParaRPr sz="2100">
              <a:latin typeface="Calibri" panose="020F0502020204030204"/>
              <a:cs typeface="Calibri" panose="020F0502020204030204"/>
            </a:endParaRPr>
          </a:p>
          <a:p>
            <a:pPr marL="184785" algn="just">
              <a:lnSpc>
                <a:spcPct val="150000"/>
              </a:lnSpc>
            </a:pPr>
            <a:r>
              <a:rPr sz="2100" spc="-10" dirty="0">
                <a:latin typeface="Calibri" panose="020F0502020204030204"/>
                <a:cs typeface="Calibri" panose="020F0502020204030204"/>
              </a:rPr>
              <a:t>new</a:t>
            </a:r>
            <a:r>
              <a:rPr sz="2100" spc="-35" dirty="0">
                <a:latin typeface="Calibri" panose="020F0502020204030204"/>
                <a:cs typeface="Calibri" panose="020F0502020204030204"/>
              </a:rPr>
              <a:t> </a:t>
            </a:r>
            <a:r>
              <a:rPr sz="2100" spc="-10" dirty="0">
                <a:latin typeface="Calibri" panose="020F0502020204030204"/>
                <a:cs typeface="Calibri" panose="020F0502020204030204"/>
              </a:rPr>
              <a:t>data.</a:t>
            </a:r>
            <a:endParaRPr sz="2100">
              <a:latin typeface="Calibri" panose="020F0502020204030204"/>
              <a:cs typeface="Calibri" panose="020F0502020204030204"/>
            </a:endParaRPr>
          </a:p>
          <a:p>
            <a:pPr marL="184785" indent="-172720" algn="just">
              <a:lnSpc>
                <a:spcPct val="150000"/>
              </a:lnSpc>
              <a:spcBef>
                <a:spcPts val="550"/>
              </a:spcBef>
              <a:buFont typeface="Arial MT"/>
              <a:buChar char="•"/>
              <a:tabLst>
                <a:tab pos="185420" algn="l"/>
              </a:tabLst>
            </a:pPr>
            <a:r>
              <a:rPr sz="2100" spc="-10" dirty="0">
                <a:latin typeface="Calibri" panose="020F0502020204030204"/>
                <a:cs typeface="Calibri" panose="020F0502020204030204"/>
              </a:rPr>
              <a:t>Getting insights</a:t>
            </a:r>
            <a:r>
              <a:rPr sz="2100" spc="25" dirty="0">
                <a:latin typeface="Calibri" panose="020F0502020204030204"/>
                <a:cs typeface="Calibri" panose="020F0502020204030204"/>
              </a:rPr>
              <a:t> </a:t>
            </a:r>
            <a:r>
              <a:rPr sz="2100" dirty="0">
                <a:latin typeface="Calibri" panose="020F0502020204030204"/>
                <a:cs typeface="Calibri" panose="020F0502020204030204"/>
              </a:rPr>
              <a:t>about</a:t>
            </a:r>
            <a:r>
              <a:rPr sz="2100" spc="-10" dirty="0">
                <a:latin typeface="Calibri" panose="020F0502020204030204"/>
                <a:cs typeface="Calibri" panose="020F0502020204030204"/>
              </a:rPr>
              <a:t> </a:t>
            </a:r>
            <a:r>
              <a:rPr sz="2100" spc="-15" dirty="0">
                <a:latin typeface="Calibri" panose="020F0502020204030204"/>
                <a:cs typeface="Calibri" panose="020F0502020204030204"/>
              </a:rPr>
              <a:t>complex</a:t>
            </a:r>
            <a:r>
              <a:rPr sz="2100" spc="15" dirty="0">
                <a:latin typeface="Calibri" panose="020F0502020204030204"/>
                <a:cs typeface="Calibri" panose="020F0502020204030204"/>
              </a:rPr>
              <a:t> </a:t>
            </a:r>
            <a:r>
              <a:rPr sz="2100" spc="-10" dirty="0">
                <a:latin typeface="Calibri" panose="020F0502020204030204"/>
                <a:cs typeface="Calibri" panose="020F0502020204030204"/>
              </a:rPr>
              <a:t>problems</a:t>
            </a:r>
            <a:r>
              <a:rPr sz="2100" spc="15" dirty="0">
                <a:latin typeface="Calibri" panose="020F0502020204030204"/>
                <a:cs typeface="Calibri" panose="020F0502020204030204"/>
              </a:rPr>
              <a:t> </a:t>
            </a:r>
            <a:r>
              <a:rPr sz="2100" dirty="0">
                <a:latin typeface="Calibri" panose="020F0502020204030204"/>
                <a:cs typeface="Calibri" panose="020F0502020204030204"/>
              </a:rPr>
              <a:t>and</a:t>
            </a:r>
            <a:r>
              <a:rPr sz="2100" spc="-10" dirty="0">
                <a:latin typeface="Calibri" panose="020F0502020204030204"/>
                <a:cs typeface="Calibri" panose="020F0502020204030204"/>
              </a:rPr>
              <a:t> large</a:t>
            </a:r>
            <a:r>
              <a:rPr sz="2100" dirty="0">
                <a:latin typeface="Calibri" panose="020F0502020204030204"/>
                <a:cs typeface="Calibri" panose="020F0502020204030204"/>
              </a:rPr>
              <a:t> </a:t>
            </a:r>
            <a:r>
              <a:rPr sz="2100" spc="-5" dirty="0">
                <a:latin typeface="Calibri" panose="020F0502020204030204"/>
                <a:cs typeface="Calibri" panose="020F0502020204030204"/>
              </a:rPr>
              <a:t>amounts of</a:t>
            </a:r>
            <a:r>
              <a:rPr sz="2100" spc="-10" dirty="0">
                <a:latin typeface="Calibri" panose="020F0502020204030204"/>
                <a:cs typeface="Calibri" panose="020F0502020204030204"/>
              </a:rPr>
              <a:t> data.</a:t>
            </a:r>
            <a:endParaRPr sz="2100">
              <a:latin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78255" y="609676"/>
            <a:ext cx="775970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b="1" spc="-10" dirty="0">
                <a:solidFill>
                  <a:srgbClr val="2E5496"/>
                </a:solidFill>
                <a:latin typeface="Calibri" panose="020F0502020204030204"/>
                <a:cs typeface="Calibri" panose="020F0502020204030204"/>
              </a:rPr>
              <a:t>Applications</a:t>
            </a:r>
            <a:r>
              <a:rPr sz="4400" b="1" spc="-45" dirty="0">
                <a:solidFill>
                  <a:srgbClr val="2E5496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4400" b="1" dirty="0">
                <a:solidFill>
                  <a:srgbClr val="2E5496"/>
                </a:solidFill>
                <a:latin typeface="Calibri" panose="020F0502020204030204"/>
                <a:cs typeface="Calibri" panose="020F0502020204030204"/>
              </a:rPr>
              <a:t>of</a:t>
            </a:r>
            <a:r>
              <a:rPr sz="4400" b="1" spc="-5" dirty="0">
                <a:solidFill>
                  <a:srgbClr val="2E5496"/>
                </a:solidFill>
                <a:latin typeface="Calibri" panose="020F0502020204030204"/>
                <a:cs typeface="Calibri" panose="020F0502020204030204"/>
              </a:rPr>
              <a:t> Machine</a:t>
            </a:r>
            <a:r>
              <a:rPr sz="4400" b="1" spc="-40" dirty="0">
                <a:solidFill>
                  <a:srgbClr val="2E5496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4400" b="1" dirty="0">
                <a:solidFill>
                  <a:srgbClr val="2E5496"/>
                </a:solidFill>
                <a:latin typeface="Calibri" panose="020F0502020204030204"/>
                <a:cs typeface="Calibri" panose="020F0502020204030204"/>
              </a:rPr>
              <a:t>Learning</a:t>
            </a:r>
            <a:endParaRPr sz="44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07390" y="1502410"/>
            <a:ext cx="7710170" cy="4703445"/>
          </a:xfrm>
          <a:prstGeom prst="rect">
            <a:avLst/>
          </a:prstGeom>
        </p:spPr>
        <p:txBody>
          <a:bodyPr vert="horz" wrap="square" lIns="0" tIns="12700" rIns="0" bIns="0" rtlCol="0">
            <a:noAutofit/>
          </a:bodyPr>
          <a:lstStyle/>
          <a:p>
            <a:pPr marL="184785" marR="309245" indent="-172720" algn="just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185420" algn="l"/>
              </a:tabLst>
            </a:pPr>
            <a:r>
              <a:rPr sz="2100" spc="-5" dirty="0">
                <a:latin typeface="Calibri" panose="020F0502020204030204"/>
                <a:cs typeface="Calibri" panose="020F0502020204030204"/>
              </a:rPr>
              <a:t>Analyzing images of </a:t>
            </a:r>
            <a:r>
              <a:rPr sz="2100" spc="-10" dirty="0">
                <a:latin typeface="Calibri" panose="020F0502020204030204"/>
                <a:cs typeface="Calibri" panose="020F0502020204030204"/>
              </a:rPr>
              <a:t>products </a:t>
            </a:r>
            <a:r>
              <a:rPr sz="2100" spc="-5" dirty="0">
                <a:latin typeface="Calibri" panose="020F0502020204030204"/>
                <a:cs typeface="Calibri" panose="020F0502020204030204"/>
              </a:rPr>
              <a:t>on </a:t>
            </a:r>
            <a:r>
              <a:rPr sz="2100" dirty="0">
                <a:latin typeface="Calibri" panose="020F0502020204030204"/>
                <a:cs typeface="Calibri" panose="020F0502020204030204"/>
              </a:rPr>
              <a:t>a </a:t>
            </a:r>
            <a:r>
              <a:rPr sz="2100" spc="-10" dirty="0">
                <a:latin typeface="Calibri" panose="020F0502020204030204"/>
                <a:cs typeface="Calibri" panose="020F0502020204030204"/>
              </a:rPr>
              <a:t>production </a:t>
            </a:r>
            <a:r>
              <a:rPr sz="2100" dirty="0">
                <a:latin typeface="Calibri" panose="020F0502020204030204"/>
                <a:cs typeface="Calibri" panose="020F0502020204030204"/>
              </a:rPr>
              <a:t>line </a:t>
            </a:r>
            <a:r>
              <a:rPr sz="2100" spc="-10" dirty="0">
                <a:latin typeface="Calibri" panose="020F0502020204030204"/>
                <a:cs typeface="Calibri" panose="020F0502020204030204"/>
              </a:rPr>
              <a:t>to automatically </a:t>
            </a:r>
            <a:r>
              <a:rPr sz="2100" spc="-459" dirty="0">
                <a:latin typeface="Calibri" panose="020F0502020204030204"/>
                <a:cs typeface="Calibri" panose="020F0502020204030204"/>
              </a:rPr>
              <a:t> </a:t>
            </a:r>
            <a:r>
              <a:rPr sz="2100" spc="-5" dirty="0">
                <a:latin typeface="Calibri" panose="020F0502020204030204"/>
                <a:cs typeface="Calibri" panose="020F0502020204030204"/>
              </a:rPr>
              <a:t>classify </a:t>
            </a:r>
            <a:r>
              <a:rPr sz="2100" dirty="0">
                <a:latin typeface="Calibri" panose="020F0502020204030204"/>
                <a:cs typeface="Calibri" panose="020F0502020204030204"/>
              </a:rPr>
              <a:t>them: this is </a:t>
            </a:r>
            <a:r>
              <a:rPr sz="2100" spc="-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image classification</a:t>
            </a:r>
            <a:r>
              <a:rPr sz="2100" spc="-5" dirty="0">
                <a:latin typeface="Calibri" panose="020F0502020204030204"/>
                <a:cs typeface="Calibri" panose="020F0502020204030204"/>
              </a:rPr>
              <a:t>, typically </a:t>
            </a:r>
            <a:r>
              <a:rPr sz="2100" spc="-10" dirty="0">
                <a:latin typeface="Calibri" panose="020F0502020204030204"/>
                <a:cs typeface="Calibri" panose="020F0502020204030204"/>
              </a:rPr>
              <a:t>performed using </a:t>
            </a:r>
            <a:r>
              <a:rPr sz="2100" spc="-459" dirty="0">
                <a:latin typeface="Calibri" panose="020F0502020204030204"/>
                <a:cs typeface="Calibri" panose="020F0502020204030204"/>
              </a:rPr>
              <a:t> </a:t>
            </a:r>
            <a:r>
              <a:rPr sz="2100" spc="-10" dirty="0">
                <a:latin typeface="Calibri" panose="020F0502020204030204"/>
                <a:cs typeface="Calibri" panose="020F0502020204030204"/>
              </a:rPr>
              <a:t>convolutional</a:t>
            </a:r>
            <a:r>
              <a:rPr sz="2100" dirty="0">
                <a:latin typeface="Calibri" panose="020F0502020204030204"/>
                <a:cs typeface="Calibri" panose="020F0502020204030204"/>
              </a:rPr>
              <a:t> </a:t>
            </a:r>
            <a:r>
              <a:rPr sz="2100" spc="-15" dirty="0">
                <a:latin typeface="Calibri" panose="020F0502020204030204"/>
                <a:cs typeface="Calibri" panose="020F0502020204030204"/>
              </a:rPr>
              <a:t>neural</a:t>
            </a:r>
            <a:r>
              <a:rPr sz="2100" spc="10" dirty="0">
                <a:latin typeface="Calibri" panose="020F0502020204030204"/>
                <a:cs typeface="Calibri" panose="020F0502020204030204"/>
              </a:rPr>
              <a:t> </a:t>
            </a:r>
            <a:r>
              <a:rPr sz="2100" spc="-15" dirty="0">
                <a:latin typeface="Calibri" panose="020F0502020204030204"/>
                <a:cs typeface="Calibri" panose="020F0502020204030204"/>
              </a:rPr>
              <a:t>networks</a:t>
            </a:r>
            <a:r>
              <a:rPr sz="2100" spc="5" dirty="0">
                <a:latin typeface="Calibri" panose="020F0502020204030204"/>
                <a:cs typeface="Calibri" panose="020F0502020204030204"/>
              </a:rPr>
              <a:t> </a:t>
            </a:r>
            <a:r>
              <a:rPr sz="2100" spc="-5" dirty="0">
                <a:latin typeface="Calibri" panose="020F0502020204030204"/>
                <a:cs typeface="Calibri" panose="020F0502020204030204"/>
              </a:rPr>
              <a:t>(CNNs).</a:t>
            </a:r>
            <a:endParaRPr sz="2100">
              <a:latin typeface="Calibri" panose="020F0502020204030204"/>
              <a:cs typeface="Calibri" panose="020F0502020204030204"/>
            </a:endParaRPr>
          </a:p>
          <a:p>
            <a:pPr marL="184785" marR="61595" indent="-172720" algn="just">
              <a:lnSpc>
                <a:spcPct val="100000"/>
              </a:lnSpc>
              <a:buFont typeface="Arial MT"/>
              <a:buChar char="•"/>
              <a:tabLst>
                <a:tab pos="185420" algn="l"/>
              </a:tabLst>
            </a:pPr>
            <a:r>
              <a:rPr sz="2100" spc="-5" dirty="0">
                <a:latin typeface="Calibri" panose="020F0502020204030204"/>
                <a:cs typeface="Calibri" panose="020F0502020204030204"/>
              </a:rPr>
              <a:t>Detecting</a:t>
            </a:r>
            <a:r>
              <a:rPr sz="2100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sz="2100" spc="-10" dirty="0">
                <a:latin typeface="Calibri" panose="020F0502020204030204"/>
                <a:cs typeface="Calibri" panose="020F0502020204030204"/>
              </a:rPr>
              <a:t>tumors</a:t>
            </a:r>
            <a:r>
              <a:rPr sz="2100" spc="-5" dirty="0">
                <a:latin typeface="Calibri" panose="020F0502020204030204"/>
                <a:cs typeface="Calibri" panose="020F0502020204030204"/>
              </a:rPr>
              <a:t> </a:t>
            </a:r>
            <a:r>
              <a:rPr sz="2100" dirty="0">
                <a:latin typeface="Calibri" panose="020F0502020204030204"/>
                <a:cs typeface="Calibri" panose="020F0502020204030204"/>
              </a:rPr>
              <a:t>in </a:t>
            </a:r>
            <a:r>
              <a:rPr sz="2100" spc="-10" dirty="0">
                <a:latin typeface="Calibri" panose="020F0502020204030204"/>
                <a:cs typeface="Calibri" panose="020F0502020204030204"/>
              </a:rPr>
              <a:t>brain</a:t>
            </a:r>
            <a:r>
              <a:rPr sz="2100" spc="-5" dirty="0">
                <a:latin typeface="Calibri" panose="020F0502020204030204"/>
                <a:cs typeface="Calibri" panose="020F0502020204030204"/>
              </a:rPr>
              <a:t> scans:</a:t>
            </a:r>
            <a:r>
              <a:rPr sz="2100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sz="2100" dirty="0">
                <a:latin typeface="Calibri" panose="020F0502020204030204"/>
                <a:cs typeface="Calibri" panose="020F0502020204030204"/>
              </a:rPr>
              <a:t>this is</a:t>
            </a:r>
            <a:r>
              <a:rPr sz="2100" spc="5" dirty="0">
                <a:latin typeface="Calibri" panose="020F0502020204030204"/>
                <a:cs typeface="Calibri" panose="020F0502020204030204"/>
              </a:rPr>
              <a:t> </a:t>
            </a:r>
            <a:r>
              <a:rPr sz="2100" spc="-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semantic</a:t>
            </a:r>
            <a:r>
              <a:rPr sz="210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100" spc="-1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segmentation</a:t>
            </a:r>
            <a:r>
              <a:rPr sz="2100" spc="-10" dirty="0">
                <a:latin typeface="Calibri" panose="020F0502020204030204"/>
                <a:cs typeface="Calibri" panose="020F0502020204030204"/>
              </a:rPr>
              <a:t>, </a:t>
            </a:r>
            <a:r>
              <a:rPr sz="2100" spc="-5" dirty="0">
                <a:latin typeface="Calibri" panose="020F0502020204030204"/>
                <a:cs typeface="Calibri" panose="020F0502020204030204"/>
              </a:rPr>
              <a:t> </a:t>
            </a:r>
            <a:r>
              <a:rPr sz="2100" spc="-10" dirty="0">
                <a:latin typeface="Calibri" panose="020F0502020204030204"/>
                <a:cs typeface="Calibri" panose="020F0502020204030204"/>
              </a:rPr>
              <a:t>where</a:t>
            </a:r>
            <a:r>
              <a:rPr sz="2100" spc="-5" dirty="0">
                <a:latin typeface="Calibri" panose="020F0502020204030204"/>
                <a:cs typeface="Calibri" panose="020F0502020204030204"/>
              </a:rPr>
              <a:t> </a:t>
            </a:r>
            <a:r>
              <a:rPr sz="2100" dirty="0">
                <a:latin typeface="Calibri" panose="020F0502020204030204"/>
                <a:cs typeface="Calibri" panose="020F0502020204030204"/>
              </a:rPr>
              <a:t>each</a:t>
            </a:r>
            <a:r>
              <a:rPr sz="2100" spc="-5" dirty="0">
                <a:latin typeface="Calibri" panose="020F0502020204030204"/>
                <a:cs typeface="Calibri" panose="020F0502020204030204"/>
              </a:rPr>
              <a:t> </a:t>
            </a:r>
            <a:r>
              <a:rPr sz="2100" spc="-15" dirty="0">
                <a:latin typeface="Calibri" panose="020F0502020204030204"/>
                <a:cs typeface="Calibri" panose="020F0502020204030204"/>
              </a:rPr>
              <a:t>pixel</a:t>
            </a:r>
            <a:r>
              <a:rPr sz="2100" spc="20" dirty="0">
                <a:latin typeface="Calibri" panose="020F0502020204030204"/>
                <a:cs typeface="Calibri" panose="020F0502020204030204"/>
              </a:rPr>
              <a:t> </a:t>
            </a:r>
            <a:r>
              <a:rPr sz="2100" dirty="0">
                <a:latin typeface="Calibri" panose="020F0502020204030204"/>
                <a:cs typeface="Calibri" panose="020F0502020204030204"/>
              </a:rPr>
              <a:t>in</a:t>
            </a:r>
            <a:r>
              <a:rPr sz="2100" spc="-5" dirty="0">
                <a:latin typeface="Calibri" panose="020F0502020204030204"/>
                <a:cs typeface="Calibri" panose="020F0502020204030204"/>
              </a:rPr>
              <a:t> </a:t>
            </a:r>
            <a:r>
              <a:rPr sz="2100" dirty="0">
                <a:latin typeface="Calibri" panose="020F0502020204030204"/>
                <a:cs typeface="Calibri" panose="020F0502020204030204"/>
              </a:rPr>
              <a:t>the</a:t>
            </a:r>
            <a:r>
              <a:rPr sz="2100" spc="-10" dirty="0">
                <a:latin typeface="Calibri" panose="020F0502020204030204"/>
                <a:cs typeface="Calibri" panose="020F0502020204030204"/>
              </a:rPr>
              <a:t> </a:t>
            </a:r>
            <a:r>
              <a:rPr sz="2100" spc="-5" dirty="0">
                <a:latin typeface="Calibri" panose="020F0502020204030204"/>
                <a:cs typeface="Calibri" panose="020F0502020204030204"/>
              </a:rPr>
              <a:t>image</a:t>
            </a:r>
            <a:r>
              <a:rPr sz="2100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sz="2100" dirty="0">
                <a:latin typeface="Calibri" panose="020F0502020204030204"/>
                <a:cs typeface="Calibri" panose="020F0502020204030204"/>
              </a:rPr>
              <a:t>is</a:t>
            </a:r>
            <a:r>
              <a:rPr sz="2100" spc="5" dirty="0">
                <a:latin typeface="Calibri" panose="020F0502020204030204"/>
                <a:cs typeface="Calibri" panose="020F0502020204030204"/>
              </a:rPr>
              <a:t> </a:t>
            </a:r>
            <a:r>
              <a:rPr sz="2100" spc="-5" dirty="0">
                <a:latin typeface="Calibri" panose="020F0502020204030204"/>
                <a:cs typeface="Calibri" panose="020F0502020204030204"/>
              </a:rPr>
              <a:t>classified</a:t>
            </a:r>
            <a:r>
              <a:rPr sz="2100" spc="35" dirty="0">
                <a:latin typeface="Calibri" panose="020F0502020204030204"/>
                <a:cs typeface="Calibri" panose="020F0502020204030204"/>
              </a:rPr>
              <a:t> </a:t>
            </a:r>
            <a:r>
              <a:rPr sz="2100" spc="-5" dirty="0">
                <a:latin typeface="Calibri" panose="020F0502020204030204"/>
                <a:cs typeface="Calibri" panose="020F0502020204030204"/>
              </a:rPr>
              <a:t>(as</a:t>
            </a:r>
            <a:r>
              <a:rPr sz="2100" spc="-10" dirty="0">
                <a:latin typeface="Calibri" panose="020F0502020204030204"/>
                <a:cs typeface="Calibri" panose="020F0502020204030204"/>
              </a:rPr>
              <a:t> </a:t>
            </a:r>
            <a:r>
              <a:rPr sz="2100" spc="-15" dirty="0">
                <a:latin typeface="Calibri" panose="020F0502020204030204"/>
                <a:cs typeface="Calibri" panose="020F0502020204030204"/>
              </a:rPr>
              <a:t>we</a:t>
            </a:r>
            <a:r>
              <a:rPr sz="2100" dirty="0">
                <a:latin typeface="Calibri" panose="020F0502020204030204"/>
                <a:cs typeface="Calibri" panose="020F0502020204030204"/>
              </a:rPr>
              <a:t> </a:t>
            </a:r>
            <a:r>
              <a:rPr sz="2100" spc="-15" dirty="0">
                <a:latin typeface="Calibri" panose="020F0502020204030204"/>
                <a:cs typeface="Calibri" panose="020F0502020204030204"/>
              </a:rPr>
              <a:t>want</a:t>
            </a:r>
            <a:r>
              <a:rPr sz="2100" spc="-20" dirty="0">
                <a:latin typeface="Calibri" panose="020F0502020204030204"/>
                <a:cs typeface="Calibri" panose="020F0502020204030204"/>
              </a:rPr>
              <a:t> </a:t>
            </a:r>
            <a:r>
              <a:rPr sz="2100" spc="-10" dirty="0">
                <a:latin typeface="Calibri" panose="020F0502020204030204"/>
                <a:cs typeface="Calibri" panose="020F0502020204030204"/>
              </a:rPr>
              <a:t>to</a:t>
            </a:r>
            <a:r>
              <a:rPr sz="2100" spc="-5" dirty="0">
                <a:latin typeface="Calibri" panose="020F0502020204030204"/>
                <a:cs typeface="Calibri" panose="020F0502020204030204"/>
              </a:rPr>
              <a:t> determine </a:t>
            </a:r>
            <a:r>
              <a:rPr sz="2100" dirty="0">
                <a:latin typeface="Calibri" panose="020F0502020204030204"/>
                <a:cs typeface="Calibri" panose="020F0502020204030204"/>
              </a:rPr>
              <a:t> the </a:t>
            </a:r>
            <a:r>
              <a:rPr sz="2100" spc="-15" dirty="0">
                <a:latin typeface="Calibri" panose="020F0502020204030204"/>
                <a:cs typeface="Calibri" panose="020F0502020204030204"/>
              </a:rPr>
              <a:t>exact</a:t>
            </a:r>
            <a:r>
              <a:rPr sz="2100" spc="-5" dirty="0">
                <a:latin typeface="Calibri" panose="020F0502020204030204"/>
                <a:cs typeface="Calibri" panose="020F0502020204030204"/>
              </a:rPr>
              <a:t> </a:t>
            </a:r>
            <a:r>
              <a:rPr sz="2100" spc="-10" dirty="0">
                <a:latin typeface="Calibri" panose="020F0502020204030204"/>
                <a:cs typeface="Calibri" panose="020F0502020204030204"/>
              </a:rPr>
              <a:t>location</a:t>
            </a:r>
            <a:r>
              <a:rPr sz="2100" spc="5" dirty="0">
                <a:latin typeface="Calibri" panose="020F0502020204030204"/>
                <a:cs typeface="Calibri" panose="020F0502020204030204"/>
              </a:rPr>
              <a:t> </a:t>
            </a:r>
            <a:r>
              <a:rPr sz="2100" dirty="0">
                <a:latin typeface="Calibri" panose="020F0502020204030204"/>
                <a:cs typeface="Calibri" panose="020F0502020204030204"/>
              </a:rPr>
              <a:t>and</a:t>
            </a:r>
            <a:r>
              <a:rPr sz="2100" spc="-5" dirty="0">
                <a:latin typeface="Calibri" panose="020F0502020204030204"/>
                <a:cs typeface="Calibri" panose="020F0502020204030204"/>
              </a:rPr>
              <a:t> shape of</a:t>
            </a:r>
            <a:r>
              <a:rPr sz="2100" spc="5" dirty="0">
                <a:latin typeface="Calibri" panose="020F0502020204030204"/>
                <a:cs typeface="Calibri" panose="020F0502020204030204"/>
              </a:rPr>
              <a:t> </a:t>
            </a:r>
            <a:r>
              <a:rPr sz="2100" spc="-10" dirty="0">
                <a:latin typeface="Calibri" panose="020F0502020204030204"/>
                <a:cs typeface="Calibri" panose="020F0502020204030204"/>
              </a:rPr>
              <a:t>tumors),</a:t>
            </a:r>
            <a:r>
              <a:rPr sz="2100" spc="-5" dirty="0">
                <a:latin typeface="Calibri" panose="020F0502020204030204"/>
                <a:cs typeface="Calibri" panose="020F0502020204030204"/>
              </a:rPr>
              <a:t> typically</a:t>
            </a:r>
            <a:r>
              <a:rPr sz="2100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sz="2100" spc="-5" dirty="0">
                <a:latin typeface="Calibri" panose="020F0502020204030204"/>
                <a:cs typeface="Calibri" panose="020F0502020204030204"/>
              </a:rPr>
              <a:t>using</a:t>
            </a:r>
            <a:r>
              <a:rPr sz="2100" spc="15" dirty="0">
                <a:latin typeface="Calibri" panose="020F0502020204030204"/>
                <a:cs typeface="Calibri" panose="020F0502020204030204"/>
              </a:rPr>
              <a:t> </a:t>
            </a:r>
            <a:r>
              <a:rPr sz="2100" spc="-5" dirty="0">
                <a:latin typeface="Calibri" panose="020F0502020204030204"/>
                <a:cs typeface="Calibri" panose="020F0502020204030204"/>
              </a:rPr>
              <a:t>CNNs</a:t>
            </a:r>
            <a:r>
              <a:rPr sz="2100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sz="2100" dirty="0">
                <a:latin typeface="Calibri" panose="020F0502020204030204"/>
                <a:cs typeface="Calibri" panose="020F0502020204030204"/>
              </a:rPr>
              <a:t>as</a:t>
            </a:r>
            <a:r>
              <a:rPr sz="2100" spc="-5" dirty="0">
                <a:latin typeface="Calibri" panose="020F0502020204030204"/>
                <a:cs typeface="Calibri" panose="020F0502020204030204"/>
              </a:rPr>
              <a:t> </a:t>
            </a:r>
            <a:r>
              <a:rPr sz="2100" spc="-10" dirty="0">
                <a:latin typeface="Calibri" panose="020F0502020204030204"/>
                <a:cs typeface="Calibri" panose="020F0502020204030204"/>
              </a:rPr>
              <a:t>well.</a:t>
            </a:r>
            <a:endParaRPr sz="2100">
              <a:latin typeface="Calibri" panose="020F0502020204030204"/>
              <a:cs typeface="Calibri" panose="020F0502020204030204"/>
            </a:endParaRPr>
          </a:p>
          <a:p>
            <a:pPr marL="184785" marR="175895" indent="-172720" algn="just">
              <a:lnSpc>
                <a:spcPct val="100000"/>
              </a:lnSpc>
              <a:buFont typeface="Arial MT"/>
              <a:buChar char="•"/>
              <a:tabLst>
                <a:tab pos="185420" algn="l"/>
              </a:tabLst>
            </a:pPr>
            <a:r>
              <a:rPr sz="2100" spc="-10" dirty="0">
                <a:latin typeface="Calibri" panose="020F0502020204030204"/>
                <a:cs typeface="Calibri" panose="020F0502020204030204"/>
              </a:rPr>
              <a:t>Automatically</a:t>
            </a:r>
            <a:r>
              <a:rPr sz="2100" spc="-20" dirty="0">
                <a:latin typeface="Calibri" panose="020F0502020204030204"/>
                <a:cs typeface="Calibri" panose="020F0502020204030204"/>
              </a:rPr>
              <a:t> </a:t>
            </a:r>
            <a:r>
              <a:rPr sz="2100" spc="-5" dirty="0">
                <a:latin typeface="Calibri" panose="020F0502020204030204"/>
                <a:cs typeface="Calibri" panose="020F0502020204030204"/>
              </a:rPr>
              <a:t>classifying</a:t>
            </a:r>
            <a:r>
              <a:rPr sz="2100" spc="35" dirty="0">
                <a:latin typeface="Calibri" panose="020F0502020204030204"/>
                <a:cs typeface="Calibri" panose="020F0502020204030204"/>
              </a:rPr>
              <a:t> </a:t>
            </a:r>
            <a:r>
              <a:rPr sz="2100" spc="-15" dirty="0">
                <a:latin typeface="Calibri" panose="020F0502020204030204"/>
                <a:cs typeface="Calibri" panose="020F0502020204030204"/>
              </a:rPr>
              <a:t>news</a:t>
            </a:r>
            <a:r>
              <a:rPr sz="2100" spc="10" dirty="0">
                <a:latin typeface="Calibri" panose="020F0502020204030204"/>
                <a:cs typeface="Calibri" panose="020F0502020204030204"/>
              </a:rPr>
              <a:t> </a:t>
            </a:r>
            <a:r>
              <a:rPr sz="2100" spc="-5" dirty="0">
                <a:latin typeface="Calibri" panose="020F0502020204030204"/>
                <a:cs typeface="Calibri" panose="020F0502020204030204"/>
              </a:rPr>
              <a:t>articles:</a:t>
            </a:r>
            <a:r>
              <a:rPr sz="2100" spc="10" dirty="0">
                <a:latin typeface="Calibri" panose="020F0502020204030204"/>
                <a:cs typeface="Calibri" panose="020F0502020204030204"/>
              </a:rPr>
              <a:t> </a:t>
            </a:r>
            <a:r>
              <a:rPr sz="2100" dirty="0">
                <a:latin typeface="Calibri" panose="020F0502020204030204"/>
                <a:cs typeface="Calibri" panose="020F0502020204030204"/>
              </a:rPr>
              <a:t>this</a:t>
            </a:r>
            <a:r>
              <a:rPr sz="2100" spc="5" dirty="0">
                <a:latin typeface="Calibri" panose="020F0502020204030204"/>
                <a:cs typeface="Calibri" panose="020F0502020204030204"/>
              </a:rPr>
              <a:t> </a:t>
            </a:r>
            <a:r>
              <a:rPr sz="2100" dirty="0">
                <a:latin typeface="Calibri" panose="020F0502020204030204"/>
                <a:cs typeface="Calibri" panose="020F0502020204030204"/>
              </a:rPr>
              <a:t>is</a:t>
            </a:r>
            <a:r>
              <a:rPr sz="2100" spc="40" dirty="0">
                <a:latin typeface="Calibri" panose="020F0502020204030204"/>
                <a:cs typeface="Calibri" panose="020F0502020204030204"/>
              </a:rPr>
              <a:t> </a:t>
            </a:r>
            <a:r>
              <a:rPr sz="2100" spc="-1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natural</a:t>
            </a:r>
            <a:r>
              <a:rPr sz="2100" spc="-2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100" spc="-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language </a:t>
            </a:r>
            <a:r>
              <a:rPr sz="210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100" spc="-1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processing</a:t>
            </a:r>
            <a:r>
              <a:rPr sz="2100" spc="3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100" spc="-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(NLP)</a:t>
            </a:r>
            <a:r>
              <a:rPr sz="2100" spc="-5" dirty="0">
                <a:latin typeface="Calibri" panose="020F0502020204030204"/>
                <a:cs typeface="Calibri" panose="020F0502020204030204"/>
              </a:rPr>
              <a:t>,</a:t>
            </a:r>
            <a:r>
              <a:rPr sz="2100" spc="10" dirty="0">
                <a:latin typeface="Calibri" panose="020F0502020204030204"/>
                <a:cs typeface="Calibri" panose="020F0502020204030204"/>
              </a:rPr>
              <a:t> </a:t>
            </a:r>
            <a:r>
              <a:rPr sz="2100" dirty="0">
                <a:latin typeface="Calibri" panose="020F0502020204030204"/>
                <a:cs typeface="Calibri" panose="020F0502020204030204"/>
              </a:rPr>
              <a:t>and</a:t>
            </a:r>
            <a:r>
              <a:rPr sz="2100" spc="-10" dirty="0">
                <a:latin typeface="Calibri" panose="020F0502020204030204"/>
                <a:cs typeface="Calibri" panose="020F0502020204030204"/>
              </a:rPr>
              <a:t> more</a:t>
            </a:r>
            <a:r>
              <a:rPr sz="2100" spc="15" dirty="0">
                <a:latin typeface="Calibri" panose="020F0502020204030204"/>
                <a:cs typeface="Calibri" panose="020F0502020204030204"/>
              </a:rPr>
              <a:t> </a:t>
            </a:r>
            <a:r>
              <a:rPr sz="2100" spc="-5" dirty="0">
                <a:latin typeface="Calibri" panose="020F0502020204030204"/>
                <a:cs typeface="Calibri" panose="020F0502020204030204"/>
              </a:rPr>
              <a:t>specifically</a:t>
            </a:r>
            <a:r>
              <a:rPr sz="2100" spc="25" dirty="0">
                <a:latin typeface="Calibri" panose="020F0502020204030204"/>
                <a:cs typeface="Calibri" panose="020F0502020204030204"/>
              </a:rPr>
              <a:t> </a:t>
            </a:r>
            <a:r>
              <a:rPr sz="2100" spc="-20" dirty="0">
                <a:latin typeface="Calibri" panose="020F0502020204030204"/>
                <a:cs typeface="Calibri" panose="020F0502020204030204"/>
              </a:rPr>
              <a:t>text</a:t>
            </a:r>
            <a:r>
              <a:rPr sz="2100" dirty="0">
                <a:latin typeface="Calibri" panose="020F0502020204030204"/>
                <a:cs typeface="Calibri" panose="020F0502020204030204"/>
              </a:rPr>
              <a:t> </a:t>
            </a:r>
            <a:r>
              <a:rPr sz="2100" spc="-10" dirty="0">
                <a:latin typeface="Calibri" panose="020F0502020204030204"/>
                <a:cs typeface="Calibri" panose="020F0502020204030204"/>
              </a:rPr>
              <a:t>classification,</a:t>
            </a:r>
            <a:r>
              <a:rPr sz="2100" spc="30" dirty="0">
                <a:latin typeface="Calibri" panose="020F0502020204030204"/>
                <a:cs typeface="Calibri" panose="020F0502020204030204"/>
              </a:rPr>
              <a:t> </a:t>
            </a:r>
            <a:r>
              <a:rPr sz="2100" dirty="0">
                <a:latin typeface="Calibri" panose="020F0502020204030204"/>
                <a:cs typeface="Calibri" panose="020F0502020204030204"/>
              </a:rPr>
              <a:t>which</a:t>
            </a:r>
            <a:r>
              <a:rPr sz="2100" spc="5" dirty="0">
                <a:latin typeface="Calibri" panose="020F0502020204030204"/>
                <a:cs typeface="Calibri" panose="020F0502020204030204"/>
              </a:rPr>
              <a:t> </a:t>
            </a:r>
            <a:r>
              <a:rPr sz="2100" spc="-5" dirty="0">
                <a:latin typeface="Calibri" panose="020F0502020204030204"/>
                <a:cs typeface="Calibri" panose="020F0502020204030204"/>
              </a:rPr>
              <a:t>can </a:t>
            </a:r>
            <a:r>
              <a:rPr sz="2100" spc="-459" dirty="0">
                <a:latin typeface="Calibri" panose="020F0502020204030204"/>
                <a:cs typeface="Calibri" panose="020F0502020204030204"/>
              </a:rPr>
              <a:t> </a:t>
            </a:r>
            <a:r>
              <a:rPr sz="2100" spc="-5" dirty="0">
                <a:latin typeface="Calibri" panose="020F0502020204030204"/>
                <a:cs typeface="Calibri" panose="020F0502020204030204"/>
              </a:rPr>
              <a:t>be</a:t>
            </a:r>
            <a:r>
              <a:rPr sz="2100" spc="-10" dirty="0">
                <a:latin typeface="Calibri" panose="020F0502020204030204"/>
                <a:cs typeface="Calibri" panose="020F0502020204030204"/>
              </a:rPr>
              <a:t> </a:t>
            </a:r>
            <a:r>
              <a:rPr sz="2100" spc="-5" dirty="0">
                <a:latin typeface="Calibri" panose="020F0502020204030204"/>
                <a:cs typeface="Calibri" panose="020F0502020204030204"/>
              </a:rPr>
              <a:t>tackled</a:t>
            </a:r>
            <a:r>
              <a:rPr sz="2100" spc="-20" dirty="0">
                <a:latin typeface="Calibri" panose="020F0502020204030204"/>
                <a:cs typeface="Calibri" panose="020F0502020204030204"/>
              </a:rPr>
              <a:t> </a:t>
            </a:r>
            <a:r>
              <a:rPr sz="2100" spc="-5" dirty="0">
                <a:latin typeface="Calibri" panose="020F0502020204030204"/>
                <a:cs typeface="Calibri" panose="020F0502020204030204"/>
              </a:rPr>
              <a:t>using </a:t>
            </a:r>
            <a:r>
              <a:rPr sz="2100" spc="-10" dirty="0">
                <a:latin typeface="Calibri" panose="020F0502020204030204"/>
                <a:cs typeface="Calibri" panose="020F0502020204030204"/>
              </a:rPr>
              <a:t>recurrent</a:t>
            </a:r>
            <a:r>
              <a:rPr sz="2100" spc="15" dirty="0">
                <a:latin typeface="Calibri" panose="020F0502020204030204"/>
                <a:cs typeface="Calibri" panose="020F0502020204030204"/>
              </a:rPr>
              <a:t> </a:t>
            </a:r>
            <a:r>
              <a:rPr sz="2100" spc="-15" dirty="0">
                <a:latin typeface="Calibri" panose="020F0502020204030204"/>
                <a:cs typeface="Calibri" panose="020F0502020204030204"/>
              </a:rPr>
              <a:t>neural</a:t>
            </a:r>
            <a:r>
              <a:rPr sz="2100" spc="-10" dirty="0">
                <a:latin typeface="Calibri" panose="020F0502020204030204"/>
                <a:cs typeface="Calibri" panose="020F0502020204030204"/>
              </a:rPr>
              <a:t> networks</a:t>
            </a:r>
            <a:r>
              <a:rPr sz="2100" spc="5" dirty="0">
                <a:latin typeface="Calibri" panose="020F0502020204030204"/>
                <a:cs typeface="Calibri" panose="020F0502020204030204"/>
              </a:rPr>
              <a:t> </a:t>
            </a:r>
            <a:r>
              <a:rPr sz="2100" spc="-5" dirty="0">
                <a:latin typeface="Calibri" panose="020F0502020204030204"/>
                <a:cs typeface="Calibri" panose="020F0502020204030204"/>
              </a:rPr>
              <a:t>(RNNs), CNNs</a:t>
            </a:r>
            <a:r>
              <a:rPr sz="2100" spc="-10" dirty="0">
                <a:latin typeface="Calibri" panose="020F0502020204030204"/>
                <a:cs typeface="Calibri" panose="020F0502020204030204"/>
              </a:rPr>
              <a:t> </a:t>
            </a:r>
            <a:r>
              <a:rPr sz="2100" spc="-5" dirty="0">
                <a:latin typeface="Calibri" panose="020F0502020204030204"/>
                <a:cs typeface="Calibri" panose="020F0502020204030204"/>
              </a:rPr>
              <a:t>or </a:t>
            </a:r>
            <a:r>
              <a:rPr sz="2100" dirty="0">
                <a:latin typeface="Calibri" panose="020F0502020204030204"/>
                <a:cs typeface="Calibri" panose="020F0502020204030204"/>
              </a:rPr>
              <a:t> </a:t>
            </a:r>
            <a:r>
              <a:rPr sz="2100" spc="-30" dirty="0">
                <a:latin typeface="Calibri" panose="020F0502020204030204"/>
                <a:cs typeface="Calibri" panose="020F0502020204030204"/>
              </a:rPr>
              <a:t>Transformers.</a:t>
            </a:r>
            <a:endParaRPr sz="2100">
              <a:latin typeface="Calibri" panose="020F0502020204030204"/>
              <a:cs typeface="Calibri" panose="020F0502020204030204"/>
            </a:endParaRPr>
          </a:p>
          <a:p>
            <a:pPr marL="184785" indent="-172720" algn="just">
              <a:lnSpc>
                <a:spcPct val="100000"/>
              </a:lnSpc>
              <a:spcBef>
                <a:spcPts val="5"/>
              </a:spcBef>
              <a:buFont typeface="Arial MT"/>
              <a:buChar char="•"/>
              <a:tabLst>
                <a:tab pos="185420" algn="l"/>
              </a:tabLst>
            </a:pPr>
            <a:r>
              <a:rPr sz="2100" spc="-10" dirty="0">
                <a:latin typeface="Calibri" panose="020F0502020204030204"/>
                <a:cs typeface="Calibri" panose="020F0502020204030204"/>
              </a:rPr>
              <a:t>Automatically</a:t>
            </a:r>
            <a:r>
              <a:rPr sz="2100" spc="-5" dirty="0">
                <a:latin typeface="Calibri" panose="020F0502020204030204"/>
                <a:cs typeface="Calibri" panose="020F0502020204030204"/>
              </a:rPr>
              <a:t> flagging</a:t>
            </a:r>
            <a:r>
              <a:rPr sz="2100" spc="20" dirty="0">
                <a:latin typeface="Calibri" panose="020F0502020204030204"/>
                <a:cs typeface="Calibri" panose="020F0502020204030204"/>
              </a:rPr>
              <a:t> </a:t>
            </a:r>
            <a:r>
              <a:rPr sz="2100" spc="-15" dirty="0">
                <a:latin typeface="Calibri" panose="020F0502020204030204"/>
                <a:cs typeface="Calibri" panose="020F0502020204030204"/>
              </a:rPr>
              <a:t>offensive</a:t>
            </a:r>
            <a:r>
              <a:rPr sz="2100" spc="45" dirty="0">
                <a:latin typeface="Calibri" panose="020F0502020204030204"/>
                <a:cs typeface="Calibri" panose="020F0502020204030204"/>
              </a:rPr>
              <a:t> </a:t>
            </a:r>
            <a:r>
              <a:rPr sz="2100" spc="-10" dirty="0">
                <a:latin typeface="Calibri" panose="020F0502020204030204"/>
                <a:cs typeface="Calibri" panose="020F0502020204030204"/>
              </a:rPr>
              <a:t>comments</a:t>
            </a:r>
            <a:r>
              <a:rPr sz="2100" dirty="0">
                <a:latin typeface="Calibri" panose="020F0502020204030204"/>
                <a:cs typeface="Calibri" panose="020F0502020204030204"/>
              </a:rPr>
              <a:t> </a:t>
            </a:r>
            <a:r>
              <a:rPr sz="2100" spc="-5" dirty="0">
                <a:latin typeface="Calibri" panose="020F0502020204030204"/>
                <a:cs typeface="Calibri" panose="020F0502020204030204"/>
              </a:rPr>
              <a:t>on</a:t>
            </a:r>
            <a:r>
              <a:rPr sz="2100" spc="5" dirty="0">
                <a:latin typeface="Calibri" panose="020F0502020204030204"/>
                <a:cs typeface="Calibri" panose="020F0502020204030204"/>
              </a:rPr>
              <a:t> </a:t>
            </a:r>
            <a:r>
              <a:rPr sz="2100" spc="-10" dirty="0">
                <a:latin typeface="Calibri" panose="020F0502020204030204"/>
                <a:cs typeface="Calibri" panose="020F0502020204030204"/>
              </a:rPr>
              <a:t>discussion</a:t>
            </a:r>
            <a:r>
              <a:rPr sz="2100" spc="45" dirty="0">
                <a:latin typeface="Calibri" panose="020F0502020204030204"/>
                <a:cs typeface="Calibri" panose="020F0502020204030204"/>
              </a:rPr>
              <a:t> </a:t>
            </a:r>
            <a:r>
              <a:rPr sz="2100" spc="-15" dirty="0">
                <a:latin typeface="Calibri" panose="020F0502020204030204"/>
                <a:cs typeface="Calibri" panose="020F0502020204030204"/>
              </a:rPr>
              <a:t>forums:</a:t>
            </a:r>
            <a:r>
              <a:rPr sz="2100" spc="15" dirty="0">
                <a:latin typeface="Calibri" panose="020F0502020204030204"/>
                <a:cs typeface="Calibri" panose="020F0502020204030204"/>
              </a:rPr>
              <a:t> </a:t>
            </a:r>
            <a:r>
              <a:rPr sz="2100" dirty="0">
                <a:latin typeface="Calibri" panose="020F0502020204030204"/>
                <a:cs typeface="Calibri" panose="020F0502020204030204"/>
              </a:rPr>
              <a:t>this</a:t>
            </a:r>
            <a:endParaRPr sz="2100">
              <a:latin typeface="Calibri" panose="020F0502020204030204"/>
              <a:cs typeface="Calibri" panose="020F0502020204030204"/>
            </a:endParaRPr>
          </a:p>
          <a:p>
            <a:pPr marL="184785" algn="just">
              <a:lnSpc>
                <a:spcPct val="100000"/>
              </a:lnSpc>
            </a:pPr>
            <a:r>
              <a:rPr sz="2100" dirty="0">
                <a:latin typeface="Calibri" panose="020F0502020204030204"/>
                <a:cs typeface="Calibri" panose="020F0502020204030204"/>
              </a:rPr>
              <a:t>is </a:t>
            </a:r>
            <a:r>
              <a:rPr sz="2100" spc="-5" dirty="0">
                <a:latin typeface="Calibri" panose="020F0502020204030204"/>
                <a:cs typeface="Calibri" panose="020F0502020204030204"/>
              </a:rPr>
              <a:t>also</a:t>
            </a:r>
            <a:r>
              <a:rPr sz="2100" spc="10" dirty="0">
                <a:latin typeface="Calibri" panose="020F0502020204030204"/>
                <a:cs typeface="Calibri" panose="020F0502020204030204"/>
              </a:rPr>
              <a:t> </a:t>
            </a:r>
            <a:r>
              <a:rPr sz="2100" spc="-2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text</a:t>
            </a:r>
            <a:r>
              <a:rPr sz="2100" spc="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100" spc="-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classification</a:t>
            </a:r>
            <a:r>
              <a:rPr sz="2100" spc="-5" dirty="0">
                <a:latin typeface="Calibri" panose="020F0502020204030204"/>
                <a:cs typeface="Calibri" panose="020F0502020204030204"/>
              </a:rPr>
              <a:t>,</a:t>
            </a:r>
            <a:r>
              <a:rPr sz="2100" spc="10" dirty="0">
                <a:latin typeface="Calibri" panose="020F0502020204030204"/>
                <a:cs typeface="Calibri" panose="020F0502020204030204"/>
              </a:rPr>
              <a:t> </a:t>
            </a:r>
            <a:r>
              <a:rPr sz="2100" spc="-5" dirty="0">
                <a:latin typeface="Calibri" panose="020F0502020204030204"/>
                <a:cs typeface="Calibri" panose="020F0502020204030204"/>
              </a:rPr>
              <a:t>using</a:t>
            </a:r>
            <a:r>
              <a:rPr sz="2100" dirty="0">
                <a:latin typeface="Calibri" panose="020F0502020204030204"/>
                <a:cs typeface="Calibri" panose="020F0502020204030204"/>
              </a:rPr>
              <a:t> the </a:t>
            </a:r>
            <a:r>
              <a:rPr sz="2100" spc="-5" dirty="0">
                <a:latin typeface="Calibri" panose="020F0502020204030204"/>
                <a:cs typeface="Calibri" panose="020F0502020204030204"/>
              </a:rPr>
              <a:t>same </a:t>
            </a:r>
            <a:r>
              <a:rPr sz="2100" dirty="0">
                <a:latin typeface="Calibri" panose="020F0502020204030204"/>
                <a:cs typeface="Calibri" panose="020F0502020204030204"/>
              </a:rPr>
              <a:t>NLP</a:t>
            </a:r>
            <a:r>
              <a:rPr sz="2100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sz="2100" spc="-10" dirty="0">
                <a:latin typeface="Calibri" panose="020F0502020204030204"/>
                <a:cs typeface="Calibri" panose="020F0502020204030204"/>
              </a:rPr>
              <a:t>tools.</a:t>
            </a:r>
            <a:endParaRPr sz="2100">
              <a:latin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07542" y="1842261"/>
            <a:ext cx="7718425" cy="41871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84785" marR="288290" indent="-172720" algn="just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185420" algn="l"/>
              </a:tabLst>
            </a:pPr>
            <a:r>
              <a:rPr sz="2100" spc="-5" dirty="0">
                <a:latin typeface="Calibri" panose="020F0502020204030204"/>
                <a:cs typeface="Calibri" panose="020F0502020204030204"/>
              </a:rPr>
              <a:t>Summarizin</a:t>
            </a:r>
            <a:r>
              <a:rPr sz="2100" spc="-5" dirty="0">
                <a:latin typeface="Calibri" panose="020F0502020204030204"/>
                <a:cs typeface="Calibri" panose="020F0502020204030204"/>
              </a:rPr>
              <a:t>g </a:t>
            </a:r>
            <a:r>
              <a:rPr sz="2100" dirty="0">
                <a:latin typeface="Calibri" panose="020F0502020204030204"/>
                <a:cs typeface="Calibri" panose="020F0502020204030204"/>
              </a:rPr>
              <a:t>long </a:t>
            </a:r>
            <a:r>
              <a:rPr sz="2100" spc="-10" dirty="0">
                <a:latin typeface="Calibri" panose="020F0502020204030204"/>
                <a:cs typeface="Calibri" panose="020F0502020204030204"/>
              </a:rPr>
              <a:t>documents automatically: </a:t>
            </a:r>
            <a:r>
              <a:rPr sz="2100" dirty="0">
                <a:latin typeface="Calibri" panose="020F0502020204030204"/>
                <a:cs typeface="Calibri" panose="020F0502020204030204"/>
              </a:rPr>
              <a:t>this is a </a:t>
            </a:r>
            <a:r>
              <a:rPr sz="2100" spc="-10" dirty="0">
                <a:latin typeface="Calibri" panose="020F0502020204030204"/>
                <a:cs typeface="Calibri" panose="020F0502020204030204"/>
              </a:rPr>
              <a:t>branch </a:t>
            </a:r>
            <a:r>
              <a:rPr sz="2100" spc="-5" dirty="0">
                <a:latin typeface="Calibri" panose="020F0502020204030204"/>
                <a:cs typeface="Calibri" panose="020F0502020204030204"/>
              </a:rPr>
              <a:t>of </a:t>
            </a:r>
            <a:r>
              <a:rPr sz="2100" dirty="0">
                <a:latin typeface="Calibri" panose="020F0502020204030204"/>
                <a:cs typeface="Calibri" panose="020F0502020204030204"/>
              </a:rPr>
              <a:t>NLP </a:t>
            </a:r>
            <a:r>
              <a:rPr sz="2100" spc="-459" dirty="0">
                <a:latin typeface="Calibri" panose="020F0502020204030204"/>
                <a:cs typeface="Calibri" panose="020F0502020204030204"/>
              </a:rPr>
              <a:t> </a:t>
            </a:r>
            <a:r>
              <a:rPr sz="2100" spc="-5" dirty="0">
                <a:latin typeface="Calibri" panose="020F0502020204030204"/>
                <a:cs typeface="Calibri" panose="020F0502020204030204"/>
              </a:rPr>
              <a:t>called </a:t>
            </a:r>
            <a:r>
              <a:rPr sz="2100" spc="-1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text</a:t>
            </a:r>
            <a:r>
              <a:rPr sz="2100" spc="1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100" spc="-1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summarization</a:t>
            </a:r>
            <a:r>
              <a:rPr sz="2100" spc="-10" dirty="0">
                <a:latin typeface="Calibri" panose="020F0502020204030204"/>
                <a:cs typeface="Calibri" panose="020F0502020204030204"/>
              </a:rPr>
              <a:t>,</a:t>
            </a:r>
            <a:r>
              <a:rPr sz="2100" dirty="0">
                <a:latin typeface="Calibri" panose="020F0502020204030204"/>
                <a:cs typeface="Calibri" panose="020F0502020204030204"/>
              </a:rPr>
              <a:t> </a:t>
            </a:r>
            <a:r>
              <a:rPr sz="2100" spc="-10" dirty="0">
                <a:latin typeface="Calibri" panose="020F0502020204030204"/>
                <a:cs typeface="Calibri" panose="020F0502020204030204"/>
              </a:rPr>
              <a:t>again</a:t>
            </a:r>
            <a:r>
              <a:rPr sz="2100" spc="-20" dirty="0">
                <a:latin typeface="Calibri" panose="020F0502020204030204"/>
                <a:cs typeface="Calibri" panose="020F0502020204030204"/>
              </a:rPr>
              <a:t> </a:t>
            </a:r>
            <a:r>
              <a:rPr sz="2100" spc="-5" dirty="0">
                <a:latin typeface="Calibri" panose="020F0502020204030204"/>
                <a:cs typeface="Calibri" panose="020F0502020204030204"/>
              </a:rPr>
              <a:t>using</a:t>
            </a:r>
            <a:r>
              <a:rPr sz="2100" spc="10" dirty="0">
                <a:latin typeface="Calibri" panose="020F0502020204030204"/>
                <a:cs typeface="Calibri" panose="020F0502020204030204"/>
              </a:rPr>
              <a:t> </a:t>
            </a:r>
            <a:r>
              <a:rPr sz="2100" dirty="0">
                <a:latin typeface="Calibri" panose="020F0502020204030204"/>
                <a:cs typeface="Calibri" panose="020F0502020204030204"/>
              </a:rPr>
              <a:t>the </a:t>
            </a:r>
            <a:r>
              <a:rPr sz="2100" spc="-5" dirty="0">
                <a:latin typeface="Calibri" panose="020F0502020204030204"/>
                <a:cs typeface="Calibri" panose="020F0502020204030204"/>
              </a:rPr>
              <a:t>same</a:t>
            </a:r>
            <a:r>
              <a:rPr sz="2100" spc="5" dirty="0">
                <a:latin typeface="Calibri" panose="020F0502020204030204"/>
                <a:cs typeface="Calibri" panose="020F0502020204030204"/>
              </a:rPr>
              <a:t> </a:t>
            </a:r>
            <a:r>
              <a:rPr sz="2100" spc="-10" dirty="0">
                <a:latin typeface="Calibri" panose="020F0502020204030204"/>
                <a:cs typeface="Calibri" panose="020F0502020204030204"/>
              </a:rPr>
              <a:t>tools.</a:t>
            </a:r>
            <a:endParaRPr sz="2100">
              <a:latin typeface="Calibri" panose="020F0502020204030204"/>
              <a:cs typeface="Calibri" panose="020F0502020204030204"/>
            </a:endParaRPr>
          </a:p>
          <a:p>
            <a:pPr marL="184785" marR="433070" indent="-172720" algn="just">
              <a:lnSpc>
                <a:spcPct val="100000"/>
              </a:lnSpc>
              <a:buFont typeface="Arial MT"/>
              <a:buChar char="•"/>
              <a:tabLst>
                <a:tab pos="185420" algn="l"/>
              </a:tabLst>
            </a:pPr>
            <a:r>
              <a:rPr sz="2100" spc="-10" dirty="0">
                <a:latin typeface="Calibri" panose="020F0502020204030204"/>
                <a:cs typeface="Calibri" panose="020F0502020204030204"/>
              </a:rPr>
              <a:t>Creating </a:t>
            </a:r>
            <a:r>
              <a:rPr sz="2100" dirty="0">
                <a:latin typeface="Calibri" panose="020F0502020204030204"/>
                <a:cs typeface="Calibri" panose="020F0502020204030204"/>
              </a:rPr>
              <a:t>a </a:t>
            </a:r>
            <a:r>
              <a:rPr sz="2100" spc="-5" dirty="0">
                <a:latin typeface="Calibri" panose="020F0502020204030204"/>
                <a:cs typeface="Calibri" panose="020F0502020204030204"/>
              </a:rPr>
              <a:t>chatbot or </a:t>
            </a:r>
            <a:r>
              <a:rPr sz="2100" dirty="0">
                <a:latin typeface="Calibri" panose="020F0502020204030204"/>
                <a:cs typeface="Calibri" panose="020F0502020204030204"/>
              </a:rPr>
              <a:t>a </a:t>
            </a:r>
            <a:r>
              <a:rPr sz="2100" spc="-10" dirty="0">
                <a:latin typeface="Calibri" panose="020F0502020204030204"/>
                <a:cs typeface="Calibri" panose="020F0502020204030204"/>
              </a:rPr>
              <a:t>personal assistant: </a:t>
            </a:r>
            <a:r>
              <a:rPr sz="2100" dirty="0">
                <a:latin typeface="Calibri" panose="020F0502020204030204"/>
                <a:cs typeface="Calibri" panose="020F0502020204030204"/>
              </a:rPr>
              <a:t>this </a:t>
            </a:r>
            <a:r>
              <a:rPr sz="2100" spc="-15" dirty="0">
                <a:latin typeface="Calibri" panose="020F0502020204030204"/>
                <a:cs typeface="Calibri" panose="020F0502020204030204"/>
              </a:rPr>
              <a:t>involves </a:t>
            </a:r>
            <a:r>
              <a:rPr sz="2100" spc="-10" dirty="0">
                <a:latin typeface="Calibri" panose="020F0502020204030204"/>
                <a:cs typeface="Calibri" panose="020F0502020204030204"/>
              </a:rPr>
              <a:t>many </a:t>
            </a:r>
            <a:r>
              <a:rPr sz="2100" dirty="0">
                <a:latin typeface="Calibri" panose="020F0502020204030204"/>
                <a:cs typeface="Calibri" panose="020F0502020204030204"/>
              </a:rPr>
              <a:t>NLP </a:t>
            </a:r>
            <a:r>
              <a:rPr sz="2100" spc="-459" dirty="0">
                <a:latin typeface="Calibri" panose="020F0502020204030204"/>
                <a:cs typeface="Calibri" panose="020F0502020204030204"/>
              </a:rPr>
              <a:t> </a:t>
            </a:r>
            <a:r>
              <a:rPr sz="2100" spc="-10" dirty="0">
                <a:latin typeface="Calibri" panose="020F0502020204030204"/>
                <a:cs typeface="Calibri" panose="020F0502020204030204"/>
              </a:rPr>
              <a:t>components, </a:t>
            </a:r>
            <a:r>
              <a:rPr sz="2100" dirty="0">
                <a:latin typeface="Calibri" panose="020F0502020204030204"/>
                <a:cs typeface="Calibri" panose="020F0502020204030204"/>
              </a:rPr>
              <a:t>including </a:t>
            </a:r>
            <a:r>
              <a:rPr sz="2100" spc="-1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natural </a:t>
            </a:r>
            <a:r>
              <a:rPr sz="2100" spc="-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language </a:t>
            </a:r>
            <a:r>
              <a:rPr sz="2100" spc="-1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understanding </a:t>
            </a:r>
            <a:r>
              <a:rPr sz="2100" spc="-15" dirty="0">
                <a:latin typeface="Calibri" panose="020F0502020204030204"/>
                <a:cs typeface="Calibri" panose="020F0502020204030204"/>
              </a:rPr>
              <a:t>(NLU) </a:t>
            </a:r>
            <a:r>
              <a:rPr sz="2100" dirty="0">
                <a:latin typeface="Calibri" panose="020F0502020204030204"/>
                <a:cs typeface="Calibri" panose="020F0502020204030204"/>
              </a:rPr>
              <a:t>and </a:t>
            </a:r>
            <a:r>
              <a:rPr sz="2100" spc="-459" dirty="0">
                <a:latin typeface="Calibri" panose="020F0502020204030204"/>
                <a:cs typeface="Calibri" panose="020F0502020204030204"/>
              </a:rPr>
              <a:t> </a:t>
            </a:r>
            <a:r>
              <a:rPr sz="2100" spc="-10" dirty="0">
                <a:latin typeface="Calibri" panose="020F0502020204030204"/>
                <a:cs typeface="Calibri" panose="020F0502020204030204"/>
              </a:rPr>
              <a:t>question</a:t>
            </a:r>
            <a:r>
              <a:rPr sz="2100" spc="5" dirty="0">
                <a:latin typeface="Calibri" panose="020F0502020204030204"/>
                <a:cs typeface="Calibri" panose="020F0502020204030204"/>
              </a:rPr>
              <a:t> </a:t>
            </a:r>
            <a:r>
              <a:rPr sz="2100" spc="-5" dirty="0">
                <a:latin typeface="Calibri" panose="020F0502020204030204"/>
                <a:cs typeface="Calibri" panose="020F0502020204030204"/>
              </a:rPr>
              <a:t>answering</a:t>
            </a:r>
            <a:r>
              <a:rPr sz="2100" spc="5" dirty="0">
                <a:latin typeface="Calibri" panose="020F0502020204030204"/>
                <a:cs typeface="Calibri" panose="020F0502020204030204"/>
              </a:rPr>
              <a:t> </a:t>
            </a:r>
            <a:r>
              <a:rPr sz="2100" spc="-5" dirty="0">
                <a:latin typeface="Calibri" panose="020F0502020204030204"/>
                <a:cs typeface="Calibri" panose="020F0502020204030204"/>
              </a:rPr>
              <a:t>modules.</a:t>
            </a:r>
            <a:endParaRPr sz="2100">
              <a:latin typeface="Calibri" panose="020F0502020204030204"/>
              <a:cs typeface="Calibri" panose="020F0502020204030204"/>
            </a:endParaRPr>
          </a:p>
          <a:p>
            <a:pPr marL="184785" marR="5080" indent="-172720" algn="just">
              <a:lnSpc>
                <a:spcPct val="100000"/>
              </a:lnSpc>
              <a:buFont typeface="Arial MT"/>
              <a:buChar char="•"/>
              <a:tabLst>
                <a:tab pos="185420" algn="l"/>
              </a:tabLst>
            </a:pPr>
            <a:r>
              <a:rPr sz="2100" spc="-10" dirty="0">
                <a:latin typeface="Calibri" panose="020F0502020204030204"/>
                <a:cs typeface="Calibri" panose="020F0502020204030204"/>
              </a:rPr>
              <a:t>Forecasting</a:t>
            </a:r>
            <a:r>
              <a:rPr sz="2100" spc="-5" dirty="0">
                <a:latin typeface="Calibri" panose="020F0502020204030204"/>
                <a:cs typeface="Calibri" panose="020F0502020204030204"/>
              </a:rPr>
              <a:t> </a:t>
            </a:r>
            <a:r>
              <a:rPr sz="2100" spc="-10" dirty="0">
                <a:latin typeface="Calibri" panose="020F0502020204030204"/>
                <a:cs typeface="Calibri" panose="020F0502020204030204"/>
              </a:rPr>
              <a:t>your</a:t>
            </a:r>
            <a:r>
              <a:rPr sz="2100" spc="10" dirty="0">
                <a:latin typeface="Calibri" panose="020F0502020204030204"/>
                <a:cs typeface="Calibri" panose="020F0502020204030204"/>
              </a:rPr>
              <a:t> </a:t>
            </a:r>
            <a:r>
              <a:rPr sz="2100" spc="-20" dirty="0">
                <a:latin typeface="Calibri" panose="020F0502020204030204"/>
                <a:cs typeface="Calibri" panose="020F0502020204030204"/>
              </a:rPr>
              <a:t>company’s</a:t>
            </a:r>
            <a:r>
              <a:rPr sz="2100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sz="2100" spc="-10" dirty="0">
                <a:latin typeface="Calibri" panose="020F0502020204030204"/>
                <a:cs typeface="Calibri" panose="020F0502020204030204"/>
              </a:rPr>
              <a:t>revenue</a:t>
            </a:r>
            <a:r>
              <a:rPr sz="2100" spc="15" dirty="0">
                <a:latin typeface="Calibri" panose="020F0502020204030204"/>
                <a:cs typeface="Calibri" panose="020F0502020204030204"/>
              </a:rPr>
              <a:t> </a:t>
            </a:r>
            <a:r>
              <a:rPr sz="2100" spc="-15" dirty="0">
                <a:latin typeface="Calibri" panose="020F0502020204030204"/>
                <a:cs typeface="Calibri" panose="020F0502020204030204"/>
              </a:rPr>
              <a:t>next</a:t>
            </a:r>
            <a:r>
              <a:rPr sz="2100" dirty="0">
                <a:latin typeface="Calibri" panose="020F0502020204030204"/>
                <a:cs typeface="Calibri" panose="020F0502020204030204"/>
              </a:rPr>
              <a:t> </a:t>
            </a:r>
            <a:r>
              <a:rPr sz="2100" spc="-45" dirty="0">
                <a:latin typeface="Calibri" panose="020F0502020204030204"/>
                <a:cs typeface="Calibri" panose="020F0502020204030204"/>
              </a:rPr>
              <a:t>year,</a:t>
            </a:r>
            <a:r>
              <a:rPr sz="2100" spc="5" dirty="0">
                <a:latin typeface="Calibri" panose="020F0502020204030204"/>
                <a:cs typeface="Calibri" panose="020F0502020204030204"/>
              </a:rPr>
              <a:t> </a:t>
            </a:r>
            <a:r>
              <a:rPr sz="2100" spc="-5" dirty="0">
                <a:latin typeface="Calibri" panose="020F0502020204030204"/>
                <a:cs typeface="Calibri" panose="020F0502020204030204"/>
              </a:rPr>
              <a:t>based</a:t>
            </a:r>
            <a:r>
              <a:rPr sz="2100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sz="2100" spc="-5" dirty="0">
                <a:latin typeface="Calibri" panose="020F0502020204030204"/>
                <a:cs typeface="Calibri" panose="020F0502020204030204"/>
              </a:rPr>
              <a:t>on </a:t>
            </a:r>
            <a:r>
              <a:rPr sz="2100" spc="-10" dirty="0">
                <a:latin typeface="Calibri" panose="020F0502020204030204"/>
                <a:cs typeface="Calibri" panose="020F0502020204030204"/>
              </a:rPr>
              <a:t>many </a:t>
            </a:r>
            <a:r>
              <a:rPr sz="2100" spc="-5" dirty="0">
                <a:latin typeface="Calibri" panose="020F0502020204030204"/>
                <a:cs typeface="Calibri" panose="020F0502020204030204"/>
              </a:rPr>
              <a:t> </a:t>
            </a:r>
            <a:r>
              <a:rPr sz="2100" spc="-10" dirty="0">
                <a:latin typeface="Calibri" panose="020F0502020204030204"/>
                <a:cs typeface="Calibri" panose="020F0502020204030204"/>
              </a:rPr>
              <a:t>performance</a:t>
            </a:r>
            <a:r>
              <a:rPr sz="2100" spc="5" dirty="0">
                <a:latin typeface="Calibri" panose="020F0502020204030204"/>
                <a:cs typeface="Calibri" panose="020F0502020204030204"/>
              </a:rPr>
              <a:t> </a:t>
            </a:r>
            <a:r>
              <a:rPr sz="2100" spc="-5" dirty="0">
                <a:latin typeface="Calibri" panose="020F0502020204030204"/>
                <a:cs typeface="Calibri" panose="020F0502020204030204"/>
              </a:rPr>
              <a:t>metrics.</a:t>
            </a:r>
            <a:r>
              <a:rPr sz="2100" dirty="0">
                <a:latin typeface="Calibri" panose="020F0502020204030204"/>
                <a:cs typeface="Calibri" panose="020F0502020204030204"/>
              </a:rPr>
              <a:t> </a:t>
            </a:r>
            <a:r>
              <a:rPr sz="2100" spc="-5" dirty="0">
                <a:latin typeface="Calibri" panose="020F0502020204030204"/>
                <a:cs typeface="Calibri" panose="020F0502020204030204"/>
              </a:rPr>
              <a:t>This</a:t>
            </a:r>
            <a:r>
              <a:rPr sz="2100" spc="20" dirty="0">
                <a:latin typeface="Calibri" panose="020F0502020204030204"/>
                <a:cs typeface="Calibri" panose="020F0502020204030204"/>
              </a:rPr>
              <a:t> </a:t>
            </a:r>
            <a:r>
              <a:rPr sz="2100" dirty="0">
                <a:latin typeface="Calibri" panose="020F0502020204030204"/>
                <a:cs typeface="Calibri" panose="020F0502020204030204"/>
              </a:rPr>
              <a:t>a</a:t>
            </a:r>
            <a:r>
              <a:rPr sz="2100" spc="5" dirty="0">
                <a:latin typeface="Calibri" panose="020F0502020204030204"/>
                <a:cs typeface="Calibri" panose="020F0502020204030204"/>
              </a:rPr>
              <a:t> </a:t>
            </a:r>
            <a:r>
              <a:rPr sz="2100" spc="-1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regression</a:t>
            </a:r>
            <a:r>
              <a:rPr sz="2100" spc="4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100" spc="-10" dirty="0">
                <a:latin typeface="Calibri" panose="020F0502020204030204"/>
                <a:cs typeface="Calibri" panose="020F0502020204030204"/>
              </a:rPr>
              <a:t>task</a:t>
            </a:r>
            <a:r>
              <a:rPr sz="2100" spc="-20" dirty="0">
                <a:latin typeface="Calibri" panose="020F0502020204030204"/>
                <a:cs typeface="Calibri" panose="020F0502020204030204"/>
              </a:rPr>
              <a:t> </a:t>
            </a:r>
            <a:r>
              <a:rPr sz="2100" spc="-5" dirty="0">
                <a:latin typeface="Calibri" panose="020F0502020204030204"/>
                <a:cs typeface="Calibri" panose="020F0502020204030204"/>
              </a:rPr>
              <a:t>(i.e.,</a:t>
            </a:r>
            <a:r>
              <a:rPr sz="2100" spc="5" dirty="0">
                <a:latin typeface="Calibri" panose="020F0502020204030204"/>
                <a:cs typeface="Calibri" panose="020F0502020204030204"/>
              </a:rPr>
              <a:t> </a:t>
            </a:r>
            <a:r>
              <a:rPr sz="2100" spc="-5" dirty="0">
                <a:latin typeface="Calibri" panose="020F0502020204030204"/>
                <a:cs typeface="Calibri" panose="020F0502020204030204"/>
              </a:rPr>
              <a:t>predicting </a:t>
            </a:r>
            <a:r>
              <a:rPr sz="2100" spc="-10" dirty="0">
                <a:latin typeface="Calibri" panose="020F0502020204030204"/>
                <a:cs typeface="Calibri" panose="020F0502020204030204"/>
              </a:rPr>
              <a:t>values), </a:t>
            </a:r>
            <a:r>
              <a:rPr sz="2100" spc="-5" dirty="0">
                <a:latin typeface="Calibri" panose="020F0502020204030204"/>
                <a:cs typeface="Calibri" panose="020F0502020204030204"/>
              </a:rPr>
              <a:t> </a:t>
            </a:r>
            <a:r>
              <a:rPr sz="2100" dirty="0">
                <a:latin typeface="Calibri" panose="020F0502020204030204"/>
                <a:cs typeface="Calibri" panose="020F0502020204030204"/>
              </a:rPr>
              <a:t>which</a:t>
            </a:r>
            <a:r>
              <a:rPr sz="2100" spc="-15" dirty="0">
                <a:latin typeface="Calibri" panose="020F0502020204030204"/>
                <a:cs typeface="Calibri" panose="020F0502020204030204"/>
              </a:rPr>
              <a:t> may</a:t>
            </a:r>
            <a:r>
              <a:rPr sz="2100" spc="-10" dirty="0">
                <a:latin typeface="Calibri" panose="020F0502020204030204"/>
                <a:cs typeface="Calibri" panose="020F0502020204030204"/>
              </a:rPr>
              <a:t> </a:t>
            </a:r>
            <a:r>
              <a:rPr sz="2100" spc="-5" dirty="0">
                <a:latin typeface="Calibri" panose="020F0502020204030204"/>
                <a:cs typeface="Calibri" panose="020F0502020204030204"/>
              </a:rPr>
              <a:t>be</a:t>
            </a:r>
            <a:r>
              <a:rPr sz="2100" spc="-10" dirty="0">
                <a:latin typeface="Calibri" panose="020F0502020204030204"/>
                <a:cs typeface="Calibri" panose="020F0502020204030204"/>
              </a:rPr>
              <a:t> </a:t>
            </a:r>
            <a:r>
              <a:rPr sz="2100" spc="-5" dirty="0">
                <a:latin typeface="Calibri" panose="020F0502020204030204"/>
                <a:cs typeface="Calibri" panose="020F0502020204030204"/>
              </a:rPr>
              <a:t>tackled</a:t>
            </a:r>
            <a:r>
              <a:rPr sz="2100" spc="-20" dirty="0">
                <a:latin typeface="Calibri" panose="020F0502020204030204"/>
                <a:cs typeface="Calibri" panose="020F0502020204030204"/>
              </a:rPr>
              <a:t> </a:t>
            </a:r>
            <a:r>
              <a:rPr sz="2100" spc="-5" dirty="0">
                <a:latin typeface="Calibri" panose="020F0502020204030204"/>
                <a:cs typeface="Calibri" panose="020F0502020204030204"/>
              </a:rPr>
              <a:t>using</a:t>
            </a:r>
            <a:r>
              <a:rPr sz="2100" spc="-10" dirty="0">
                <a:latin typeface="Calibri" panose="020F0502020204030204"/>
                <a:cs typeface="Calibri" panose="020F0502020204030204"/>
              </a:rPr>
              <a:t> </a:t>
            </a:r>
            <a:r>
              <a:rPr sz="2100" spc="-15" dirty="0">
                <a:latin typeface="Calibri" panose="020F0502020204030204"/>
                <a:cs typeface="Calibri" panose="020F0502020204030204"/>
              </a:rPr>
              <a:t>any</a:t>
            </a:r>
            <a:r>
              <a:rPr sz="2100" spc="-10" dirty="0">
                <a:latin typeface="Calibri" panose="020F0502020204030204"/>
                <a:cs typeface="Calibri" panose="020F0502020204030204"/>
              </a:rPr>
              <a:t> regression</a:t>
            </a:r>
            <a:r>
              <a:rPr sz="2100" spc="40" dirty="0">
                <a:latin typeface="Calibri" panose="020F0502020204030204"/>
                <a:cs typeface="Calibri" panose="020F0502020204030204"/>
              </a:rPr>
              <a:t> </a:t>
            </a:r>
            <a:r>
              <a:rPr sz="2100" dirty="0">
                <a:latin typeface="Calibri" panose="020F0502020204030204"/>
                <a:cs typeface="Calibri" panose="020F0502020204030204"/>
              </a:rPr>
              <a:t>model, </a:t>
            </a:r>
            <a:r>
              <a:rPr sz="2100" spc="-5" dirty="0">
                <a:latin typeface="Calibri" panose="020F0502020204030204"/>
                <a:cs typeface="Calibri" panose="020F0502020204030204"/>
              </a:rPr>
              <a:t>such</a:t>
            </a:r>
            <a:r>
              <a:rPr sz="2100" dirty="0">
                <a:latin typeface="Calibri" panose="020F0502020204030204"/>
                <a:cs typeface="Calibri" panose="020F0502020204030204"/>
              </a:rPr>
              <a:t> as</a:t>
            </a:r>
            <a:r>
              <a:rPr sz="2100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sz="2100" dirty="0">
                <a:latin typeface="Calibri" panose="020F0502020204030204"/>
                <a:cs typeface="Calibri" panose="020F0502020204030204"/>
              </a:rPr>
              <a:t>a</a:t>
            </a:r>
            <a:r>
              <a:rPr sz="2100" spc="-10" dirty="0">
                <a:latin typeface="Calibri" panose="020F0502020204030204"/>
                <a:cs typeface="Calibri" panose="020F0502020204030204"/>
              </a:rPr>
              <a:t> </a:t>
            </a:r>
            <a:r>
              <a:rPr sz="2100" spc="-5" dirty="0">
                <a:latin typeface="Calibri" panose="020F0502020204030204"/>
                <a:cs typeface="Calibri" panose="020F0502020204030204"/>
              </a:rPr>
              <a:t>Linear </a:t>
            </a:r>
            <a:r>
              <a:rPr sz="2100" dirty="0">
                <a:latin typeface="Calibri" panose="020F0502020204030204"/>
                <a:cs typeface="Calibri" panose="020F0502020204030204"/>
              </a:rPr>
              <a:t> </a:t>
            </a:r>
            <a:r>
              <a:rPr sz="2100" spc="-15" dirty="0">
                <a:latin typeface="Calibri" panose="020F0502020204030204"/>
                <a:cs typeface="Calibri" panose="020F0502020204030204"/>
              </a:rPr>
              <a:t>Regression</a:t>
            </a:r>
            <a:r>
              <a:rPr sz="2100" spc="35" dirty="0">
                <a:latin typeface="Calibri" panose="020F0502020204030204"/>
                <a:cs typeface="Calibri" panose="020F0502020204030204"/>
              </a:rPr>
              <a:t> </a:t>
            </a:r>
            <a:r>
              <a:rPr sz="2100" spc="-5" dirty="0">
                <a:latin typeface="Calibri" panose="020F0502020204030204"/>
                <a:cs typeface="Calibri" panose="020F0502020204030204"/>
              </a:rPr>
              <a:t>or</a:t>
            </a:r>
            <a:r>
              <a:rPr sz="2100" spc="10" dirty="0">
                <a:latin typeface="Calibri" panose="020F0502020204030204"/>
                <a:cs typeface="Calibri" panose="020F0502020204030204"/>
              </a:rPr>
              <a:t> </a:t>
            </a:r>
            <a:r>
              <a:rPr sz="2100" spc="-10" dirty="0">
                <a:latin typeface="Calibri" panose="020F0502020204030204"/>
                <a:cs typeface="Calibri" panose="020F0502020204030204"/>
              </a:rPr>
              <a:t>Polynomial</a:t>
            </a:r>
            <a:r>
              <a:rPr sz="2100" spc="20" dirty="0">
                <a:latin typeface="Calibri" panose="020F0502020204030204"/>
                <a:cs typeface="Calibri" panose="020F0502020204030204"/>
              </a:rPr>
              <a:t> </a:t>
            </a:r>
            <a:r>
              <a:rPr sz="2100" spc="-15" dirty="0">
                <a:latin typeface="Calibri" panose="020F0502020204030204"/>
                <a:cs typeface="Calibri" panose="020F0502020204030204"/>
              </a:rPr>
              <a:t>Regression</a:t>
            </a:r>
            <a:r>
              <a:rPr sz="2100" spc="40" dirty="0">
                <a:latin typeface="Calibri" panose="020F0502020204030204"/>
                <a:cs typeface="Calibri" panose="020F0502020204030204"/>
              </a:rPr>
              <a:t> </a:t>
            </a:r>
            <a:r>
              <a:rPr sz="2100" dirty="0">
                <a:latin typeface="Calibri" panose="020F0502020204030204"/>
                <a:cs typeface="Calibri" panose="020F0502020204030204"/>
              </a:rPr>
              <a:t>model, a</a:t>
            </a:r>
            <a:r>
              <a:rPr sz="2100" spc="-5" dirty="0">
                <a:latin typeface="Calibri" panose="020F0502020204030204"/>
                <a:cs typeface="Calibri" panose="020F0502020204030204"/>
              </a:rPr>
              <a:t> </a:t>
            </a:r>
            <a:r>
              <a:rPr sz="2100" spc="-10" dirty="0">
                <a:latin typeface="Calibri" panose="020F0502020204030204"/>
                <a:cs typeface="Calibri" panose="020F0502020204030204"/>
              </a:rPr>
              <a:t>regression</a:t>
            </a:r>
            <a:r>
              <a:rPr sz="2100" spc="50" dirty="0">
                <a:latin typeface="Calibri" panose="020F0502020204030204"/>
                <a:cs typeface="Calibri" panose="020F0502020204030204"/>
              </a:rPr>
              <a:t> </a:t>
            </a:r>
            <a:r>
              <a:rPr sz="2100" spc="-10" dirty="0">
                <a:latin typeface="Calibri" panose="020F0502020204030204"/>
                <a:cs typeface="Calibri" panose="020F0502020204030204"/>
              </a:rPr>
              <a:t>SVM,</a:t>
            </a:r>
            <a:r>
              <a:rPr sz="2100" spc="-5" dirty="0">
                <a:latin typeface="Calibri" panose="020F0502020204030204"/>
                <a:cs typeface="Calibri" panose="020F0502020204030204"/>
              </a:rPr>
              <a:t> </a:t>
            </a:r>
            <a:r>
              <a:rPr sz="2100" dirty="0">
                <a:latin typeface="Calibri" panose="020F0502020204030204"/>
                <a:cs typeface="Calibri" panose="020F0502020204030204"/>
              </a:rPr>
              <a:t>a </a:t>
            </a:r>
            <a:r>
              <a:rPr sz="2100" spc="5" dirty="0">
                <a:latin typeface="Calibri" panose="020F0502020204030204"/>
                <a:cs typeface="Calibri" panose="020F0502020204030204"/>
              </a:rPr>
              <a:t> </a:t>
            </a:r>
            <a:r>
              <a:rPr sz="2100" spc="-10" dirty="0">
                <a:latin typeface="Calibri" panose="020F0502020204030204"/>
                <a:cs typeface="Calibri" panose="020F0502020204030204"/>
              </a:rPr>
              <a:t>regression</a:t>
            </a:r>
            <a:r>
              <a:rPr sz="2100" spc="45" dirty="0">
                <a:latin typeface="Calibri" panose="020F0502020204030204"/>
                <a:cs typeface="Calibri" panose="020F0502020204030204"/>
              </a:rPr>
              <a:t> </a:t>
            </a:r>
            <a:r>
              <a:rPr sz="2100" spc="-10" dirty="0">
                <a:latin typeface="Calibri" panose="020F0502020204030204"/>
                <a:cs typeface="Calibri" panose="020F0502020204030204"/>
              </a:rPr>
              <a:t>random</a:t>
            </a:r>
            <a:r>
              <a:rPr sz="2100" dirty="0">
                <a:latin typeface="Calibri" panose="020F0502020204030204"/>
                <a:cs typeface="Calibri" panose="020F0502020204030204"/>
              </a:rPr>
              <a:t> </a:t>
            </a:r>
            <a:r>
              <a:rPr sz="2100" spc="-25" dirty="0">
                <a:latin typeface="Calibri" panose="020F0502020204030204"/>
                <a:cs typeface="Calibri" panose="020F0502020204030204"/>
              </a:rPr>
              <a:t>forest</a:t>
            </a:r>
            <a:r>
              <a:rPr sz="2100" spc="35" dirty="0">
                <a:latin typeface="Calibri" panose="020F0502020204030204"/>
                <a:cs typeface="Calibri" panose="020F0502020204030204"/>
              </a:rPr>
              <a:t> </a:t>
            </a:r>
            <a:r>
              <a:rPr sz="2100" spc="-5" dirty="0">
                <a:latin typeface="Calibri" panose="020F0502020204030204"/>
                <a:cs typeface="Calibri" panose="020F0502020204030204"/>
              </a:rPr>
              <a:t>or</a:t>
            </a:r>
            <a:r>
              <a:rPr sz="2100" dirty="0">
                <a:latin typeface="Calibri" panose="020F0502020204030204"/>
                <a:cs typeface="Calibri" panose="020F0502020204030204"/>
              </a:rPr>
              <a:t> an </a:t>
            </a:r>
            <a:r>
              <a:rPr sz="2100" spc="-5" dirty="0">
                <a:latin typeface="Calibri" panose="020F0502020204030204"/>
                <a:cs typeface="Calibri" panose="020F0502020204030204"/>
              </a:rPr>
              <a:t>artificial</a:t>
            </a:r>
            <a:r>
              <a:rPr sz="2100" spc="15" dirty="0">
                <a:latin typeface="Calibri" panose="020F0502020204030204"/>
                <a:cs typeface="Calibri" panose="020F0502020204030204"/>
              </a:rPr>
              <a:t> </a:t>
            </a:r>
            <a:r>
              <a:rPr sz="2100" spc="-15" dirty="0">
                <a:latin typeface="Calibri" panose="020F0502020204030204"/>
                <a:cs typeface="Calibri" panose="020F0502020204030204"/>
              </a:rPr>
              <a:t>neural</a:t>
            </a:r>
            <a:r>
              <a:rPr sz="2100" dirty="0">
                <a:latin typeface="Calibri" panose="020F0502020204030204"/>
                <a:cs typeface="Calibri" panose="020F0502020204030204"/>
              </a:rPr>
              <a:t> </a:t>
            </a:r>
            <a:r>
              <a:rPr sz="2100" spc="-10" dirty="0">
                <a:latin typeface="Calibri" panose="020F0502020204030204"/>
                <a:cs typeface="Calibri" panose="020F0502020204030204"/>
              </a:rPr>
              <a:t>network.</a:t>
            </a:r>
            <a:r>
              <a:rPr sz="2100" spc="-5" dirty="0">
                <a:latin typeface="Calibri" panose="020F0502020204030204"/>
                <a:cs typeface="Calibri" panose="020F0502020204030204"/>
              </a:rPr>
              <a:t> </a:t>
            </a:r>
            <a:r>
              <a:rPr sz="2100" dirty="0">
                <a:latin typeface="Calibri" panose="020F0502020204030204"/>
                <a:cs typeface="Calibri" panose="020F0502020204030204"/>
              </a:rPr>
              <a:t>If</a:t>
            </a:r>
            <a:r>
              <a:rPr sz="2100" spc="5" dirty="0">
                <a:latin typeface="Calibri" panose="020F0502020204030204"/>
                <a:cs typeface="Calibri" panose="020F0502020204030204"/>
              </a:rPr>
              <a:t> </a:t>
            </a:r>
            <a:r>
              <a:rPr sz="2100" spc="-15" dirty="0">
                <a:latin typeface="Calibri" panose="020F0502020204030204"/>
                <a:cs typeface="Calibri" panose="020F0502020204030204"/>
              </a:rPr>
              <a:t>you</a:t>
            </a:r>
            <a:r>
              <a:rPr sz="2100" spc="-5" dirty="0">
                <a:latin typeface="Calibri" panose="020F0502020204030204"/>
                <a:cs typeface="Calibri" panose="020F0502020204030204"/>
              </a:rPr>
              <a:t> </a:t>
            </a:r>
            <a:r>
              <a:rPr sz="2100" spc="-15" dirty="0">
                <a:latin typeface="Calibri" panose="020F0502020204030204"/>
                <a:cs typeface="Calibri" panose="020F0502020204030204"/>
              </a:rPr>
              <a:t>want </a:t>
            </a:r>
            <a:r>
              <a:rPr sz="2100" spc="-10" dirty="0">
                <a:latin typeface="Calibri" panose="020F0502020204030204"/>
                <a:cs typeface="Calibri" panose="020F0502020204030204"/>
              </a:rPr>
              <a:t> to </a:t>
            </a:r>
            <a:r>
              <a:rPr sz="2100" spc="-25" dirty="0">
                <a:latin typeface="Calibri" panose="020F0502020204030204"/>
                <a:cs typeface="Calibri" panose="020F0502020204030204"/>
              </a:rPr>
              <a:t>take</a:t>
            </a:r>
            <a:r>
              <a:rPr sz="2100" spc="-20" dirty="0">
                <a:latin typeface="Calibri" panose="020F0502020204030204"/>
                <a:cs typeface="Calibri" panose="020F0502020204030204"/>
              </a:rPr>
              <a:t> </a:t>
            </a:r>
            <a:r>
              <a:rPr sz="2100" spc="-15" dirty="0">
                <a:latin typeface="Calibri" panose="020F0502020204030204"/>
                <a:cs typeface="Calibri" panose="020F0502020204030204"/>
              </a:rPr>
              <a:t>into</a:t>
            </a:r>
            <a:r>
              <a:rPr sz="2100" spc="10" dirty="0">
                <a:latin typeface="Calibri" panose="020F0502020204030204"/>
                <a:cs typeface="Calibri" panose="020F0502020204030204"/>
              </a:rPr>
              <a:t> </a:t>
            </a:r>
            <a:r>
              <a:rPr sz="2100" spc="-10" dirty="0">
                <a:latin typeface="Calibri" panose="020F0502020204030204"/>
                <a:cs typeface="Calibri" panose="020F0502020204030204"/>
              </a:rPr>
              <a:t>account</a:t>
            </a:r>
            <a:r>
              <a:rPr sz="2100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sz="2100" spc="-5" dirty="0">
                <a:latin typeface="Calibri" panose="020F0502020204030204"/>
                <a:cs typeface="Calibri" panose="020F0502020204030204"/>
              </a:rPr>
              <a:t>sequences</a:t>
            </a:r>
            <a:r>
              <a:rPr sz="2100" spc="5" dirty="0">
                <a:latin typeface="Calibri" panose="020F0502020204030204"/>
                <a:cs typeface="Calibri" panose="020F0502020204030204"/>
              </a:rPr>
              <a:t> </a:t>
            </a:r>
            <a:r>
              <a:rPr sz="2100" spc="-5" dirty="0">
                <a:latin typeface="Calibri" panose="020F0502020204030204"/>
                <a:cs typeface="Calibri" panose="020F0502020204030204"/>
              </a:rPr>
              <a:t>of</a:t>
            </a:r>
            <a:r>
              <a:rPr sz="2100" dirty="0">
                <a:latin typeface="Calibri" panose="020F0502020204030204"/>
                <a:cs typeface="Calibri" panose="020F0502020204030204"/>
              </a:rPr>
              <a:t> </a:t>
            </a:r>
            <a:r>
              <a:rPr sz="2100" spc="-10" dirty="0">
                <a:latin typeface="Calibri" panose="020F0502020204030204"/>
                <a:cs typeface="Calibri" panose="020F0502020204030204"/>
              </a:rPr>
              <a:t>past</a:t>
            </a:r>
            <a:r>
              <a:rPr sz="2100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sz="2100" spc="-10" dirty="0">
                <a:latin typeface="Calibri" panose="020F0502020204030204"/>
                <a:cs typeface="Calibri" panose="020F0502020204030204"/>
              </a:rPr>
              <a:t>performance</a:t>
            </a:r>
            <a:r>
              <a:rPr sz="2100" spc="10" dirty="0">
                <a:latin typeface="Calibri" panose="020F0502020204030204"/>
                <a:cs typeface="Calibri" panose="020F0502020204030204"/>
              </a:rPr>
              <a:t> </a:t>
            </a:r>
            <a:r>
              <a:rPr sz="2100" spc="-5" dirty="0">
                <a:latin typeface="Calibri" panose="020F0502020204030204"/>
                <a:cs typeface="Calibri" panose="020F0502020204030204"/>
              </a:rPr>
              <a:t>metrics,</a:t>
            </a:r>
            <a:r>
              <a:rPr sz="2100" spc="10" dirty="0">
                <a:latin typeface="Calibri" panose="020F0502020204030204"/>
                <a:cs typeface="Calibri" panose="020F0502020204030204"/>
              </a:rPr>
              <a:t> </a:t>
            </a:r>
            <a:r>
              <a:rPr sz="2100" spc="-15" dirty="0">
                <a:latin typeface="Calibri" panose="020F0502020204030204"/>
                <a:cs typeface="Calibri" panose="020F0502020204030204"/>
              </a:rPr>
              <a:t>you</a:t>
            </a:r>
            <a:r>
              <a:rPr sz="2100" spc="-5" dirty="0">
                <a:latin typeface="Calibri" panose="020F0502020204030204"/>
                <a:cs typeface="Calibri" panose="020F0502020204030204"/>
              </a:rPr>
              <a:t> </a:t>
            </a:r>
            <a:r>
              <a:rPr sz="2100" spc="-10" dirty="0">
                <a:latin typeface="Calibri" panose="020F0502020204030204"/>
                <a:cs typeface="Calibri" panose="020F0502020204030204"/>
              </a:rPr>
              <a:t>may </a:t>
            </a:r>
            <a:r>
              <a:rPr sz="2100" spc="-459" dirty="0">
                <a:latin typeface="Calibri" panose="020F0502020204030204"/>
                <a:cs typeface="Calibri" panose="020F0502020204030204"/>
              </a:rPr>
              <a:t> </a:t>
            </a:r>
            <a:r>
              <a:rPr sz="2100" spc="-15" dirty="0">
                <a:latin typeface="Calibri" panose="020F0502020204030204"/>
                <a:cs typeface="Calibri" panose="020F0502020204030204"/>
              </a:rPr>
              <a:t>want to</a:t>
            </a:r>
            <a:r>
              <a:rPr sz="2100" dirty="0">
                <a:latin typeface="Calibri" panose="020F0502020204030204"/>
                <a:cs typeface="Calibri" panose="020F0502020204030204"/>
              </a:rPr>
              <a:t> </a:t>
            </a:r>
            <a:r>
              <a:rPr sz="2100" spc="-5" dirty="0">
                <a:latin typeface="Calibri" panose="020F0502020204030204"/>
                <a:cs typeface="Calibri" panose="020F0502020204030204"/>
              </a:rPr>
              <a:t>use</a:t>
            </a:r>
            <a:r>
              <a:rPr sz="2100" spc="10" dirty="0">
                <a:latin typeface="Calibri" panose="020F0502020204030204"/>
                <a:cs typeface="Calibri" panose="020F0502020204030204"/>
              </a:rPr>
              <a:t> </a:t>
            </a:r>
            <a:r>
              <a:rPr sz="2100" spc="-10" dirty="0">
                <a:latin typeface="Calibri" panose="020F0502020204030204"/>
                <a:cs typeface="Calibri" panose="020F0502020204030204"/>
              </a:rPr>
              <a:t>recurrent</a:t>
            </a:r>
            <a:r>
              <a:rPr sz="2100" spc="10" dirty="0">
                <a:latin typeface="Calibri" panose="020F0502020204030204"/>
                <a:cs typeface="Calibri" panose="020F0502020204030204"/>
              </a:rPr>
              <a:t> </a:t>
            </a:r>
            <a:r>
              <a:rPr sz="2100" spc="-15" dirty="0">
                <a:latin typeface="Calibri" panose="020F0502020204030204"/>
                <a:cs typeface="Calibri" panose="020F0502020204030204"/>
              </a:rPr>
              <a:t>neural</a:t>
            </a:r>
            <a:r>
              <a:rPr sz="2100" spc="5" dirty="0">
                <a:latin typeface="Calibri" panose="020F0502020204030204"/>
                <a:cs typeface="Calibri" panose="020F0502020204030204"/>
              </a:rPr>
              <a:t> </a:t>
            </a:r>
            <a:r>
              <a:rPr sz="2100" spc="-10" dirty="0">
                <a:latin typeface="Calibri" panose="020F0502020204030204"/>
                <a:cs typeface="Calibri" panose="020F0502020204030204"/>
              </a:rPr>
              <a:t>networks</a:t>
            </a:r>
            <a:r>
              <a:rPr sz="2100" spc="10" dirty="0">
                <a:latin typeface="Calibri" panose="020F0502020204030204"/>
                <a:cs typeface="Calibri" panose="020F0502020204030204"/>
              </a:rPr>
              <a:t> </a:t>
            </a:r>
            <a:r>
              <a:rPr sz="2100" spc="-5" dirty="0">
                <a:latin typeface="Calibri" panose="020F0502020204030204"/>
                <a:cs typeface="Calibri" panose="020F0502020204030204"/>
              </a:rPr>
              <a:t>(RNNs),</a:t>
            </a:r>
            <a:r>
              <a:rPr sz="2100" spc="5" dirty="0">
                <a:latin typeface="Calibri" panose="020F0502020204030204"/>
                <a:cs typeface="Calibri" panose="020F0502020204030204"/>
              </a:rPr>
              <a:t> </a:t>
            </a:r>
            <a:r>
              <a:rPr sz="2100" spc="-15" dirty="0">
                <a:latin typeface="Calibri" panose="020F0502020204030204"/>
                <a:cs typeface="Calibri" panose="020F0502020204030204"/>
              </a:rPr>
              <a:t>convolutional</a:t>
            </a:r>
            <a:r>
              <a:rPr sz="2100" spc="20" dirty="0">
                <a:latin typeface="Calibri" panose="020F0502020204030204"/>
                <a:cs typeface="Calibri" panose="020F0502020204030204"/>
              </a:rPr>
              <a:t> </a:t>
            </a:r>
            <a:r>
              <a:rPr sz="2100" spc="-15" dirty="0">
                <a:latin typeface="Calibri" panose="020F0502020204030204"/>
                <a:cs typeface="Calibri" panose="020F0502020204030204"/>
              </a:rPr>
              <a:t>neural </a:t>
            </a:r>
            <a:r>
              <a:rPr sz="2100" spc="-10" dirty="0">
                <a:latin typeface="Calibri" panose="020F0502020204030204"/>
                <a:cs typeface="Calibri" panose="020F0502020204030204"/>
              </a:rPr>
              <a:t> networks</a:t>
            </a:r>
            <a:r>
              <a:rPr sz="2100" dirty="0">
                <a:latin typeface="Calibri" panose="020F0502020204030204"/>
                <a:cs typeface="Calibri" panose="020F0502020204030204"/>
              </a:rPr>
              <a:t> </a:t>
            </a:r>
            <a:r>
              <a:rPr sz="2100" spc="-10" dirty="0">
                <a:latin typeface="Calibri" panose="020F0502020204030204"/>
                <a:cs typeface="Calibri" panose="020F0502020204030204"/>
              </a:rPr>
              <a:t>(CNNs)</a:t>
            </a:r>
            <a:r>
              <a:rPr sz="2100" spc="-5" dirty="0">
                <a:latin typeface="Calibri" panose="020F0502020204030204"/>
                <a:cs typeface="Calibri" panose="020F0502020204030204"/>
              </a:rPr>
              <a:t> or</a:t>
            </a:r>
            <a:r>
              <a:rPr sz="2100" spc="15" dirty="0">
                <a:latin typeface="Calibri" panose="020F0502020204030204"/>
                <a:cs typeface="Calibri" panose="020F0502020204030204"/>
              </a:rPr>
              <a:t> </a:t>
            </a:r>
            <a:r>
              <a:rPr sz="2100" spc="-30" dirty="0">
                <a:latin typeface="Calibri" panose="020F0502020204030204"/>
                <a:cs typeface="Calibri" panose="020F0502020204030204"/>
              </a:rPr>
              <a:t>Transformers.</a:t>
            </a:r>
            <a:endParaRPr sz="21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816355" y="609676"/>
            <a:ext cx="775970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b="1" spc="-10" dirty="0">
                <a:solidFill>
                  <a:srgbClr val="2E5496"/>
                </a:solidFill>
                <a:latin typeface="Calibri" panose="020F0502020204030204"/>
                <a:cs typeface="Calibri" panose="020F0502020204030204"/>
              </a:rPr>
              <a:t>Applications</a:t>
            </a:r>
            <a:r>
              <a:rPr sz="4400" b="1" spc="-45" dirty="0">
                <a:solidFill>
                  <a:srgbClr val="2E5496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4400" b="1" dirty="0">
                <a:solidFill>
                  <a:srgbClr val="2E5496"/>
                </a:solidFill>
                <a:latin typeface="Calibri" panose="020F0502020204030204"/>
                <a:cs typeface="Calibri" panose="020F0502020204030204"/>
              </a:rPr>
              <a:t>of</a:t>
            </a:r>
            <a:r>
              <a:rPr sz="4400" b="1" spc="-5" dirty="0">
                <a:solidFill>
                  <a:srgbClr val="2E5496"/>
                </a:solidFill>
                <a:latin typeface="Calibri" panose="020F0502020204030204"/>
                <a:cs typeface="Calibri" panose="020F0502020204030204"/>
              </a:rPr>
              <a:t> Machine</a:t>
            </a:r>
            <a:r>
              <a:rPr sz="4400" b="1" spc="-40" dirty="0">
                <a:solidFill>
                  <a:srgbClr val="2E5496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4400" b="1" dirty="0">
                <a:solidFill>
                  <a:srgbClr val="2E5496"/>
                </a:solidFill>
                <a:latin typeface="Calibri" panose="020F0502020204030204"/>
                <a:cs typeface="Calibri" panose="020F0502020204030204"/>
              </a:rPr>
              <a:t>Learning</a:t>
            </a:r>
            <a:endParaRPr sz="4400">
              <a:latin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07542" y="1839214"/>
            <a:ext cx="7641590" cy="40760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84785" marR="68580" indent="-172720" algn="just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185420" algn="l"/>
              </a:tabLst>
            </a:pPr>
            <a:r>
              <a:rPr sz="2400" dirty="0">
                <a:latin typeface="Calibri" panose="020F0502020204030204"/>
                <a:cs typeface="Calibri" panose="020F0502020204030204"/>
              </a:rPr>
              <a:t>Making</a:t>
            </a:r>
            <a:r>
              <a:rPr sz="2400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spc="-10" dirty="0">
                <a:latin typeface="Calibri" panose="020F0502020204030204"/>
                <a:cs typeface="Calibri" panose="020F0502020204030204"/>
              </a:rPr>
              <a:t>your </a:t>
            </a:r>
            <a:r>
              <a:rPr sz="2400" dirty="0">
                <a:latin typeface="Calibri" panose="020F0502020204030204"/>
                <a:cs typeface="Calibri" panose="020F0502020204030204"/>
              </a:rPr>
              <a:t>app </a:t>
            </a:r>
            <a:r>
              <a:rPr sz="2400" spc="-10" dirty="0">
                <a:latin typeface="Calibri" panose="020F0502020204030204"/>
                <a:cs typeface="Calibri" panose="020F0502020204030204"/>
              </a:rPr>
              <a:t>react </a:t>
            </a:r>
            <a:r>
              <a:rPr sz="2400" spc="-15" dirty="0">
                <a:latin typeface="Calibri" panose="020F0502020204030204"/>
                <a:cs typeface="Calibri" panose="020F0502020204030204"/>
              </a:rPr>
              <a:t>to </a:t>
            </a:r>
            <a:r>
              <a:rPr sz="2400" spc="-10" dirty="0">
                <a:latin typeface="Calibri" panose="020F0502020204030204"/>
                <a:cs typeface="Calibri" panose="020F0502020204030204"/>
              </a:rPr>
              <a:t>voice commands. </a:t>
            </a:r>
            <a:r>
              <a:rPr sz="2400" spc="-5" dirty="0">
                <a:latin typeface="Calibri" panose="020F0502020204030204"/>
                <a:cs typeface="Calibri" panose="020F0502020204030204"/>
              </a:rPr>
              <a:t>This </a:t>
            </a:r>
            <a:r>
              <a:rPr sz="2400" dirty="0">
                <a:latin typeface="Calibri" panose="020F0502020204030204"/>
                <a:cs typeface="Calibri" panose="020F0502020204030204"/>
              </a:rPr>
              <a:t>is </a:t>
            </a:r>
            <a:r>
              <a:rPr sz="2400" spc="-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speech </a:t>
            </a:r>
            <a:r>
              <a:rPr sz="240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400" spc="-1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recognition, </a:t>
            </a:r>
            <a:r>
              <a:rPr sz="2400" dirty="0">
                <a:latin typeface="Calibri" panose="020F0502020204030204"/>
                <a:cs typeface="Calibri" panose="020F0502020204030204"/>
              </a:rPr>
              <a:t>which </a:t>
            </a:r>
            <a:r>
              <a:rPr sz="2400" spc="-10" dirty="0">
                <a:latin typeface="Calibri" panose="020F0502020204030204"/>
                <a:cs typeface="Calibri" panose="020F0502020204030204"/>
              </a:rPr>
              <a:t>requires processing </a:t>
            </a:r>
            <a:r>
              <a:rPr sz="2400" dirty="0">
                <a:latin typeface="Calibri" panose="020F0502020204030204"/>
                <a:cs typeface="Calibri" panose="020F0502020204030204"/>
              </a:rPr>
              <a:t>audio </a:t>
            </a:r>
            <a:r>
              <a:rPr sz="2400" spc="-5" dirty="0">
                <a:latin typeface="Calibri" panose="020F0502020204030204"/>
                <a:cs typeface="Calibri" panose="020F0502020204030204"/>
              </a:rPr>
              <a:t>samples: since </a:t>
            </a:r>
            <a:r>
              <a:rPr sz="2400" spc="-530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spc="-5" dirty="0">
                <a:latin typeface="Calibri" panose="020F0502020204030204"/>
                <a:cs typeface="Calibri" panose="020F0502020204030204"/>
              </a:rPr>
              <a:t>they </a:t>
            </a:r>
            <a:r>
              <a:rPr sz="2400" spc="-15" dirty="0">
                <a:latin typeface="Calibri" panose="020F0502020204030204"/>
                <a:cs typeface="Calibri" panose="020F0502020204030204"/>
              </a:rPr>
              <a:t>are </a:t>
            </a:r>
            <a:r>
              <a:rPr sz="2400" dirty="0">
                <a:latin typeface="Calibri" panose="020F0502020204030204"/>
                <a:cs typeface="Calibri" panose="020F0502020204030204"/>
              </a:rPr>
              <a:t>long and </a:t>
            </a:r>
            <a:r>
              <a:rPr sz="2400" spc="-15" dirty="0">
                <a:latin typeface="Calibri" panose="020F0502020204030204"/>
                <a:cs typeface="Calibri" panose="020F0502020204030204"/>
              </a:rPr>
              <a:t>complex </a:t>
            </a:r>
            <a:r>
              <a:rPr sz="2400" spc="-5" dirty="0">
                <a:latin typeface="Calibri" panose="020F0502020204030204"/>
                <a:cs typeface="Calibri" panose="020F0502020204030204"/>
              </a:rPr>
              <a:t>sequences, they </a:t>
            </a:r>
            <a:r>
              <a:rPr sz="2400" spc="-15" dirty="0">
                <a:latin typeface="Calibri" panose="020F0502020204030204"/>
                <a:cs typeface="Calibri" panose="020F0502020204030204"/>
              </a:rPr>
              <a:t>are </a:t>
            </a:r>
            <a:r>
              <a:rPr sz="2400" spc="-5" dirty="0">
                <a:latin typeface="Calibri" panose="020F0502020204030204"/>
                <a:cs typeface="Calibri" panose="020F0502020204030204"/>
              </a:rPr>
              <a:t>typically </a:t>
            </a:r>
            <a:r>
              <a:rPr sz="2400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spc="-10" dirty="0">
                <a:latin typeface="Calibri" panose="020F0502020204030204"/>
                <a:cs typeface="Calibri" panose="020F0502020204030204"/>
              </a:rPr>
              <a:t>processed </a:t>
            </a:r>
            <a:r>
              <a:rPr sz="2400" spc="-5" dirty="0">
                <a:latin typeface="Calibri" panose="020F0502020204030204"/>
                <a:cs typeface="Calibri" panose="020F0502020204030204"/>
              </a:rPr>
              <a:t>using </a:t>
            </a:r>
            <a:r>
              <a:rPr sz="2400" dirty="0">
                <a:latin typeface="Calibri" panose="020F0502020204030204"/>
                <a:cs typeface="Calibri" panose="020F0502020204030204"/>
              </a:rPr>
              <a:t>RNNs,</a:t>
            </a:r>
            <a:r>
              <a:rPr sz="2400" spc="-25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spc="-5" dirty="0">
                <a:latin typeface="Calibri" panose="020F0502020204030204"/>
                <a:cs typeface="Calibri" panose="020F0502020204030204"/>
              </a:rPr>
              <a:t>CNNs </a:t>
            </a:r>
            <a:r>
              <a:rPr sz="2400" spc="-10" dirty="0">
                <a:latin typeface="Calibri" panose="020F0502020204030204"/>
                <a:cs typeface="Calibri" panose="020F0502020204030204"/>
              </a:rPr>
              <a:t>or</a:t>
            </a:r>
            <a:r>
              <a:rPr sz="2400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spc="-30" dirty="0">
                <a:latin typeface="Calibri" panose="020F0502020204030204"/>
                <a:cs typeface="Calibri" panose="020F0502020204030204"/>
              </a:rPr>
              <a:t>Transformers.</a:t>
            </a:r>
            <a:endParaRPr sz="2400">
              <a:latin typeface="Calibri" panose="020F0502020204030204"/>
              <a:cs typeface="Calibri" panose="020F0502020204030204"/>
            </a:endParaRPr>
          </a:p>
          <a:p>
            <a:pPr marL="184785" indent="-172720" algn="just">
              <a:lnSpc>
                <a:spcPct val="100000"/>
              </a:lnSpc>
              <a:buFont typeface="Arial MT"/>
              <a:buChar char="•"/>
              <a:tabLst>
                <a:tab pos="185420" algn="l"/>
              </a:tabLst>
            </a:pPr>
            <a:r>
              <a:rPr sz="2400" spc="-5" dirty="0">
                <a:latin typeface="Calibri" panose="020F0502020204030204"/>
                <a:cs typeface="Calibri" panose="020F0502020204030204"/>
              </a:rPr>
              <a:t>Detecting</a:t>
            </a:r>
            <a:r>
              <a:rPr sz="2400" spc="-40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spc="-5" dirty="0">
                <a:latin typeface="Calibri" panose="020F0502020204030204"/>
                <a:cs typeface="Calibri" panose="020F0502020204030204"/>
              </a:rPr>
              <a:t>credit</a:t>
            </a:r>
            <a:r>
              <a:rPr sz="2400" spc="-15" dirty="0">
                <a:latin typeface="Calibri" panose="020F0502020204030204"/>
                <a:cs typeface="Calibri" panose="020F0502020204030204"/>
              </a:rPr>
              <a:t> card </a:t>
            </a:r>
            <a:r>
              <a:rPr sz="2400" spc="-10" dirty="0">
                <a:latin typeface="Calibri" panose="020F0502020204030204"/>
                <a:cs typeface="Calibri" panose="020F0502020204030204"/>
              </a:rPr>
              <a:t>fraud:</a:t>
            </a:r>
            <a:r>
              <a:rPr sz="2400" spc="-20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dirty="0">
                <a:latin typeface="Calibri" panose="020F0502020204030204"/>
                <a:cs typeface="Calibri" panose="020F0502020204030204"/>
              </a:rPr>
              <a:t>this</a:t>
            </a:r>
            <a:r>
              <a:rPr sz="2400" spc="-5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dirty="0">
                <a:latin typeface="Calibri" panose="020F0502020204030204"/>
                <a:cs typeface="Calibri" panose="020F0502020204030204"/>
              </a:rPr>
              <a:t>is</a:t>
            </a:r>
            <a:r>
              <a:rPr sz="2400" spc="-25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anomaly</a:t>
            </a:r>
            <a:r>
              <a:rPr sz="2400" spc="-1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400" spc="-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detection</a:t>
            </a:r>
            <a:r>
              <a:rPr sz="2400" spc="-5" dirty="0">
                <a:latin typeface="Calibri" panose="020F0502020204030204"/>
                <a:cs typeface="Calibri" panose="020F0502020204030204"/>
              </a:rPr>
              <a:t>.</a:t>
            </a:r>
            <a:endParaRPr sz="2400">
              <a:latin typeface="Calibri" panose="020F0502020204030204"/>
              <a:cs typeface="Calibri" panose="020F0502020204030204"/>
            </a:endParaRPr>
          </a:p>
          <a:p>
            <a:pPr marL="184785" marR="5080" indent="-172720" algn="just">
              <a:lnSpc>
                <a:spcPct val="100000"/>
              </a:lnSpc>
              <a:buFont typeface="Arial MT"/>
              <a:buChar char="•"/>
              <a:tabLst>
                <a:tab pos="185420" algn="l"/>
              </a:tabLst>
            </a:pPr>
            <a:r>
              <a:rPr sz="2400" spc="-5" dirty="0">
                <a:latin typeface="Calibri" panose="020F0502020204030204"/>
                <a:cs typeface="Calibri" panose="020F0502020204030204"/>
              </a:rPr>
              <a:t>Segmenting clients based on </a:t>
            </a:r>
            <a:r>
              <a:rPr sz="2400" dirty="0">
                <a:latin typeface="Calibri" panose="020F0502020204030204"/>
                <a:cs typeface="Calibri" panose="020F0502020204030204"/>
              </a:rPr>
              <a:t>their </a:t>
            </a:r>
            <a:r>
              <a:rPr sz="2400" spc="-10" dirty="0">
                <a:latin typeface="Calibri" panose="020F0502020204030204"/>
                <a:cs typeface="Calibri" panose="020F0502020204030204"/>
              </a:rPr>
              <a:t>purchases </a:t>
            </a:r>
            <a:r>
              <a:rPr sz="2400" spc="-5" dirty="0">
                <a:latin typeface="Calibri" panose="020F0502020204030204"/>
                <a:cs typeface="Calibri" panose="020F0502020204030204"/>
              </a:rPr>
              <a:t>so </a:t>
            </a:r>
            <a:r>
              <a:rPr sz="2400" spc="-10" dirty="0">
                <a:latin typeface="Calibri" panose="020F0502020204030204"/>
                <a:cs typeface="Calibri" panose="020F0502020204030204"/>
              </a:rPr>
              <a:t>that you can </a:t>
            </a:r>
            <a:r>
              <a:rPr sz="2400" spc="-530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spc="-5" dirty="0">
                <a:latin typeface="Calibri" panose="020F0502020204030204"/>
                <a:cs typeface="Calibri" panose="020F0502020204030204"/>
              </a:rPr>
              <a:t>design </a:t>
            </a:r>
            <a:r>
              <a:rPr sz="2400" dirty="0">
                <a:latin typeface="Calibri" panose="020F0502020204030204"/>
                <a:cs typeface="Calibri" panose="020F0502020204030204"/>
              </a:rPr>
              <a:t>a </a:t>
            </a:r>
            <a:r>
              <a:rPr sz="2400" spc="-20" dirty="0">
                <a:latin typeface="Calibri" panose="020F0502020204030204"/>
                <a:cs typeface="Calibri" panose="020F0502020204030204"/>
              </a:rPr>
              <a:t>different </a:t>
            </a:r>
            <a:r>
              <a:rPr sz="2400" spc="-10" dirty="0">
                <a:latin typeface="Calibri" panose="020F0502020204030204"/>
                <a:cs typeface="Calibri" panose="020F0502020204030204"/>
              </a:rPr>
              <a:t>marketing </a:t>
            </a:r>
            <a:r>
              <a:rPr sz="2400" spc="-20" dirty="0">
                <a:latin typeface="Calibri" panose="020F0502020204030204"/>
                <a:cs typeface="Calibri" panose="020F0502020204030204"/>
              </a:rPr>
              <a:t>strategy for </a:t>
            </a:r>
            <a:r>
              <a:rPr sz="2400" dirty="0">
                <a:latin typeface="Calibri" panose="020F0502020204030204"/>
                <a:cs typeface="Calibri" panose="020F0502020204030204"/>
              </a:rPr>
              <a:t>each </a:t>
            </a:r>
            <a:r>
              <a:rPr sz="2400" spc="-10" dirty="0">
                <a:latin typeface="Calibri" panose="020F0502020204030204"/>
                <a:cs typeface="Calibri" panose="020F0502020204030204"/>
              </a:rPr>
              <a:t>segment: </a:t>
            </a:r>
            <a:r>
              <a:rPr sz="2400" dirty="0">
                <a:latin typeface="Calibri" panose="020F0502020204030204"/>
                <a:cs typeface="Calibri" panose="020F0502020204030204"/>
              </a:rPr>
              <a:t>this </a:t>
            </a:r>
            <a:r>
              <a:rPr sz="2400" spc="5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dirty="0">
                <a:latin typeface="Calibri" panose="020F0502020204030204"/>
                <a:cs typeface="Calibri" panose="020F0502020204030204"/>
              </a:rPr>
              <a:t>is</a:t>
            </a:r>
            <a:r>
              <a:rPr sz="2400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spc="-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clustering</a:t>
            </a:r>
            <a:r>
              <a:rPr sz="2400" spc="-5" dirty="0">
                <a:latin typeface="Calibri" panose="020F0502020204030204"/>
                <a:cs typeface="Calibri" panose="020F0502020204030204"/>
              </a:rPr>
              <a:t>.</a:t>
            </a:r>
            <a:endParaRPr sz="2400">
              <a:latin typeface="Calibri" panose="020F0502020204030204"/>
              <a:cs typeface="Calibri" panose="020F0502020204030204"/>
            </a:endParaRPr>
          </a:p>
          <a:p>
            <a:pPr marL="184785" marR="43180" indent="-172720" algn="just">
              <a:lnSpc>
                <a:spcPct val="100000"/>
              </a:lnSpc>
              <a:spcBef>
                <a:spcPts val="5"/>
              </a:spcBef>
              <a:buFont typeface="Arial MT"/>
              <a:buChar char="•"/>
              <a:tabLst>
                <a:tab pos="185420" algn="l"/>
              </a:tabLst>
            </a:pPr>
            <a:r>
              <a:rPr sz="2400" spc="-10" dirty="0">
                <a:latin typeface="Calibri" panose="020F0502020204030204"/>
                <a:cs typeface="Calibri" panose="020F0502020204030204"/>
              </a:rPr>
              <a:t>Representing </a:t>
            </a:r>
            <a:r>
              <a:rPr sz="2400" dirty="0">
                <a:latin typeface="Calibri" panose="020F0502020204030204"/>
                <a:cs typeface="Calibri" panose="020F0502020204030204"/>
              </a:rPr>
              <a:t>a </a:t>
            </a:r>
            <a:r>
              <a:rPr sz="2400" spc="-10" dirty="0">
                <a:latin typeface="Calibri" panose="020F0502020204030204"/>
                <a:cs typeface="Calibri" panose="020F0502020204030204"/>
              </a:rPr>
              <a:t>complex, </a:t>
            </a:r>
            <a:r>
              <a:rPr sz="2400" spc="-5" dirty="0">
                <a:latin typeface="Calibri" panose="020F0502020204030204"/>
                <a:cs typeface="Calibri" panose="020F0502020204030204"/>
              </a:rPr>
              <a:t>high-dimensional </a:t>
            </a:r>
            <a:r>
              <a:rPr sz="2400" spc="-10" dirty="0">
                <a:latin typeface="Calibri" panose="020F0502020204030204"/>
                <a:cs typeface="Calibri" panose="020F0502020204030204"/>
              </a:rPr>
              <a:t>dataset </a:t>
            </a:r>
            <a:r>
              <a:rPr sz="2400" dirty="0">
                <a:latin typeface="Calibri" panose="020F0502020204030204"/>
                <a:cs typeface="Calibri" panose="020F0502020204030204"/>
              </a:rPr>
              <a:t>in a clear </a:t>
            </a:r>
            <a:r>
              <a:rPr sz="2400" spc="-530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dirty="0">
                <a:latin typeface="Calibri" panose="020F0502020204030204"/>
                <a:cs typeface="Calibri" panose="020F0502020204030204"/>
              </a:rPr>
              <a:t>and </a:t>
            </a:r>
            <a:r>
              <a:rPr sz="2400" spc="-5" dirty="0">
                <a:latin typeface="Calibri" panose="020F0502020204030204"/>
                <a:cs typeface="Calibri" panose="020F0502020204030204"/>
              </a:rPr>
              <a:t>insightful </a:t>
            </a:r>
            <a:r>
              <a:rPr sz="2400" spc="-10" dirty="0">
                <a:latin typeface="Calibri" panose="020F0502020204030204"/>
                <a:cs typeface="Calibri" panose="020F0502020204030204"/>
              </a:rPr>
              <a:t>diagram: </a:t>
            </a:r>
            <a:r>
              <a:rPr sz="2400" dirty="0">
                <a:latin typeface="Calibri" panose="020F0502020204030204"/>
                <a:cs typeface="Calibri" panose="020F0502020204030204"/>
              </a:rPr>
              <a:t>this is </a:t>
            </a:r>
            <a:r>
              <a:rPr sz="2400" spc="-1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data </a:t>
            </a:r>
            <a:r>
              <a:rPr sz="2400" spc="-1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visualization</a:t>
            </a:r>
            <a:r>
              <a:rPr sz="2400" spc="-10" dirty="0">
                <a:latin typeface="Calibri" panose="020F0502020204030204"/>
                <a:cs typeface="Calibri" panose="020F0502020204030204"/>
              </a:rPr>
              <a:t>, often </a:t>
            </a:r>
            <a:r>
              <a:rPr sz="2400" spc="-5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spc="-10" dirty="0">
                <a:latin typeface="Calibri" panose="020F0502020204030204"/>
                <a:cs typeface="Calibri" panose="020F0502020204030204"/>
              </a:rPr>
              <a:t>involving</a:t>
            </a:r>
            <a:r>
              <a:rPr sz="2400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spc="-5" dirty="0">
                <a:latin typeface="Calibri" panose="020F0502020204030204"/>
                <a:cs typeface="Calibri" panose="020F0502020204030204"/>
              </a:rPr>
              <a:t>dimensionality</a:t>
            </a:r>
            <a:r>
              <a:rPr sz="2400" spc="-25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spc="-5" dirty="0">
                <a:latin typeface="Calibri" panose="020F0502020204030204"/>
                <a:cs typeface="Calibri" panose="020F0502020204030204"/>
              </a:rPr>
              <a:t>reduction</a:t>
            </a:r>
            <a:r>
              <a:rPr sz="2400" spc="-10" dirty="0">
                <a:latin typeface="Calibri" panose="020F0502020204030204"/>
                <a:cs typeface="Calibri" panose="020F0502020204030204"/>
              </a:rPr>
              <a:t> techniques</a:t>
            </a:r>
            <a:r>
              <a:rPr lang="en-IN" sz="2400" spc="-10" dirty="0">
                <a:latin typeface="Calibri" panose="020F0502020204030204"/>
                <a:cs typeface="Calibri" panose="020F0502020204030204"/>
              </a:rPr>
              <a:t>.</a:t>
            </a:r>
            <a:endParaRPr lang="en-IN" sz="2400" spc="-10" dirty="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45058" y="609676"/>
            <a:ext cx="775970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b="1" spc="-10" dirty="0">
                <a:solidFill>
                  <a:srgbClr val="2E5496"/>
                </a:solidFill>
                <a:latin typeface="Calibri" panose="020F0502020204030204"/>
                <a:cs typeface="Calibri" panose="020F0502020204030204"/>
              </a:rPr>
              <a:t>Applications</a:t>
            </a:r>
            <a:r>
              <a:rPr sz="4400" b="1" spc="-45" dirty="0">
                <a:solidFill>
                  <a:srgbClr val="2E5496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4400" b="1" dirty="0">
                <a:solidFill>
                  <a:srgbClr val="2E5496"/>
                </a:solidFill>
                <a:latin typeface="Calibri" panose="020F0502020204030204"/>
                <a:cs typeface="Calibri" panose="020F0502020204030204"/>
              </a:rPr>
              <a:t>of</a:t>
            </a:r>
            <a:r>
              <a:rPr sz="4400" b="1" spc="-5" dirty="0">
                <a:solidFill>
                  <a:srgbClr val="2E5496"/>
                </a:solidFill>
                <a:latin typeface="Calibri" panose="020F0502020204030204"/>
                <a:cs typeface="Calibri" panose="020F0502020204030204"/>
              </a:rPr>
              <a:t> Machine</a:t>
            </a:r>
            <a:r>
              <a:rPr sz="4400" b="1" spc="-40" dirty="0">
                <a:solidFill>
                  <a:srgbClr val="2E5496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4400" b="1" dirty="0">
                <a:solidFill>
                  <a:srgbClr val="2E5496"/>
                </a:solidFill>
                <a:latin typeface="Calibri" panose="020F0502020204030204"/>
                <a:cs typeface="Calibri" panose="020F0502020204030204"/>
              </a:rPr>
              <a:t>Learning</a:t>
            </a:r>
            <a:endParaRPr sz="4400">
              <a:latin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07542" y="1808733"/>
            <a:ext cx="7714615" cy="4284345"/>
          </a:xfrm>
          <a:prstGeom prst="rect">
            <a:avLst/>
          </a:prstGeom>
        </p:spPr>
        <p:txBody>
          <a:bodyPr vert="horz" wrap="square" lIns="0" tIns="45719" rIns="0" bIns="0" rtlCol="0">
            <a:spAutoFit/>
          </a:bodyPr>
          <a:lstStyle/>
          <a:p>
            <a:pPr marL="184785" marR="5080" indent="-172720" algn="just">
              <a:lnSpc>
                <a:spcPct val="90000"/>
              </a:lnSpc>
              <a:spcBef>
                <a:spcPts val="360"/>
              </a:spcBef>
              <a:buFont typeface="Arial MT"/>
              <a:buChar char="•"/>
              <a:tabLst>
                <a:tab pos="185420" algn="l"/>
              </a:tabLst>
            </a:pPr>
            <a:r>
              <a:rPr sz="2200" spc="-15" dirty="0">
                <a:latin typeface="Calibri" panose="020F0502020204030204"/>
                <a:cs typeface="Calibri" panose="020F0502020204030204"/>
              </a:rPr>
              <a:t>R</a:t>
            </a:r>
            <a:r>
              <a:rPr sz="2200" spc="-15" dirty="0">
                <a:latin typeface="Calibri" panose="020F0502020204030204"/>
                <a:cs typeface="Calibri" panose="020F0502020204030204"/>
              </a:rPr>
              <a:t>ecommending</a:t>
            </a:r>
            <a:r>
              <a:rPr sz="2200" spc="45" dirty="0">
                <a:latin typeface="Calibri" panose="020F0502020204030204"/>
                <a:cs typeface="Calibri" panose="020F0502020204030204"/>
              </a:rPr>
              <a:t> </a:t>
            </a:r>
            <a:r>
              <a:rPr sz="2200" spc="-5" dirty="0">
                <a:latin typeface="Calibri" panose="020F0502020204030204"/>
                <a:cs typeface="Calibri" panose="020F0502020204030204"/>
              </a:rPr>
              <a:t>a</a:t>
            </a:r>
            <a:r>
              <a:rPr sz="2200" dirty="0">
                <a:latin typeface="Calibri" panose="020F0502020204030204"/>
                <a:cs typeface="Calibri" panose="020F0502020204030204"/>
              </a:rPr>
              <a:t> </a:t>
            </a:r>
            <a:r>
              <a:rPr sz="2200" spc="-15" dirty="0">
                <a:latin typeface="Calibri" panose="020F0502020204030204"/>
                <a:cs typeface="Calibri" panose="020F0502020204030204"/>
              </a:rPr>
              <a:t>product</a:t>
            </a:r>
            <a:r>
              <a:rPr sz="2200" spc="-5" dirty="0">
                <a:latin typeface="Calibri" panose="020F0502020204030204"/>
                <a:cs typeface="Calibri" panose="020F0502020204030204"/>
              </a:rPr>
              <a:t> </a:t>
            </a:r>
            <a:r>
              <a:rPr sz="2200" spc="-10" dirty="0">
                <a:latin typeface="Calibri" panose="020F0502020204030204"/>
                <a:cs typeface="Calibri" panose="020F0502020204030204"/>
              </a:rPr>
              <a:t>that</a:t>
            </a:r>
            <a:r>
              <a:rPr sz="2200" dirty="0">
                <a:latin typeface="Calibri" panose="020F0502020204030204"/>
                <a:cs typeface="Calibri" panose="020F0502020204030204"/>
              </a:rPr>
              <a:t> </a:t>
            </a:r>
            <a:r>
              <a:rPr sz="2200" spc="-5" dirty="0">
                <a:latin typeface="Calibri" panose="020F0502020204030204"/>
                <a:cs typeface="Calibri" panose="020F0502020204030204"/>
              </a:rPr>
              <a:t>a</a:t>
            </a:r>
            <a:r>
              <a:rPr sz="2200" spc="10" dirty="0">
                <a:latin typeface="Calibri" panose="020F0502020204030204"/>
                <a:cs typeface="Calibri" panose="020F0502020204030204"/>
              </a:rPr>
              <a:t> </a:t>
            </a:r>
            <a:r>
              <a:rPr sz="2200" spc="-10" dirty="0">
                <a:latin typeface="Calibri" panose="020F0502020204030204"/>
                <a:cs typeface="Calibri" panose="020F0502020204030204"/>
              </a:rPr>
              <a:t>client</a:t>
            </a:r>
            <a:r>
              <a:rPr sz="2200" spc="15" dirty="0">
                <a:latin typeface="Calibri" panose="020F0502020204030204"/>
                <a:cs typeface="Calibri" panose="020F0502020204030204"/>
              </a:rPr>
              <a:t> </a:t>
            </a:r>
            <a:r>
              <a:rPr sz="2200" spc="-15" dirty="0">
                <a:latin typeface="Calibri" panose="020F0502020204030204"/>
                <a:cs typeface="Calibri" panose="020F0502020204030204"/>
              </a:rPr>
              <a:t>may</a:t>
            </a:r>
            <a:r>
              <a:rPr sz="2200" spc="10" dirty="0">
                <a:latin typeface="Calibri" panose="020F0502020204030204"/>
                <a:cs typeface="Calibri" panose="020F0502020204030204"/>
              </a:rPr>
              <a:t> </a:t>
            </a:r>
            <a:r>
              <a:rPr sz="2200" spc="-5" dirty="0">
                <a:latin typeface="Calibri" panose="020F0502020204030204"/>
                <a:cs typeface="Calibri" panose="020F0502020204030204"/>
              </a:rPr>
              <a:t>be</a:t>
            </a:r>
            <a:r>
              <a:rPr sz="2200" dirty="0">
                <a:latin typeface="Calibri" panose="020F0502020204030204"/>
                <a:cs typeface="Calibri" panose="020F0502020204030204"/>
              </a:rPr>
              <a:t> </a:t>
            </a:r>
            <a:r>
              <a:rPr sz="2200" spc="-15" dirty="0">
                <a:latin typeface="Calibri" panose="020F0502020204030204"/>
                <a:cs typeface="Calibri" panose="020F0502020204030204"/>
              </a:rPr>
              <a:t>interested</a:t>
            </a:r>
            <a:r>
              <a:rPr sz="2200" spc="20" dirty="0">
                <a:latin typeface="Calibri" panose="020F0502020204030204"/>
                <a:cs typeface="Calibri" panose="020F0502020204030204"/>
              </a:rPr>
              <a:t> </a:t>
            </a:r>
            <a:r>
              <a:rPr sz="2200" spc="-5" dirty="0">
                <a:latin typeface="Calibri" panose="020F0502020204030204"/>
                <a:cs typeface="Calibri" panose="020F0502020204030204"/>
              </a:rPr>
              <a:t>in,</a:t>
            </a:r>
            <a:r>
              <a:rPr sz="2200" dirty="0">
                <a:latin typeface="Calibri" panose="020F0502020204030204"/>
                <a:cs typeface="Calibri" panose="020F0502020204030204"/>
              </a:rPr>
              <a:t> </a:t>
            </a:r>
            <a:r>
              <a:rPr sz="2200" spc="-10" dirty="0">
                <a:latin typeface="Calibri" panose="020F0502020204030204"/>
                <a:cs typeface="Calibri" panose="020F0502020204030204"/>
              </a:rPr>
              <a:t>based </a:t>
            </a:r>
            <a:r>
              <a:rPr sz="2200" spc="-480" dirty="0">
                <a:latin typeface="Calibri" panose="020F0502020204030204"/>
                <a:cs typeface="Calibri" panose="020F0502020204030204"/>
              </a:rPr>
              <a:t> </a:t>
            </a:r>
            <a:r>
              <a:rPr sz="2200" spc="-5" dirty="0">
                <a:latin typeface="Calibri" panose="020F0502020204030204"/>
                <a:cs typeface="Calibri" panose="020F0502020204030204"/>
              </a:rPr>
              <a:t>on </a:t>
            </a:r>
            <a:r>
              <a:rPr sz="2200" spc="-10" dirty="0">
                <a:latin typeface="Calibri" panose="020F0502020204030204"/>
                <a:cs typeface="Calibri" panose="020F0502020204030204"/>
              </a:rPr>
              <a:t>their</a:t>
            </a:r>
            <a:r>
              <a:rPr sz="2200" spc="-5" dirty="0">
                <a:latin typeface="Calibri" panose="020F0502020204030204"/>
                <a:cs typeface="Calibri" panose="020F0502020204030204"/>
              </a:rPr>
              <a:t> </a:t>
            </a:r>
            <a:r>
              <a:rPr sz="2200" spc="-10" dirty="0">
                <a:latin typeface="Calibri" panose="020F0502020204030204"/>
                <a:cs typeface="Calibri" panose="020F0502020204030204"/>
              </a:rPr>
              <a:t>past</a:t>
            </a:r>
            <a:r>
              <a:rPr sz="2200" spc="-5" dirty="0">
                <a:latin typeface="Calibri" panose="020F0502020204030204"/>
                <a:cs typeface="Calibri" panose="020F0502020204030204"/>
              </a:rPr>
              <a:t> </a:t>
            </a:r>
            <a:r>
              <a:rPr sz="2200" spc="-10" dirty="0">
                <a:latin typeface="Calibri" panose="020F0502020204030204"/>
                <a:cs typeface="Calibri" panose="020F0502020204030204"/>
              </a:rPr>
              <a:t>purchases:</a:t>
            </a:r>
            <a:r>
              <a:rPr sz="2200" spc="5" dirty="0">
                <a:latin typeface="Calibri" panose="020F0502020204030204"/>
                <a:cs typeface="Calibri" panose="020F0502020204030204"/>
              </a:rPr>
              <a:t> </a:t>
            </a:r>
            <a:r>
              <a:rPr sz="2200" spc="-5" dirty="0">
                <a:latin typeface="Calibri" panose="020F0502020204030204"/>
                <a:cs typeface="Calibri" panose="020F0502020204030204"/>
              </a:rPr>
              <a:t>this is</a:t>
            </a:r>
            <a:r>
              <a:rPr sz="2200" spc="5" dirty="0">
                <a:latin typeface="Calibri" panose="020F0502020204030204"/>
                <a:cs typeface="Calibri" panose="020F0502020204030204"/>
              </a:rPr>
              <a:t> </a:t>
            </a:r>
            <a:r>
              <a:rPr sz="2200" spc="-5" dirty="0">
                <a:latin typeface="Calibri" panose="020F0502020204030204"/>
                <a:cs typeface="Calibri" panose="020F0502020204030204"/>
              </a:rPr>
              <a:t>a</a:t>
            </a:r>
            <a:r>
              <a:rPr sz="2200" spc="10" dirty="0">
                <a:latin typeface="Calibri" panose="020F0502020204030204"/>
                <a:cs typeface="Calibri" panose="020F0502020204030204"/>
              </a:rPr>
              <a:t> </a:t>
            </a:r>
            <a:r>
              <a:rPr sz="2200" spc="-1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recommender</a:t>
            </a:r>
            <a:r>
              <a:rPr sz="2200" spc="3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200" spc="-2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system</a:t>
            </a:r>
            <a:r>
              <a:rPr sz="2200" spc="-20" dirty="0">
                <a:latin typeface="Calibri" panose="020F0502020204030204"/>
                <a:cs typeface="Calibri" panose="020F0502020204030204"/>
              </a:rPr>
              <a:t>.</a:t>
            </a:r>
            <a:r>
              <a:rPr sz="2200" spc="15" dirty="0">
                <a:latin typeface="Calibri" panose="020F0502020204030204"/>
                <a:cs typeface="Calibri" panose="020F0502020204030204"/>
              </a:rPr>
              <a:t> </a:t>
            </a:r>
            <a:r>
              <a:rPr sz="2200" spc="-10" dirty="0">
                <a:latin typeface="Calibri" panose="020F0502020204030204"/>
                <a:cs typeface="Calibri" panose="020F0502020204030204"/>
              </a:rPr>
              <a:t>One </a:t>
            </a:r>
            <a:r>
              <a:rPr sz="2200" spc="-5" dirty="0">
                <a:latin typeface="Calibri" panose="020F0502020204030204"/>
                <a:cs typeface="Calibri" panose="020F0502020204030204"/>
              </a:rPr>
              <a:t> </a:t>
            </a:r>
            <a:r>
              <a:rPr sz="2200" spc="-10" dirty="0">
                <a:latin typeface="Calibri" panose="020F0502020204030204"/>
                <a:cs typeface="Calibri" panose="020F0502020204030204"/>
              </a:rPr>
              <a:t>approach</a:t>
            </a:r>
            <a:r>
              <a:rPr sz="2200" spc="-30" dirty="0">
                <a:latin typeface="Calibri" panose="020F0502020204030204"/>
                <a:cs typeface="Calibri" panose="020F0502020204030204"/>
              </a:rPr>
              <a:t> </a:t>
            </a:r>
            <a:r>
              <a:rPr sz="2200" spc="-5" dirty="0">
                <a:latin typeface="Calibri" panose="020F0502020204030204"/>
                <a:cs typeface="Calibri" panose="020F0502020204030204"/>
              </a:rPr>
              <a:t>is</a:t>
            </a:r>
            <a:r>
              <a:rPr sz="2200" dirty="0">
                <a:latin typeface="Calibri" panose="020F0502020204030204"/>
                <a:cs typeface="Calibri" panose="020F0502020204030204"/>
              </a:rPr>
              <a:t> </a:t>
            </a:r>
            <a:r>
              <a:rPr sz="2200" spc="-20" dirty="0">
                <a:latin typeface="Calibri" panose="020F0502020204030204"/>
                <a:cs typeface="Calibri" panose="020F0502020204030204"/>
              </a:rPr>
              <a:t>to</a:t>
            </a:r>
            <a:r>
              <a:rPr sz="2200" spc="5" dirty="0">
                <a:latin typeface="Calibri" panose="020F0502020204030204"/>
                <a:cs typeface="Calibri" panose="020F0502020204030204"/>
              </a:rPr>
              <a:t> </a:t>
            </a:r>
            <a:r>
              <a:rPr sz="2200" spc="-20" dirty="0">
                <a:latin typeface="Calibri" panose="020F0502020204030204"/>
                <a:cs typeface="Calibri" panose="020F0502020204030204"/>
              </a:rPr>
              <a:t>feed</a:t>
            </a:r>
            <a:r>
              <a:rPr sz="2200" spc="25" dirty="0">
                <a:latin typeface="Calibri" panose="020F0502020204030204"/>
                <a:cs typeface="Calibri" panose="020F0502020204030204"/>
              </a:rPr>
              <a:t> </a:t>
            </a:r>
            <a:r>
              <a:rPr sz="2200" spc="-10" dirty="0">
                <a:latin typeface="Calibri" panose="020F0502020204030204"/>
                <a:cs typeface="Calibri" panose="020F0502020204030204"/>
              </a:rPr>
              <a:t>past purchases</a:t>
            </a:r>
            <a:r>
              <a:rPr sz="2200" dirty="0">
                <a:latin typeface="Calibri" panose="020F0502020204030204"/>
                <a:cs typeface="Calibri" panose="020F0502020204030204"/>
              </a:rPr>
              <a:t> </a:t>
            </a:r>
            <a:r>
              <a:rPr sz="2200" spc="-5" dirty="0">
                <a:latin typeface="Calibri" panose="020F0502020204030204"/>
                <a:cs typeface="Calibri" panose="020F0502020204030204"/>
              </a:rPr>
              <a:t>(and other</a:t>
            </a:r>
            <a:r>
              <a:rPr sz="2200" spc="5" dirty="0">
                <a:latin typeface="Calibri" panose="020F0502020204030204"/>
                <a:cs typeface="Calibri" panose="020F0502020204030204"/>
              </a:rPr>
              <a:t> </a:t>
            </a:r>
            <a:r>
              <a:rPr sz="2200" spc="-10" dirty="0">
                <a:latin typeface="Calibri" panose="020F0502020204030204"/>
                <a:cs typeface="Calibri" panose="020F0502020204030204"/>
              </a:rPr>
              <a:t>information </a:t>
            </a:r>
            <a:r>
              <a:rPr sz="2200" spc="-5" dirty="0">
                <a:latin typeface="Calibri" panose="020F0502020204030204"/>
                <a:cs typeface="Calibri" panose="020F0502020204030204"/>
              </a:rPr>
              <a:t>about </a:t>
            </a:r>
            <a:r>
              <a:rPr sz="2200" dirty="0">
                <a:latin typeface="Calibri" panose="020F0502020204030204"/>
                <a:cs typeface="Calibri" panose="020F0502020204030204"/>
              </a:rPr>
              <a:t> </a:t>
            </a:r>
            <a:r>
              <a:rPr sz="2200" spc="-5" dirty="0">
                <a:latin typeface="Calibri" panose="020F0502020204030204"/>
                <a:cs typeface="Calibri" panose="020F0502020204030204"/>
              </a:rPr>
              <a:t>the</a:t>
            </a:r>
            <a:r>
              <a:rPr sz="2200" spc="10" dirty="0">
                <a:latin typeface="Calibri" panose="020F0502020204030204"/>
                <a:cs typeface="Calibri" panose="020F0502020204030204"/>
              </a:rPr>
              <a:t> </a:t>
            </a:r>
            <a:r>
              <a:rPr sz="2200" spc="-10" dirty="0">
                <a:latin typeface="Calibri" panose="020F0502020204030204"/>
                <a:cs typeface="Calibri" panose="020F0502020204030204"/>
              </a:rPr>
              <a:t>client)</a:t>
            </a:r>
            <a:r>
              <a:rPr sz="2200" dirty="0">
                <a:latin typeface="Calibri" panose="020F0502020204030204"/>
                <a:cs typeface="Calibri" panose="020F0502020204030204"/>
              </a:rPr>
              <a:t> </a:t>
            </a:r>
            <a:r>
              <a:rPr sz="2200" spc="-20" dirty="0">
                <a:latin typeface="Calibri" panose="020F0502020204030204"/>
                <a:cs typeface="Calibri" panose="020F0502020204030204"/>
              </a:rPr>
              <a:t>to</a:t>
            </a:r>
            <a:r>
              <a:rPr sz="2200" spc="10" dirty="0">
                <a:latin typeface="Calibri" panose="020F0502020204030204"/>
                <a:cs typeface="Calibri" panose="020F0502020204030204"/>
              </a:rPr>
              <a:t> </a:t>
            </a:r>
            <a:r>
              <a:rPr sz="2200" spc="-5" dirty="0">
                <a:latin typeface="Calibri" panose="020F0502020204030204"/>
                <a:cs typeface="Calibri" panose="020F0502020204030204"/>
              </a:rPr>
              <a:t>an</a:t>
            </a:r>
            <a:r>
              <a:rPr sz="2200" dirty="0">
                <a:latin typeface="Calibri" panose="020F0502020204030204"/>
                <a:cs typeface="Calibri" panose="020F0502020204030204"/>
              </a:rPr>
              <a:t> </a:t>
            </a:r>
            <a:r>
              <a:rPr sz="2200" spc="-5" dirty="0">
                <a:latin typeface="Calibri" panose="020F0502020204030204"/>
                <a:cs typeface="Calibri" panose="020F0502020204030204"/>
              </a:rPr>
              <a:t>artificial</a:t>
            </a:r>
            <a:r>
              <a:rPr sz="2200" spc="-15" dirty="0">
                <a:latin typeface="Calibri" panose="020F0502020204030204"/>
                <a:cs typeface="Calibri" panose="020F0502020204030204"/>
              </a:rPr>
              <a:t> neural</a:t>
            </a:r>
            <a:r>
              <a:rPr sz="2200" dirty="0">
                <a:latin typeface="Calibri" panose="020F0502020204030204"/>
                <a:cs typeface="Calibri" panose="020F0502020204030204"/>
              </a:rPr>
              <a:t> </a:t>
            </a:r>
            <a:r>
              <a:rPr sz="2200" spc="-10" dirty="0">
                <a:latin typeface="Calibri" panose="020F0502020204030204"/>
                <a:cs typeface="Calibri" panose="020F0502020204030204"/>
              </a:rPr>
              <a:t>network,</a:t>
            </a:r>
            <a:r>
              <a:rPr sz="2200" spc="25" dirty="0">
                <a:latin typeface="Calibri" panose="020F0502020204030204"/>
                <a:cs typeface="Calibri" panose="020F0502020204030204"/>
              </a:rPr>
              <a:t> </a:t>
            </a:r>
            <a:r>
              <a:rPr sz="2200" spc="-5" dirty="0">
                <a:latin typeface="Calibri" panose="020F0502020204030204"/>
                <a:cs typeface="Calibri" panose="020F0502020204030204"/>
              </a:rPr>
              <a:t>and </a:t>
            </a:r>
            <a:r>
              <a:rPr sz="2200" spc="-20" dirty="0">
                <a:latin typeface="Calibri" panose="020F0502020204030204"/>
                <a:cs typeface="Calibri" panose="020F0502020204030204"/>
              </a:rPr>
              <a:t>get</a:t>
            </a:r>
            <a:r>
              <a:rPr sz="2200" spc="15" dirty="0">
                <a:latin typeface="Calibri" panose="020F0502020204030204"/>
                <a:cs typeface="Calibri" panose="020F0502020204030204"/>
              </a:rPr>
              <a:t> </a:t>
            </a:r>
            <a:r>
              <a:rPr sz="2200" spc="-5" dirty="0">
                <a:latin typeface="Calibri" panose="020F0502020204030204"/>
                <a:cs typeface="Calibri" panose="020F0502020204030204"/>
              </a:rPr>
              <a:t>it</a:t>
            </a:r>
            <a:r>
              <a:rPr sz="2200" spc="5" dirty="0">
                <a:latin typeface="Calibri" panose="020F0502020204030204"/>
                <a:cs typeface="Calibri" panose="020F0502020204030204"/>
              </a:rPr>
              <a:t> </a:t>
            </a:r>
            <a:r>
              <a:rPr sz="2200" spc="-15" dirty="0">
                <a:latin typeface="Calibri" panose="020F0502020204030204"/>
                <a:cs typeface="Calibri" panose="020F0502020204030204"/>
              </a:rPr>
              <a:t>to</a:t>
            </a:r>
            <a:r>
              <a:rPr sz="2200" spc="10" dirty="0">
                <a:latin typeface="Calibri" panose="020F0502020204030204"/>
                <a:cs typeface="Calibri" panose="020F0502020204030204"/>
              </a:rPr>
              <a:t> </a:t>
            </a:r>
            <a:r>
              <a:rPr sz="2200" spc="-10" dirty="0">
                <a:latin typeface="Calibri" panose="020F0502020204030204"/>
                <a:cs typeface="Calibri" panose="020F0502020204030204"/>
              </a:rPr>
              <a:t>output</a:t>
            </a:r>
            <a:r>
              <a:rPr sz="2200" spc="-5" dirty="0">
                <a:latin typeface="Calibri" panose="020F0502020204030204"/>
                <a:cs typeface="Calibri" panose="020F0502020204030204"/>
              </a:rPr>
              <a:t> the </a:t>
            </a:r>
            <a:r>
              <a:rPr sz="2200" dirty="0">
                <a:latin typeface="Calibri" panose="020F0502020204030204"/>
                <a:cs typeface="Calibri" panose="020F0502020204030204"/>
              </a:rPr>
              <a:t> </a:t>
            </a:r>
            <a:r>
              <a:rPr sz="2200" spc="-10" dirty="0">
                <a:latin typeface="Calibri" panose="020F0502020204030204"/>
                <a:cs typeface="Calibri" panose="020F0502020204030204"/>
              </a:rPr>
              <a:t>most</a:t>
            </a:r>
            <a:r>
              <a:rPr sz="2200" spc="10" dirty="0">
                <a:latin typeface="Calibri" panose="020F0502020204030204"/>
                <a:cs typeface="Calibri" panose="020F0502020204030204"/>
              </a:rPr>
              <a:t> </a:t>
            </a:r>
            <a:r>
              <a:rPr sz="2200" spc="-15" dirty="0">
                <a:latin typeface="Calibri" panose="020F0502020204030204"/>
                <a:cs typeface="Calibri" panose="020F0502020204030204"/>
              </a:rPr>
              <a:t>likely</a:t>
            </a:r>
            <a:r>
              <a:rPr sz="2200" spc="5" dirty="0">
                <a:latin typeface="Calibri" panose="020F0502020204030204"/>
                <a:cs typeface="Calibri" panose="020F0502020204030204"/>
              </a:rPr>
              <a:t> </a:t>
            </a:r>
            <a:r>
              <a:rPr sz="2200" spc="-15" dirty="0">
                <a:latin typeface="Calibri" panose="020F0502020204030204"/>
                <a:cs typeface="Calibri" panose="020F0502020204030204"/>
              </a:rPr>
              <a:t>next</a:t>
            </a:r>
            <a:r>
              <a:rPr sz="2200" spc="-5" dirty="0">
                <a:latin typeface="Calibri" panose="020F0502020204030204"/>
                <a:cs typeface="Calibri" panose="020F0502020204030204"/>
              </a:rPr>
              <a:t> </a:t>
            </a:r>
            <a:r>
              <a:rPr sz="2200" spc="-10" dirty="0">
                <a:latin typeface="Calibri" panose="020F0502020204030204"/>
                <a:cs typeface="Calibri" panose="020F0502020204030204"/>
              </a:rPr>
              <a:t>purchase.</a:t>
            </a:r>
            <a:r>
              <a:rPr sz="2200" dirty="0">
                <a:latin typeface="Calibri" panose="020F0502020204030204"/>
                <a:cs typeface="Calibri" panose="020F0502020204030204"/>
              </a:rPr>
              <a:t> </a:t>
            </a:r>
            <a:r>
              <a:rPr sz="2200" spc="-10" dirty="0">
                <a:latin typeface="Calibri" panose="020F0502020204030204"/>
                <a:cs typeface="Calibri" panose="020F0502020204030204"/>
              </a:rPr>
              <a:t>This</a:t>
            </a:r>
            <a:r>
              <a:rPr sz="2200" spc="5" dirty="0">
                <a:latin typeface="Calibri" panose="020F0502020204030204"/>
                <a:cs typeface="Calibri" panose="020F0502020204030204"/>
              </a:rPr>
              <a:t> </a:t>
            </a:r>
            <a:r>
              <a:rPr sz="2200" spc="-15" dirty="0">
                <a:latin typeface="Calibri" panose="020F0502020204030204"/>
                <a:cs typeface="Calibri" panose="020F0502020204030204"/>
              </a:rPr>
              <a:t>neural</a:t>
            </a:r>
            <a:r>
              <a:rPr sz="2200" dirty="0">
                <a:latin typeface="Calibri" panose="020F0502020204030204"/>
                <a:cs typeface="Calibri" panose="020F0502020204030204"/>
              </a:rPr>
              <a:t> </a:t>
            </a:r>
            <a:r>
              <a:rPr sz="2200" spc="-15" dirty="0">
                <a:latin typeface="Calibri" panose="020F0502020204030204"/>
                <a:cs typeface="Calibri" panose="020F0502020204030204"/>
              </a:rPr>
              <a:t>net</a:t>
            </a:r>
            <a:r>
              <a:rPr sz="2200" spc="10" dirty="0">
                <a:latin typeface="Calibri" panose="020F0502020204030204"/>
                <a:cs typeface="Calibri" panose="020F0502020204030204"/>
              </a:rPr>
              <a:t> </a:t>
            </a:r>
            <a:r>
              <a:rPr sz="2200" spc="-10" dirty="0">
                <a:latin typeface="Calibri" panose="020F0502020204030204"/>
                <a:cs typeface="Calibri" panose="020F0502020204030204"/>
              </a:rPr>
              <a:t>would</a:t>
            </a:r>
            <a:r>
              <a:rPr sz="2200" spc="-5" dirty="0">
                <a:latin typeface="Calibri" panose="020F0502020204030204"/>
                <a:cs typeface="Calibri" panose="020F0502020204030204"/>
              </a:rPr>
              <a:t> </a:t>
            </a:r>
            <a:r>
              <a:rPr sz="2200" spc="-10" dirty="0">
                <a:latin typeface="Calibri" panose="020F0502020204030204"/>
                <a:cs typeface="Calibri" panose="020F0502020204030204"/>
              </a:rPr>
              <a:t>typically</a:t>
            </a:r>
            <a:r>
              <a:rPr sz="2200" spc="5" dirty="0">
                <a:latin typeface="Calibri" panose="020F0502020204030204"/>
                <a:cs typeface="Calibri" panose="020F0502020204030204"/>
              </a:rPr>
              <a:t> </a:t>
            </a:r>
            <a:r>
              <a:rPr sz="2200" spc="-10" dirty="0">
                <a:latin typeface="Calibri" panose="020F0502020204030204"/>
                <a:cs typeface="Calibri" panose="020F0502020204030204"/>
              </a:rPr>
              <a:t>be </a:t>
            </a:r>
            <a:r>
              <a:rPr sz="2200" spc="-5" dirty="0">
                <a:latin typeface="Calibri" panose="020F0502020204030204"/>
                <a:cs typeface="Calibri" panose="020F0502020204030204"/>
              </a:rPr>
              <a:t> </a:t>
            </a:r>
            <a:r>
              <a:rPr sz="2200" spc="-10" dirty="0">
                <a:latin typeface="Calibri" panose="020F0502020204030204"/>
                <a:cs typeface="Calibri" panose="020F0502020204030204"/>
              </a:rPr>
              <a:t>trained</a:t>
            </a:r>
            <a:r>
              <a:rPr sz="2200" spc="-5" dirty="0">
                <a:latin typeface="Calibri" panose="020F0502020204030204"/>
                <a:cs typeface="Calibri" panose="020F0502020204030204"/>
              </a:rPr>
              <a:t> on</a:t>
            </a:r>
            <a:r>
              <a:rPr sz="2200" dirty="0">
                <a:latin typeface="Calibri" panose="020F0502020204030204"/>
                <a:cs typeface="Calibri" panose="020F0502020204030204"/>
              </a:rPr>
              <a:t> </a:t>
            </a:r>
            <a:r>
              <a:rPr sz="2200" spc="-10" dirty="0">
                <a:latin typeface="Calibri" panose="020F0502020204030204"/>
                <a:cs typeface="Calibri" panose="020F0502020204030204"/>
              </a:rPr>
              <a:t>past sequences</a:t>
            </a:r>
            <a:r>
              <a:rPr sz="2200" spc="20" dirty="0">
                <a:latin typeface="Calibri" panose="020F0502020204030204"/>
                <a:cs typeface="Calibri" panose="020F0502020204030204"/>
              </a:rPr>
              <a:t> </a:t>
            </a:r>
            <a:r>
              <a:rPr sz="2200" spc="-5" dirty="0">
                <a:latin typeface="Calibri" panose="020F0502020204030204"/>
                <a:cs typeface="Calibri" panose="020F0502020204030204"/>
              </a:rPr>
              <a:t>of</a:t>
            </a:r>
            <a:r>
              <a:rPr sz="2200" spc="5" dirty="0">
                <a:latin typeface="Calibri" panose="020F0502020204030204"/>
                <a:cs typeface="Calibri" panose="020F0502020204030204"/>
              </a:rPr>
              <a:t> </a:t>
            </a:r>
            <a:r>
              <a:rPr sz="2200" spc="-10" dirty="0">
                <a:latin typeface="Calibri" panose="020F0502020204030204"/>
                <a:cs typeface="Calibri" panose="020F0502020204030204"/>
              </a:rPr>
              <a:t>purchases</a:t>
            </a:r>
            <a:r>
              <a:rPr sz="2200" dirty="0">
                <a:latin typeface="Calibri" panose="020F0502020204030204"/>
                <a:cs typeface="Calibri" panose="020F0502020204030204"/>
              </a:rPr>
              <a:t> </a:t>
            </a:r>
            <a:r>
              <a:rPr sz="2200" spc="-10" dirty="0">
                <a:latin typeface="Calibri" panose="020F0502020204030204"/>
                <a:cs typeface="Calibri" panose="020F0502020204030204"/>
              </a:rPr>
              <a:t>across </a:t>
            </a:r>
            <a:r>
              <a:rPr sz="2200" spc="-5" dirty="0">
                <a:latin typeface="Calibri" panose="020F0502020204030204"/>
                <a:cs typeface="Calibri" panose="020F0502020204030204"/>
              </a:rPr>
              <a:t>all </a:t>
            </a:r>
            <a:r>
              <a:rPr sz="2200" spc="-10" dirty="0">
                <a:latin typeface="Calibri" panose="020F0502020204030204"/>
                <a:cs typeface="Calibri" panose="020F0502020204030204"/>
              </a:rPr>
              <a:t>clients.</a:t>
            </a:r>
            <a:endParaRPr sz="2200">
              <a:latin typeface="Calibri" panose="020F0502020204030204"/>
              <a:cs typeface="Calibri" panose="020F0502020204030204"/>
            </a:endParaRPr>
          </a:p>
          <a:p>
            <a:pPr algn="just">
              <a:lnSpc>
                <a:spcPct val="100000"/>
              </a:lnSpc>
              <a:spcBef>
                <a:spcPts val="55"/>
              </a:spcBef>
              <a:buFont typeface="Arial MT"/>
              <a:buChar char="•"/>
            </a:pPr>
            <a:endParaRPr sz="1900">
              <a:latin typeface="Calibri" panose="020F0502020204030204"/>
              <a:cs typeface="Calibri" panose="020F0502020204030204"/>
            </a:endParaRPr>
          </a:p>
          <a:p>
            <a:pPr marL="184785" marR="167005" indent="-172720" algn="just">
              <a:lnSpc>
                <a:spcPct val="90000"/>
              </a:lnSpc>
              <a:buFont typeface="Arial MT"/>
              <a:buChar char="•"/>
              <a:tabLst>
                <a:tab pos="185420" algn="l"/>
              </a:tabLst>
            </a:pPr>
            <a:r>
              <a:rPr sz="2200" spc="-5" dirty="0">
                <a:latin typeface="Calibri" panose="020F0502020204030204"/>
                <a:cs typeface="Calibri" panose="020F0502020204030204"/>
              </a:rPr>
              <a:t>Building</a:t>
            </a:r>
            <a:r>
              <a:rPr sz="2200" spc="-10" dirty="0">
                <a:latin typeface="Calibri" panose="020F0502020204030204"/>
                <a:cs typeface="Calibri" panose="020F0502020204030204"/>
              </a:rPr>
              <a:t> </a:t>
            </a:r>
            <a:r>
              <a:rPr sz="2200" spc="-5" dirty="0">
                <a:latin typeface="Calibri" panose="020F0502020204030204"/>
                <a:cs typeface="Calibri" panose="020F0502020204030204"/>
              </a:rPr>
              <a:t>an</a:t>
            </a:r>
            <a:r>
              <a:rPr sz="2200" dirty="0">
                <a:latin typeface="Calibri" panose="020F0502020204030204"/>
                <a:cs typeface="Calibri" panose="020F0502020204030204"/>
              </a:rPr>
              <a:t> </a:t>
            </a:r>
            <a:r>
              <a:rPr sz="2200" spc="-15" dirty="0">
                <a:latin typeface="Calibri" panose="020F0502020204030204"/>
                <a:cs typeface="Calibri" panose="020F0502020204030204"/>
              </a:rPr>
              <a:t>intelligent</a:t>
            </a:r>
            <a:r>
              <a:rPr sz="2200" spc="15" dirty="0">
                <a:latin typeface="Calibri" panose="020F0502020204030204"/>
                <a:cs typeface="Calibri" panose="020F0502020204030204"/>
              </a:rPr>
              <a:t> </a:t>
            </a:r>
            <a:r>
              <a:rPr sz="2200" spc="-5" dirty="0">
                <a:latin typeface="Calibri" panose="020F0502020204030204"/>
                <a:cs typeface="Calibri" panose="020F0502020204030204"/>
              </a:rPr>
              <a:t>bot</a:t>
            </a:r>
            <a:r>
              <a:rPr sz="2200" dirty="0">
                <a:latin typeface="Calibri" panose="020F0502020204030204"/>
                <a:cs typeface="Calibri" panose="020F0502020204030204"/>
              </a:rPr>
              <a:t> </a:t>
            </a:r>
            <a:r>
              <a:rPr sz="2200" spc="-20" dirty="0">
                <a:latin typeface="Calibri" panose="020F0502020204030204"/>
                <a:cs typeface="Calibri" panose="020F0502020204030204"/>
              </a:rPr>
              <a:t>for</a:t>
            </a:r>
            <a:r>
              <a:rPr sz="2200" spc="5" dirty="0">
                <a:latin typeface="Calibri" panose="020F0502020204030204"/>
                <a:cs typeface="Calibri" panose="020F0502020204030204"/>
              </a:rPr>
              <a:t> </a:t>
            </a:r>
            <a:r>
              <a:rPr sz="2200" spc="-5" dirty="0">
                <a:latin typeface="Calibri" panose="020F0502020204030204"/>
                <a:cs typeface="Calibri" panose="020F0502020204030204"/>
              </a:rPr>
              <a:t>a</a:t>
            </a:r>
            <a:r>
              <a:rPr sz="2200" dirty="0">
                <a:latin typeface="Calibri" panose="020F0502020204030204"/>
                <a:cs typeface="Calibri" panose="020F0502020204030204"/>
              </a:rPr>
              <a:t> </a:t>
            </a:r>
            <a:r>
              <a:rPr sz="2200" spc="-10" dirty="0">
                <a:latin typeface="Calibri" panose="020F0502020204030204"/>
                <a:cs typeface="Calibri" panose="020F0502020204030204"/>
              </a:rPr>
              <a:t>game.</a:t>
            </a:r>
            <a:r>
              <a:rPr sz="2200" spc="15" dirty="0">
                <a:latin typeface="Calibri" panose="020F0502020204030204"/>
                <a:cs typeface="Calibri" panose="020F0502020204030204"/>
              </a:rPr>
              <a:t> </a:t>
            </a:r>
            <a:r>
              <a:rPr sz="2200" spc="-5" dirty="0">
                <a:latin typeface="Calibri" panose="020F0502020204030204"/>
                <a:cs typeface="Calibri" panose="020F0502020204030204"/>
              </a:rPr>
              <a:t>This is</a:t>
            </a:r>
            <a:r>
              <a:rPr sz="2200" dirty="0">
                <a:latin typeface="Calibri" panose="020F0502020204030204"/>
                <a:cs typeface="Calibri" panose="020F0502020204030204"/>
              </a:rPr>
              <a:t> </a:t>
            </a:r>
            <a:r>
              <a:rPr sz="2200" spc="-10" dirty="0">
                <a:latin typeface="Calibri" panose="020F0502020204030204"/>
                <a:cs typeface="Calibri" panose="020F0502020204030204"/>
              </a:rPr>
              <a:t>often</a:t>
            </a:r>
            <a:r>
              <a:rPr sz="2200" spc="15" dirty="0">
                <a:latin typeface="Calibri" panose="020F0502020204030204"/>
                <a:cs typeface="Calibri" panose="020F0502020204030204"/>
              </a:rPr>
              <a:t> </a:t>
            </a:r>
            <a:r>
              <a:rPr sz="2200" spc="-10" dirty="0">
                <a:latin typeface="Calibri" panose="020F0502020204030204"/>
                <a:cs typeface="Calibri" panose="020F0502020204030204"/>
              </a:rPr>
              <a:t>tackled</a:t>
            </a:r>
            <a:r>
              <a:rPr sz="2200" dirty="0">
                <a:latin typeface="Calibri" panose="020F0502020204030204"/>
                <a:cs typeface="Calibri" panose="020F0502020204030204"/>
              </a:rPr>
              <a:t> </a:t>
            </a:r>
            <a:r>
              <a:rPr sz="2200" spc="-10" dirty="0">
                <a:latin typeface="Calibri" panose="020F0502020204030204"/>
                <a:cs typeface="Calibri" panose="020F0502020204030204"/>
              </a:rPr>
              <a:t>using </a:t>
            </a:r>
            <a:r>
              <a:rPr sz="2200" spc="-5" dirty="0">
                <a:latin typeface="Calibri" panose="020F0502020204030204"/>
                <a:cs typeface="Calibri" panose="020F0502020204030204"/>
              </a:rPr>
              <a:t> </a:t>
            </a:r>
            <a:r>
              <a:rPr sz="2200" spc="-2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Reinforcement</a:t>
            </a:r>
            <a:r>
              <a:rPr sz="2200" spc="5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200" spc="-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Learning</a:t>
            </a:r>
            <a:r>
              <a:rPr sz="2200" spc="-5" dirty="0">
                <a:latin typeface="Calibri" panose="020F0502020204030204"/>
                <a:cs typeface="Calibri" panose="020F0502020204030204"/>
              </a:rPr>
              <a:t>,</a:t>
            </a:r>
            <a:r>
              <a:rPr sz="2200" spc="5" dirty="0">
                <a:latin typeface="Calibri" panose="020F0502020204030204"/>
                <a:cs typeface="Calibri" panose="020F0502020204030204"/>
              </a:rPr>
              <a:t> </a:t>
            </a:r>
            <a:r>
              <a:rPr sz="2200" spc="-5" dirty="0">
                <a:latin typeface="Calibri" panose="020F0502020204030204"/>
                <a:cs typeface="Calibri" panose="020F0502020204030204"/>
              </a:rPr>
              <a:t>which</a:t>
            </a:r>
            <a:r>
              <a:rPr sz="2200" dirty="0">
                <a:latin typeface="Calibri" panose="020F0502020204030204"/>
                <a:cs typeface="Calibri" panose="020F0502020204030204"/>
              </a:rPr>
              <a:t> </a:t>
            </a:r>
            <a:r>
              <a:rPr sz="2200" spc="-5" dirty="0">
                <a:latin typeface="Calibri" panose="020F0502020204030204"/>
                <a:cs typeface="Calibri" panose="020F0502020204030204"/>
              </a:rPr>
              <a:t>is</a:t>
            </a:r>
            <a:r>
              <a:rPr sz="2200" spc="5" dirty="0">
                <a:latin typeface="Calibri" panose="020F0502020204030204"/>
                <a:cs typeface="Calibri" panose="020F0502020204030204"/>
              </a:rPr>
              <a:t> </a:t>
            </a:r>
            <a:r>
              <a:rPr sz="2200" spc="-5" dirty="0">
                <a:latin typeface="Calibri" panose="020F0502020204030204"/>
                <a:cs typeface="Calibri" panose="020F0502020204030204"/>
              </a:rPr>
              <a:t>a</a:t>
            </a:r>
            <a:r>
              <a:rPr sz="2200" dirty="0">
                <a:latin typeface="Calibri" panose="020F0502020204030204"/>
                <a:cs typeface="Calibri" panose="020F0502020204030204"/>
              </a:rPr>
              <a:t> </a:t>
            </a:r>
            <a:r>
              <a:rPr sz="2200" spc="-15" dirty="0">
                <a:latin typeface="Calibri" panose="020F0502020204030204"/>
                <a:cs typeface="Calibri" panose="020F0502020204030204"/>
              </a:rPr>
              <a:t>branch</a:t>
            </a:r>
            <a:r>
              <a:rPr sz="2200" dirty="0">
                <a:latin typeface="Calibri" panose="020F0502020204030204"/>
                <a:cs typeface="Calibri" panose="020F0502020204030204"/>
              </a:rPr>
              <a:t> </a:t>
            </a:r>
            <a:r>
              <a:rPr sz="2200" spc="-5" dirty="0">
                <a:latin typeface="Calibri" panose="020F0502020204030204"/>
                <a:cs typeface="Calibri" panose="020F0502020204030204"/>
              </a:rPr>
              <a:t>of</a:t>
            </a:r>
            <a:r>
              <a:rPr sz="2200" spc="10" dirty="0">
                <a:latin typeface="Calibri" panose="020F0502020204030204"/>
                <a:cs typeface="Calibri" panose="020F0502020204030204"/>
              </a:rPr>
              <a:t> </a:t>
            </a:r>
            <a:r>
              <a:rPr sz="2200" spc="-5" dirty="0">
                <a:latin typeface="Calibri" panose="020F0502020204030204"/>
                <a:cs typeface="Calibri" panose="020F0502020204030204"/>
              </a:rPr>
              <a:t>Machine </a:t>
            </a:r>
            <a:r>
              <a:rPr sz="2200" spc="-10" dirty="0">
                <a:latin typeface="Calibri" panose="020F0502020204030204"/>
                <a:cs typeface="Calibri" panose="020F0502020204030204"/>
              </a:rPr>
              <a:t>Learning </a:t>
            </a:r>
            <a:r>
              <a:rPr sz="2200" spc="-5" dirty="0">
                <a:latin typeface="Calibri" panose="020F0502020204030204"/>
                <a:cs typeface="Calibri" panose="020F0502020204030204"/>
              </a:rPr>
              <a:t> </a:t>
            </a:r>
            <a:r>
              <a:rPr sz="2200" spc="-10" dirty="0">
                <a:latin typeface="Calibri" panose="020F0502020204030204"/>
                <a:cs typeface="Calibri" panose="020F0502020204030204"/>
              </a:rPr>
              <a:t>that</a:t>
            </a:r>
            <a:r>
              <a:rPr sz="2200" spc="-5" dirty="0">
                <a:latin typeface="Calibri" panose="020F0502020204030204"/>
                <a:cs typeface="Calibri" panose="020F0502020204030204"/>
              </a:rPr>
              <a:t> </a:t>
            </a:r>
            <a:r>
              <a:rPr sz="2200" spc="-10" dirty="0">
                <a:latin typeface="Calibri" panose="020F0502020204030204"/>
                <a:cs typeface="Calibri" panose="020F0502020204030204"/>
              </a:rPr>
              <a:t>trains</a:t>
            </a:r>
            <a:r>
              <a:rPr sz="2200" dirty="0">
                <a:latin typeface="Calibri" panose="020F0502020204030204"/>
                <a:cs typeface="Calibri" panose="020F0502020204030204"/>
              </a:rPr>
              <a:t> </a:t>
            </a:r>
            <a:r>
              <a:rPr sz="2200" spc="-15" dirty="0">
                <a:latin typeface="Calibri" panose="020F0502020204030204"/>
                <a:cs typeface="Calibri" panose="020F0502020204030204"/>
              </a:rPr>
              <a:t>agents</a:t>
            </a:r>
            <a:r>
              <a:rPr sz="2200" spc="20" dirty="0">
                <a:latin typeface="Calibri" panose="020F0502020204030204"/>
                <a:cs typeface="Calibri" panose="020F0502020204030204"/>
              </a:rPr>
              <a:t> </a:t>
            </a:r>
            <a:r>
              <a:rPr sz="2200" spc="-10" dirty="0">
                <a:latin typeface="Calibri" panose="020F0502020204030204"/>
                <a:cs typeface="Calibri" panose="020F0502020204030204"/>
              </a:rPr>
              <a:t>(such</a:t>
            </a:r>
            <a:r>
              <a:rPr sz="2200" spc="-5" dirty="0">
                <a:latin typeface="Calibri" panose="020F0502020204030204"/>
                <a:cs typeface="Calibri" panose="020F0502020204030204"/>
              </a:rPr>
              <a:t> as</a:t>
            </a:r>
            <a:r>
              <a:rPr sz="2200" spc="10" dirty="0">
                <a:latin typeface="Calibri" panose="020F0502020204030204"/>
                <a:cs typeface="Calibri" panose="020F0502020204030204"/>
              </a:rPr>
              <a:t> </a:t>
            </a:r>
            <a:r>
              <a:rPr sz="2200" spc="-10" dirty="0">
                <a:latin typeface="Calibri" panose="020F0502020204030204"/>
                <a:cs typeface="Calibri" panose="020F0502020204030204"/>
              </a:rPr>
              <a:t>bots)</a:t>
            </a:r>
            <a:r>
              <a:rPr sz="2200" spc="-5" dirty="0">
                <a:latin typeface="Calibri" panose="020F0502020204030204"/>
                <a:cs typeface="Calibri" panose="020F0502020204030204"/>
              </a:rPr>
              <a:t> </a:t>
            </a:r>
            <a:r>
              <a:rPr sz="2200" spc="-15" dirty="0">
                <a:latin typeface="Calibri" panose="020F0502020204030204"/>
                <a:cs typeface="Calibri" panose="020F0502020204030204"/>
              </a:rPr>
              <a:t>to</a:t>
            </a:r>
            <a:r>
              <a:rPr sz="2200" spc="10" dirty="0">
                <a:latin typeface="Calibri" panose="020F0502020204030204"/>
                <a:cs typeface="Calibri" panose="020F0502020204030204"/>
              </a:rPr>
              <a:t> </a:t>
            </a:r>
            <a:r>
              <a:rPr sz="2200" spc="-10" dirty="0">
                <a:latin typeface="Calibri" panose="020F0502020204030204"/>
                <a:cs typeface="Calibri" panose="020F0502020204030204"/>
              </a:rPr>
              <a:t>pick </a:t>
            </a:r>
            <a:r>
              <a:rPr sz="2200" spc="-5" dirty="0">
                <a:latin typeface="Calibri" panose="020F0502020204030204"/>
                <a:cs typeface="Calibri" panose="020F0502020204030204"/>
              </a:rPr>
              <a:t>the</a:t>
            </a:r>
            <a:r>
              <a:rPr sz="2200" spc="15" dirty="0">
                <a:latin typeface="Calibri" panose="020F0502020204030204"/>
                <a:cs typeface="Calibri" panose="020F0502020204030204"/>
              </a:rPr>
              <a:t> </a:t>
            </a:r>
            <a:r>
              <a:rPr sz="2200" spc="-5" dirty="0">
                <a:latin typeface="Calibri" panose="020F0502020204030204"/>
                <a:cs typeface="Calibri" panose="020F0502020204030204"/>
              </a:rPr>
              <a:t>actions </a:t>
            </a:r>
            <a:r>
              <a:rPr sz="2200" spc="-10" dirty="0">
                <a:latin typeface="Calibri" panose="020F0502020204030204"/>
                <a:cs typeface="Calibri" panose="020F0502020204030204"/>
              </a:rPr>
              <a:t>that</a:t>
            </a:r>
            <a:r>
              <a:rPr sz="2200" spc="-5" dirty="0">
                <a:latin typeface="Calibri" panose="020F0502020204030204"/>
                <a:cs typeface="Calibri" panose="020F0502020204030204"/>
              </a:rPr>
              <a:t> will </a:t>
            </a:r>
            <a:r>
              <a:rPr sz="2200" dirty="0">
                <a:latin typeface="Calibri" panose="020F0502020204030204"/>
                <a:cs typeface="Calibri" panose="020F0502020204030204"/>
              </a:rPr>
              <a:t> </a:t>
            </a:r>
            <a:r>
              <a:rPr sz="2200" spc="-20" dirty="0">
                <a:latin typeface="Calibri" panose="020F0502020204030204"/>
                <a:cs typeface="Calibri" panose="020F0502020204030204"/>
              </a:rPr>
              <a:t>maximize</a:t>
            </a:r>
            <a:r>
              <a:rPr sz="2200" spc="25" dirty="0">
                <a:latin typeface="Calibri" panose="020F0502020204030204"/>
                <a:cs typeface="Calibri" panose="020F0502020204030204"/>
              </a:rPr>
              <a:t> </a:t>
            </a:r>
            <a:r>
              <a:rPr sz="2200" spc="-5" dirty="0">
                <a:latin typeface="Calibri" panose="020F0502020204030204"/>
                <a:cs typeface="Calibri" panose="020F0502020204030204"/>
              </a:rPr>
              <a:t>their</a:t>
            </a:r>
            <a:r>
              <a:rPr sz="2200" spc="10" dirty="0">
                <a:latin typeface="Calibri" panose="020F0502020204030204"/>
                <a:cs typeface="Calibri" panose="020F0502020204030204"/>
              </a:rPr>
              <a:t> </a:t>
            </a:r>
            <a:r>
              <a:rPr sz="2200" spc="-15" dirty="0">
                <a:latin typeface="Calibri" panose="020F0502020204030204"/>
                <a:cs typeface="Calibri" panose="020F0502020204030204"/>
              </a:rPr>
              <a:t>rewards over</a:t>
            </a:r>
            <a:r>
              <a:rPr sz="2200" spc="10" dirty="0">
                <a:latin typeface="Calibri" panose="020F0502020204030204"/>
                <a:cs typeface="Calibri" panose="020F0502020204030204"/>
              </a:rPr>
              <a:t> </a:t>
            </a:r>
            <a:r>
              <a:rPr sz="2200" spc="-5" dirty="0">
                <a:latin typeface="Calibri" panose="020F0502020204030204"/>
                <a:cs typeface="Calibri" panose="020F0502020204030204"/>
              </a:rPr>
              <a:t>time</a:t>
            </a:r>
            <a:r>
              <a:rPr sz="2200" spc="20" dirty="0">
                <a:latin typeface="Calibri" panose="020F0502020204030204"/>
                <a:cs typeface="Calibri" panose="020F0502020204030204"/>
              </a:rPr>
              <a:t> </a:t>
            </a:r>
            <a:r>
              <a:rPr sz="2200" spc="-5" dirty="0">
                <a:latin typeface="Calibri" panose="020F0502020204030204"/>
                <a:cs typeface="Calibri" panose="020F0502020204030204"/>
              </a:rPr>
              <a:t>(e.g.,</a:t>
            </a:r>
            <a:r>
              <a:rPr sz="2200" dirty="0">
                <a:latin typeface="Calibri" panose="020F0502020204030204"/>
                <a:cs typeface="Calibri" panose="020F0502020204030204"/>
              </a:rPr>
              <a:t> </a:t>
            </a:r>
            <a:r>
              <a:rPr sz="2200" spc="-5" dirty="0">
                <a:latin typeface="Calibri" panose="020F0502020204030204"/>
                <a:cs typeface="Calibri" panose="020F0502020204030204"/>
              </a:rPr>
              <a:t>a</a:t>
            </a:r>
            <a:r>
              <a:rPr sz="2200" dirty="0">
                <a:latin typeface="Calibri" panose="020F0502020204030204"/>
                <a:cs typeface="Calibri" panose="020F0502020204030204"/>
              </a:rPr>
              <a:t> </a:t>
            </a:r>
            <a:r>
              <a:rPr sz="2200" spc="-10" dirty="0">
                <a:latin typeface="Calibri" panose="020F0502020204030204"/>
                <a:cs typeface="Calibri" panose="020F0502020204030204"/>
              </a:rPr>
              <a:t>bot</a:t>
            </a:r>
            <a:r>
              <a:rPr sz="2200" spc="5" dirty="0">
                <a:latin typeface="Calibri" panose="020F0502020204030204"/>
                <a:cs typeface="Calibri" panose="020F0502020204030204"/>
              </a:rPr>
              <a:t> </a:t>
            </a:r>
            <a:r>
              <a:rPr sz="2200" spc="-15" dirty="0">
                <a:latin typeface="Calibri" panose="020F0502020204030204"/>
                <a:cs typeface="Calibri" panose="020F0502020204030204"/>
              </a:rPr>
              <a:t>may</a:t>
            </a:r>
            <a:r>
              <a:rPr sz="2200" spc="5" dirty="0">
                <a:latin typeface="Calibri" panose="020F0502020204030204"/>
                <a:cs typeface="Calibri" panose="020F0502020204030204"/>
              </a:rPr>
              <a:t> </a:t>
            </a:r>
            <a:r>
              <a:rPr sz="2200" spc="-20" dirty="0">
                <a:latin typeface="Calibri" panose="020F0502020204030204"/>
                <a:cs typeface="Calibri" panose="020F0502020204030204"/>
              </a:rPr>
              <a:t>get</a:t>
            </a:r>
            <a:r>
              <a:rPr sz="2200" spc="30" dirty="0">
                <a:latin typeface="Calibri" panose="020F0502020204030204"/>
                <a:cs typeface="Calibri" panose="020F0502020204030204"/>
              </a:rPr>
              <a:t> </a:t>
            </a:r>
            <a:r>
              <a:rPr sz="2200" spc="-5" dirty="0">
                <a:latin typeface="Calibri" panose="020F0502020204030204"/>
                <a:cs typeface="Calibri" panose="020F0502020204030204"/>
              </a:rPr>
              <a:t>a </a:t>
            </a:r>
            <a:r>
              <a:rPr sz="2200" spc="-20" dirty="0">
                <a:latin typeface="Calibri" panose="020F0502020204030204"/>
                <a:cs typeface="Calibri" panose="020F0502020204030204"/>
              </a:rPr>
              <a:t>reward </a:t>
            </a:r>
            <a:r>
              <a:rPr sz="2200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sz="2200" spc="-10" dirty="0">
                <a:latin typeface="Calibri" panose="020F0502020204030204"/>
                <a:cs typeface="Calibri" panose="020F0502020204030204"/>
              </a:rPr>
              <a:t>every</a:t>
            </a:r>
            <a:r>
              <a:rPr sz="2200" spc="5" dirty="0">
                <a:latin typeface="Calibri" panose="020F0502020204030204"/>
                <a:cs typeface="Calibri" panose="020F0502020204030204"/>
              </a:rPr>
              <a:t> </a:t>
            </a:r>
            <a:r>
              <a:rPr sz="2200" spc="-5" dirty="0">
                <a:latin typeface="Calibri" panose="020F0502020204030204"/>
                <a:cs typeface="Calibri" panose="020F0502020204030204"/>
              </a:rPr>
              <a:t>time</a:t>
            </a:r>
            <a:r>
              <a:rPr sz="2200" spc="25" dirty="0">
                <a:latin typeface="Calibri" panose="020F0502020204030204"/>
                <a:cs typeface="Calibri" panose="020F0502020204030204"/>
              </a:rPr>
              <a:t> </a:t>
            </a:r>
            <a:r>
              <a:rPr sz="2200" spc="-5" dirty="0">
                <a:latin typeface="Calibri" panose="020F0502020204030204"/>
                <a:cs typeface="Calibri" panose="020F0502020204030204"/>
              </a:rPr>
              <a:t>the </a:t>
            </a:r>
            <a:r>
              <a:rPr sz="2200" spc="-15" dirty="0">
                <a:latin typeface="Calibri" panose="020F0502020204030204"/>
                <a:cs typeface="Calibri" panose="020F0502020204030204"/>
              </a:rPr>
              <a:t>player</a:t>
            </a:r>
            <a:r>
              <a:rPr sz="2200" dirty="0">
                <a:latin typeface="Calibri" panose="020F0502020204030204"/>
                <a:cs typeface="Calibri" panose="020F0502020204030204"/>
              </a:rPr>
              <a:t> </a:t>
            </a:r>
            <a:r>
              <a:rPr sz="2200" spc="-5" dirty="0">
                <a:latin typeface="Calibri" panose="020F0502020204030204"/>
                <a:cs typeface="Calibri" panose="020F0502020204030204"/>
              </a:rPr>
              <a:t>loses</a:t>
            </a:r>
            <a:r>
              <a:rPr sz="2200" spc="5" dirty="0">
                <a:latin typeface="Calibri" panose="020F0502020204030204"/>
                <a:cs typeface="Calibri" panose="020F0502020204030204"/>
              </a:rPr>
              <a:t> </a:t>
            </a:r>
            <a:r>
              <a:rPr sz="2200" spc="-5" dirty="0">
                <a:latin typeface="Calibri" panose="020F0502020204030204"/>
                <a:cs typeface="Calibri" panose="020F0502020204030204"/>
              </a:rPr>
              <a:t>some</a:t>
            </a:r>
            <a:r>
              <a:rPr sz="2200" dirty="0">
                <a:latin typeface="Calibri" panose="020F0502020204030204"/>
                <a:cs typeface="Calibri" panose="020F0502020204030204"/>
              </a:rPr>
              <a:t> </a:t>
            </a:r>
            <a:r>
              <a:rPr sz="2200" spc="-20" dirty="0">
                <a:latin typeface="Calibri" panose="020F0502020204030204"/>
                <a:cs typeface="Calibri" panose="020F0502020204030204"/>
              </a:rPr>
              <a:t>life</a:t>
            </a:r>
            <a:r>
              <a:rPr sz="2200" spc="15" dirty="0">
                <a:latin typeface="Calibri" panose="020F0502020204030204"/>
                <a:cs typeface="Calibri" panose="020F0502020204030204"/>
              </a:rPr>
              <a:t> </a:t>
            </a:r>
            <a:r>
              <a:rPr sz="2200" spc="-10" dirty="0">
                <a:latin typeface="Calibri" panose="020F0502020204030204"/>
                <a:cs typeface="Calibri" panose="020F0502020204030204"/>
              </a:rPr>
              <a:t>points),</a:t>
            </a:r>
            <a:r>
              <a:rPr sz="2200" spc="-5" dirty="0">
                <a:latin typeface="Calibri" panose="020F0502020204030204"/>
                <a:cs typeface="Calibri" panose="020F0502020204030204"/>
              </a:rPr>
              <a:t> within a</a:t>
            </a:r>
            <a:r>
              <a:rPr sz="2200" spc="5" dirty="0">
                <a:latin typeface="Calibri" panose="020F0502020204030204"/>
                <a:cs typeface="Calibri" panose="020F0502020204030204"/>
              </a:rPr>
              <a:t> </a:t>
            </a:r>
            <a:r>
              <a:rPr sz="2200" spc="-10" dirty="0">
                <a:latin typeface="Calibri" panose="020F0502020204030204"/>
                <a:cs typeface="Calibri" panose="020F0502020204030204"/>
              </a:rPr>
              <a:t>given </a:t>
            </a:r>
            <a:r>
              <a:rPr sz="2200" spc="-5" dirty="0">
                <a:latin typeface="Calibri" panose="020F0502020204030204"/>
                <a:cs typeface="Calibri" panose="020F0502020204030204"/>
              </a:rPr>
              <a:t> </a:t>
            </a:r>
            <a:r>
              <a:rPr sz="2200" spc="-15" dirty="0">
                <a:latin typeface="Calibri" panose="020F0502020204030204"/>
                <a:cs typeface="Calibri" panose="020F0502020204030204"/>
              </a:rPr>
              <a:t>environment</a:t>
            </a:r>
            <a:r>
              <a:rPr sz="2200" spc="-5" dirty="0">
                <a:latin typeface="Calibri" panose="020F0502020204030204"/>
                <a:cs typeface="Calibri" panose="020F0502020204030204"/>
              </a:rPr>
              <a:t> (e.g.,</a:t>
            </a:r>
            <a:r>
              <a:rPr sz="2200" spc="10" dirty="0">
                <a:latin typeface="Calibri" panose="020F0502020204030204"/>
                <a:cs typeface="Calibri" panose="020F0502020204030204"/>
              </a:rPr>
              <a:t> </a:t>
            </a:r>
            <a:r>
              <a:rPr sz="2200" spc="-5" dirty="0">
                <a:latin typeface="Calibri" panose="020F0502020204030204"/>
                <a:cs typeface="Calibri" panose="020F0502020204030204"/>
              </a:rPr>
              <a:t>the</a:t>
            </a:r>
            <a:r>
              <a:rPr sz="2200" spc="15" dirty="0">
                <a:latin typeface="Calibri" panose="020F0502020204030204"/>
                <a:cs typeface="Calibri" panose="020F0502020204030204"/>
              </a:rPr>
              <a:t> </a:t>
            </a:r>
            <a:r>
              <a:rPr sz="2200" spc="-10" dirty="0">
                <a:latin typeface="Calibri" panose="020F0502020204030204"/>
                <a:cs typeface="Calibri" panose="020F0502020204030204"/>
              </a:rPr>
              <a:t>game).</a:t>
            </a:r>
            <a:r>
              <a:rPr sz="2200" spc="-5" dirty="0">
                <a:latin typeface="Calibri" panose="020F0502020204030204"/>
                <a:cs typeface="Calibri" panose="020F0502020204030204"/>
              </a:rPr>
              <a:t> The</a:t>
            </a:r>
            <a:r>
              <a:rPr sz="2200" spc="15" dirty="0">
                <a:latin typeface="Calibri" panose="020F0502020204030204"/>
                <a:cs typeface="Calibri" panose="020F0502020204030204"/>
              </a:rPr>
              <a:t> </a:t>
            </a:r>
            <a:r>
              <a:rPr sz="2200" spc="-10" dirty="0">
                <a:latin typeface="Calibri" panose="020F0502020204030204"/>
                <a:cs typeface="Calibri" panose="020F0502020204030204"/>
              </a:rPr>
              <a:t>famous</a:t>
            </a:r>
            <a:r>
              <a:rPr sz="2200" spc="10" dirty="0">
                <a:latin typeface="Calibri" panose="020F0502020204030204"/>
                <a:cs typeface="Calibri" panose="020F0502020204030204"/>
              </a:rPr>
              <a:t> </a:t>
            </a:r>
            <a:r>
              <a:rPr sz="2200" spc="-5" dirty="0">
                <a:latin typeface="Calibri" panose="020F0502020204030204"/>
                <a:cs typeface="Calibri" panose="020F0502020204030204"/>
              </a:rPr>
              <a:t>AlphaGo</a:t>
            </a:r>
            <a:r>
              <a:rPr sz="2200" spc="10" dirty="0">
                <a:latin typeface="Calibri" panose="020F0502020204030204"/>
                <a:cs typeface="Calibri" panose="020F0502020204030204"/>
              </a:rPr>
              <a:t> </a:t>
            </a:r>
            <a:r>
              <a:rPr sz="2200" spc="-20" dirty="0">
                <a:latin typeface="Calibri" panose="020F0502020204030204"/>
                <a:cs typeface="Calibri" panose="020F0502020204030204"/>
              </a:rPr>
              <a:t>program</a:t>
            </a:r>
            <a:r>
              <a:rPr sz="2200" spc="-5" dirty="0">
                <a:latin typeface="Calibri" panose="020F0502020204030204"/>
                <a:cs typeface="Calibri" panose="020F0502020204030204"/>
              </a:rPr>
              <a:t> </a:t>
            </a:r>
            <a:r>
              <a:rPr sz="2200" spc="-15" dirty="0">
                <a:latin typeface="Calibri" panose="020F0502020204030204"/>
                <a:cs typeface="Calibri" panose="020F0502020204030204"/>
              </a:rPr>
              <a:t>that </a:t>
            </a:r>
            <a:r>
              <a:rPr sz="2200" spc="-480" dirty="0">
                <a:latin typeface="Calibri" panose="020F0502020204030204"/>
                <a:cs typeface="Calibri" panose="020F0502020204030204"/>
              </a:rPr>
              <a:t> </a:t>
            </a:r>
            <a:r>
              <a:rPr sz="2200" spc="-15" dirty="0">
                <a:latin typeface="Calibri" panose="020F0502020204030204"/>
                <a:cs typeface="Calibri" panose="020F0502020204030204"/>
              </a:rPr>
              <a:t>beat</a:t>
            </a:r>
            <a:r>
              <a:rPr sz="2200" spc="-5" dirty="0">
                <a:latin typeface="Calibri" panose="020F0502020204030204"/>
                <a:cs typeface="Calibri" panose="020F0502020204030204"/>
              </a:rPr>
              <a:t> the</a:t>
            </a:r>
            <a:r>
              <a:rPr sz="2200" spc="15" dirty="0">
                <a:latin typeface="Calibri" panose="020F0502020204030204"/>
                <a:cs typeface="Calibri" panose="020F0502020204030204"/>
              </a:rPr>
              <a:t> </a:t>
            </a:r>
            <a:r>
              <a:rPr sz="2200" spc="-10" dirty="0">
                <a:latin typeface="Calibri" panose="020F0502020204030204"/>
                <a:cs typeface="Calibri" panose="020F0502020204030204"/>
              </a:rPr>
              <a:t>world</a:t>
            </a:r>
            <a:r>
              <a:rPr sz="2200" spc="5" dirty="0">
                <a:latin typeface="Calibri" panose="020F0502020204030204"/>
                <a:cs typeface="Calibri" panose="020F0502020204030204"/>
              </a:rPr>
              <a:t> </a:t>
            </a:r>
            <a:r>
              <a:rPr sz="2200" spc="-10" dirty="0">
                <a:latin typeface="Calibri" panose="020F0502020204030204"/>
                <a:cs typeface="Calibri" panose="020F0502020204030204"/>
              </a:rPr>
              <a:t>champion</a:t>
            </a:r>
            <a:r>
              <a:rPr sz="2200" spc="-5" dirty="0">
                <a:latin typeface="Calibri" panose="020F0502020204030204"/>
                <a:cs typeface="Calibri" panose="020F0502020204030204"/>
              </a:rPr>
              <a:t> </a:t>
            </a:r>
            <a:r>
              <a:rPr sz="2200" spc="-15" dirty="0">
                <a:latin typeface="Calibri" panose="020F0502020204030204"/>
                <a:cs typeface="Calibri" panose="020F0502020204030204"/>
              </a:rPr>
              <a:t>at</a:t>
            </a:r>
            <a:r>
              <a:rPr sz="2200" dirty="0">
                <a:latin typeface="Calibri" panose="020F0502020204030204"/>
                <a:cs typeface="Calibri" panose="020F0502020204030204"/>
              </a:rPr>
              <a:t> </a:t>
            </a:r>
            <a:r>
              <a:rPr sz="2200" spc="-5" dirty="0">
                <a:latin typeface="Calibri" panose="020F0502020204030204"/>
                <a:cs typeface="Calibri" panose="020F0502020204030204"/>
              </a:rPr>
              <a:t>the</a:t>
            </a:r>
            <a:r>
              <a:rPr sz="2200" spc="15" dirty="0">
                <a:latin typeface="Calibri" panose="020F0502020204030204"/>
                <a:cs typeface="Calibri" panose="020F0502020204030204"/>
              </a:rPr>
              <a:t> </a:t>
            </a:r>
            <a:r>
              <a:rPr sz="2200" spc="-15" dirty="0">
                <a:latin typeface="Calibri" panose="020F0502020204030204"/>
                <a:cs typeface="Calibri" panose="020F0502020204030204"/>
              </a:rPr>
              <a:t>game</a:t>
            </a:r>
            <a:r>
              <a:rPr sz="2200" spc="15" dirty="0">
                <a:latin typeface="Calibri" panose="020F0502020204030204"/>
                <a:cs typeface="Calibri" panose="020F0502020204030204"/>
              </a:rPr>
              <a:t> </a:t>
            </a:r>
            <a:r>
              <a:rPr sz="2200" spc="-5" dirty="0">
                <a:latin typeface="Calibri" panose="020F0502020204030204"/>
                <a:cs typeface="Calibri" panose="020F0502020204030204"/>
              </a:rPr>
              <a:t>of</a:t>
            </a:r>
            <a:r>
              <a:rPr sz="2200" dirty="0">
                <a:latin typeface="Calibri" panose="020F0502020204030204"/>
                <a:cs typeface="Calibri" panose="020F0502020204030204"/>
              </a:rPr>
              <a:t> </a:t>
            </a:r>
            <a:r>
              <a:rPr sz="2200" spc="-10" dirty="0">
                <a:latin typeface="Calibri" panose="020F0502020204030204"/>
                <a:cs typeface="Calibri" panose="020F0502020204030204"/>
              </a:rPr>
              <a:t>go</a:t>
            </a:r>
            <a:r>
              <a:rPr sz="2200" spc="10" dirty="0">
                <a:latin typeface="Calibri" panose="020F0502020204030204"/>
                <a:cs typeface="Calibri" panose="020F0502020204030204"/>
              </a:rPr>
              <a:t> </a:t>
            </a:r>
            <a:r>
              <a:rPr sz="2200" spc="-15" dirty="0">
                <a:latin typeface="Calibri" panose="020F0502020204030204"/>
                <a:cs typeface="Calibri" panose="020F0502020204030204"/>
              </a:rPr>
              <a:t>was</a:t>
            </a:r>
            <a:r>
              <a:rPr sz="2200" spc="10" dirty="0">
                <a:latin typeface="Calibri" panose="020F0502020204030204"/>
                <a:cs typeface="Calibri" panose="020F0502020204030204"/>
              </a:rPr>
              <a:t> </a:t>
            </a:r>
            <a:r>
              <a:rPr sz="2200" spc="-10" dirty="0">
                <a:latin typeface="Calibri" panose="020F0502020204030204"/>
                <a:cs typeface="Calibri" panose="020F0502020204030204"/>
              </a:rPr>
              <a:t>built</a:t>
            </a:r>
            <a:r>
              <a:rPr sz="2200" dirty="0">
                <a:latin typeface="Calibri" panose="020F0502020204030204"/>
                <a:cs typeface="Calibri" panose="020F0502020204030204"/>
              </a:rPr>
              <a:t> </a:t>
            </a:r>
            <a:r>
              <a:rPr sz="2200" spc="-5" dirty="0">
                <a:latin typeface="Calibri" panose="020F0502020204030204"/>
                <a:cs typeface="Calibri" panose="020F0502020204030204"/>
              </a:rPr>
              <a:t>using RL.</a:t>
            </a:r>
            <a:endParaRPr sz="22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778255" y="609676"/>
            <a:ext cx="775970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b="1" spc="-10" dirty="0">
                <a:solidFill>
                  <a:srgbClr val="2E5496"/>
                </a:solidFill>
                <a:latin typeface="Calibri" panose="020F0502020204030204"/>
                <a:cs typeface="Calibri" panose="020F0502020204030204"/>
              </a:rPr>
              <a:t>Applications</a:t>
            </a:r>
            <a:r>
              <a:rPr sz="4400" b="1" spc="-45" dirty="0">
                <a:solidFill>
                  <a:srgbClr val="2E5496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4400" b="1" dirty="0">
                <a:solidFill>
                  <a:srgbClr val="2E5496"/>
                </a:solidFill>
                <a:latin typeface="Calibri" panose="020F0502020204030204"/>
                <a:cs typeface="Calibri" panose="020F0502020204030204"/>
              </a:rPr>
              <a:t>of</a:t>
            </a:r>
            <a:r>
              <a:rPr sz="4400" b="1" spc="-5" dirty="0">
                <a:solidFill>
                  <a:srgbClr val="2E5496"/>
                </a:solidFill>
                <a:latin typeface="Calibri" panose="020F0502020204030204"/>
                <a:cs typeface="Calibri" panose="020F0502020204030204"/>
              </a:rPr>
              <a:t> Machine</a:t>
            </a:r>
            <a:r>
              <a:rPr sz="4400" b="1" spc="-40" dirty="0">
                <a:solidFill>
                  <a:srgbClr val="2E5496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4400" b="1" dirty="0">
                <a:solidFill>
                  <a:srgbClr val="2E5496"/>
                </a:solidFill>
                <a:latin typeface="Calibri" panose="020F0502020204030204"/>
                <a:cs typeface="Calibri" panose="020F0502020204030204"/>
              </a:rPr>
              <a:t>Learning</a:t>
            </a:r>
            <a:endParaRPr sz="4400">
              <a:latin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48970" y="432435"/>
            <a:ext cx="7960360" cy="69024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b="1" spc="-15" dirty="0">
                <a:solidFill>
                  <a:srgbClr val="2E5496"/>
                </a:solidFill>
                <a:latin typeface="Calibri" panose="020F0502020204030204"/>
                <a:cs typeface="Calibri" panose="020F0502020204030204"/>
              </a:rPr>
              <a:t>Broad</a:t>
            </a:r>
            <a:r>
              <a:rPr sz="4400" b="1" spc="-75" dirty="0">
                <a:solidFill>
                  <a:srgbClr val="2E5496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4400" b="1" dirty="0">
                <a:solidFill>
                  <a:srgbClr val="2E5496"/>
                </a:solidFill>
                <a:latin typeface="Calibri" panose="020F0502020204030204"/>
                <a:cs typeface="Calibri" panose="020F0502020204030204"/>
              </a:rPr>
              <a:t>types</a:t>
            </a:r>
            <a:r>
              <a:rPr sz="4400" b="1" spc="-50" dirty="0">
                <a:solidFill>
                  <a:srgbClr val="2E5496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4400" b="1" spc="-5" dirty="0">
                <a:solidFill>
                  <a:srgbClr val="2E5496"/>
                </a:solidFill>
                <a:latin typeface="Calibri" panose="020F0502020204030204"/>
                <a:cs typeface="Calibri" panose="020F0502020204030204"/>
              </a:rPr>
              <a:t>of</a:t>
            </a:r>
            <a:r>
              <a:rPr sz="4400" b="1" spc="-40" dirty="0">
                <a:solidFill>
                  <a:srgbClr val="2E5496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lang="en-IN" sz="4400" b="1" spc="-40" dirty="0">
                <a:solidFill>
                  <a:srgbClr val="2E5496"/>
                </a:solidFill>
                <a:latin typeface="Calibri" panose="020F0502020204030204"/>
                <a:cs typeface="Calibri" panose="020F0502020204030204"/>
              </a:rPr>
              <a:t>M</a:t>
            </a:r>
            <a:r>
              <a:rPr sz="4400" b="1" spc="-5" dirty="0">
                <a:solidFill>
                  <a:srgbClr val="2E5496"/>
                </a:solidFill>
                <a:latin typeface="Calibri" panose="020F0502020204030204"/>
                <a:cs typeface="Calibri" panose="020F0502020204030204"/>
              </a:rPr>
              <a:t>achine</a:t>
            </a:r>
            <a:r>
              <a:rPr sz="4400" b="1" spc="-30" dirty="0">
                <a:solidFill>
                  <a:srgbClr val="2E5496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lang="en-IN" sz="4400" b="1" spc="-30" dirty="0">
                <a:solidFill>
                  <a:srgbClr val="2E5496"/>
                </a:solidFill>
                <a:latin typeface="Calibri" panose="020F0502020204030204"/>
                <a:cs typeface="Calibri" panose="020F0502020204030204"/>
              </a:rPr>
              <a:t>L</a:t>
            </a:r>
            <a:r>
              <a:rPr sz="4400" b="1" dirty="0">
                <a:solidFill>
                  <a:srgbClr val="2E5496"/>
                </a:solidFill>
                <a:latin typeface="Calibri" panose="020F0502020204030204"/>
                <a:cs typeface="Calibri" panose="020F0502020204030204"/>
              </a:rPr>
              <a:t>earning</a:t>
            </a:r>
            <a:endParaRPr sz="44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35635" y="1516126"/>
            <a:ext cx="7988300" cy="50590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2700" b="1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Supervised</a:t>
            </a:r>
            <a:r>
              <a:rPr sz="2700" b="1" spc="-12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700" b="1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Learning</a:t>
            </a:r>
            <a:endParaRPr sz="2700">
              <a:latin typeface="Calibri" panose="020F0502020204030204"/>
              <a:cs typeface="Calibri" panose="020F0502020204030204"/>
            </a:endParaRPr>
          </a:p>
          <a:p>
            <a:pPr marL="756285" lvl="1" indent="-287020">
              <a:lnSpc>
                <a:spcPct val="100000"/>
              </a:lnSpc>
              <a:spcBef>
                <a:spcPts val="10"/>
              </a:spcBef>
              <a:buFont typeface="Arial MT"/>
              <a:buChar char="–"/>
              <a:tabLst>
                <a:tab pos="756920" algn="l"/>
              </a:tabLst>
            </a:pPr>
            <a:r>
              <a:rPr lang="en-IN" sz="2400" spc="-5" dirty="0">
                <a:latin typeface="Calibri" panose="020F0502020204030204"/>
                <a:cs typeface="Calibri" panose="020F0502020204030204"/>
              </a:rPr>
              <a:t>x</a:t>
            </a:r>
            <a:r>
              <a:rPr sz="2400" spc="-5" dirty="0">
                <a:latin typeface="Calibri" panose="020F0502020204030204"/>
                <a:cs typeface="Calibri" panose="020F0502020204030204"/>
              </a:rPr>
              <a:t>,y</a:t>
            </a:r>
            <a:r>
              <a:rPr sz="2400" spc="-40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spc="-10" dirty="0">
                <a:latin typeface="Calibri" panose="020F0502020204030204"/>
                <a:cs typeface="Calibri" panose="020F0502020204030204"/>
              </a:rPr>
              <a:t>(pre-classified</a:t>
            </a:r>
            <a:r>
              <a:rPr sz="2400" spc="-55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spc="-20" dirty="0">
                <a:latin typeface="Calibri" panose="020F0502020204030204"/>
                <a:cs typeface="Calibri" panose="020F0502020204030204"/>
              </a:rPr>
              <a:t>training</a:t>
            </a:r>
            <a:r>
              <a:rPr sz="2400" spc="-60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spc="-20" dirty="0">
                <a:latin typeface="Calibri" panose="020F0502020204030204"/>
                <a:cs typeface="Calibri" panose="020F0502020204030204"/>
              </a:rPr>
              <a:t>examples)</a:t>
            </a:r>
            <a:endParaRPr sz="2400">
              <a:latin typeface="Calibri" panose="020F0502020204030204"/>
              <a:cs typeface="Calibri" panose="020F0502020204030204"/>
            </a:endParaRPr>
          </a:p>
          <a:p>
            <a:pPr marL="756285" lvl="1" indent="-287020">
              <a:lnSpc>
                <a:spcPct val="100000"/>
              </a:lnSpc>
              <a:spcBef>
                <a:spcPts val="5"/>
              </a:spcBef>
              <a:buFont typeface="Arial MT"/>
              <a:buChar char="–"/>
              <a:tabLst>
                <a:tab pos="756920" algn="l"/>
              </a:tabLst>
            </a:pPr>
            <a:r>
              <a:rPr sz="2400" spc="-15" dirty="0">
                <a:latin typeface="Calibri" panose="020F0502020204030204"/>
                <a:cs typeface="Calibri" panose="020F0502020204030204"/>
              </a:rPr>
              <a:t>Given</a:t>
            </a:r>
            <a:r>
              <a:rPr sz="2400" spc="-5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dirty="0">
                <a:latin typeface="Calibri" panose="020F0502020204030204"/>
                <a:cs typeface="Calibri" panose="020F0502020204030204"/>
              </a:rPr>
              <a:t>an</a:t>
            </a:r>
            <a:r>
              <a:rPr sz="2400" spc="-25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spc="-20" dirty="0">
                <a:latin typeface="Calibri" panose="020F0502020204030204"/>
                <a:cs typeface="Calibri" panose="020F0502020204030204"/>
              </a:rPr>
              <a:t>observation</a:t>
            </a:r>
            <a:r>
              <a:rPr sz="2400" spc="5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dirty="0">
                <a:latin typeface="Calibri" panose="020F0502020204030204"/>
                <a:cs typeface="Calibri" panose="020F0502020204030204"/>
              </a:rPr>
              <a:t>x,</a:t>
            </a:r>
            <a:r>
              <a:rPr sz="2400" spc="-35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spc="-20" dirty="0">
                <a:latin typeface="Calibri" panose="020F0502020204030204"/>
                <a:cs typeface="Calibri" panose="020F0502020204030204"/>
              </a:rPr>
              <a:t>what</a:t>
            </a:r>
            <a:r>
              <a:rPr sz="2400" spc="-35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dirty="0">
                <a:latin typeface="Calibri" panose="020F0502020204030204"/>
                <a:cs typeface="Calibri" panose="020F0502020204030204"/>
              </a:rPr>
              <a:t>is</a:t>
            </a:r>
            <a:r>
              <a:rPr sz="2400" spc="-35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dirty="0">
                <a:latin typeface="Calibri" panose="020F0502020204030204"/>
                <a:cs typeface="Calibri" panose="020F0502020204030204"/>
              </a:rPr>
              <a:t>the</a:t>
            </a:r>
            <a:r>
              <a:rPr sz="2400" spc="-15" dirty="0">
                <a:latin typeface="Calibri" panose="020F0502020204030204"/>
                <a:cs typeface="Calibri" panose="020F0502020204030204"/>
              </a:rPr>
              <a:t> best</a:t>
            </a:r>
            <a:r>
              <a:rPr sz="2400" spc="-25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dirty="0">
                <a:latin typeface="Calibri" panose="020F0502020204030204"/>
                <a:cs typeface="Calibri" panose="020F0502020204030204"/>
              </a:rPr>
              <a:t>label</a:t>
            </a:r>
            <a:r>
              <a:rPr sz="2400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spc="-35" dirty="0">
                <a:latin typeface="Calibri" panose="020F0502020204030204"/>
                <a:cs typeface="Calibri" panose="020F0502020204030204"/>
              </a:rPr>
              <a:t>for</a:t>
            </a:r>
            <a:r>
              <a:rPr sz="2400" spc="-30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spc="5" dirty="0">
                <a:latin typeface="Calibri" panose="020F0502020204030204"/>
                <a:cs typeface="Calibri" panose="020F0502020204030204"/>
              </a:rPr>
              <a:t>y?</a:t>
            </a:r>
            <a:endParaRPr sz="2400">
              <a:latin typeface="Calibri" panose="020F0502020204030204"/>
              <a:cs typeface="Calibri" panose="020F0502020204030204"/>
            </a:endParaRPr>
          </a:p>
          <a:p>
            <a:pPr lvl="1">
              <a:lnSpc>
                <a:spcPct val="100000"/>
              </a:lnSpc>
              <a:buFont typeface="Arial MT"/>
              <a:buChar char="–"/>
            </a:pPr>
            <a:endParaRPr sz="2300">
              <a:latin typeface="Calibri" panose="020F0502020204030204"/>
              <a:cs typeface="Calibri" panose="020F0502020204030204"/>
            </a:endParaRPr>
          </a:p>
          <a:p>
            <a:pPr marL="355600" indent="-342900">
              <a:lnSpc>
                <a:spcPct val="100000"/>
              </a:lnSpc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2700" b="1" spc="-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Unsupervised</a:t>
            </a:r>
            <a:r>
              <a:rPr sz="2700" b="1" spc="-9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700" b="1" spc="-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learning</a:t>
            </a:r>
            <a:endParaRPr sz="2700">
              <a:latin typeface="Calibri" panose="020F0502020204030204"/>
              <a:cs typeface="Calibri" panose="020F0502020204030204"/>
            </a:endParaRPr>
          </a:p>
          <a:p>
            <a:pPr marL="756285" lvl="1" indent="-287020">
              <a:lnSpc>
                <a:spcPct val="100000"/>
              </a:lnSpc>
              <a:spcBef>
                <a:spcPts val="10"/>
              </a:spcBef>
              <a:buFont typeface="Arial MT"/>
              <a:buChar char="–"/>
              <a:tabLst>
                <a:tab pos="756920" algn="l"/>
              </a:tabLst>
            </a:pPr>
            <a:r>
              <a:rPr sz="2400" dirty="0">
                <a:latin typeface="Calibri" panose="020F0502020204030204"/>
                <a:cs typeface="Calibri" panose="020F0502020204030204"/>
              </a:rPr>
              <a:t>X</a:t>
            </a:r>
            <a:endParaRPr sz="2400">
              <a:latin typeface="Calibri" panose="020F0502020204030204"/>
              <a:cs typeface="Calibri" panose="020F0502020204030204"/>
            </a:endParaRPr>
          </a:p>
          <a:p>
            <a:pPr marL="756285" lvl="1" indent="-287020">
              <a:lnSpc>
                <a:spcPct val="100000"/>
              </a:lnSpc>
              <a:spcBef>
                <a:spcPts val="5"/>
              </a:spcBef>
              <a:buFont typeface="Arial MT"/>
              <a:buChar char="–"/>
              <a:tabLst>
                <a:tab pos="756920" algn="l"/>
              </a:tabLst>
            </a:pPr>
            <a:r>
              <a:rPr sz="2400" spc="-15" dirty="0">
                <a:latin typeface="Calibri" panose="020F0502020204030204"/>
                <a:cs typeface="Calibri" panose="020F0502020204030204"/>
              </a:rPr>
              <a:t>Given</a:t>
            </a:r>
            <a:r>
              <a:rPr sz="2400" spc="-5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dirty="0">
                <a:latin typeface="Calibri" panose="020F0502020204030204"/>
                <a:cs typeface="Calibri" panose="020F0502020204030204"/>
              </a:rPr>
              <a:t>a</a:t>
            </a:r>
            <a:r>
              <a:rPr sz="2400" spc="-30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spc="-5" dirty="0">
                <a:latin typeface="Calibri" panose="020F0502020204030204"/>
                <a:cs typeface="Calibri" panose="020F0502020204030204"/>
              </a:rPr>
              <a:t>set</a:t>
            </a:r>
            <a:r>
              <a:rPr sz="2400" spc="-35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spc="-5" dirty="0">
                <a:latin typeface="Calibri" panose="020F0502020204030204"/>
                <a:cs typeface="Calibri" panose="020F0502020204030204"/>
              </a:rPr>
              <a:t>of</a:t>
            </a:r>
            <a:r>
              <a:rPr sz="2400" spc="-40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spc="-45" dirty="0">
                <a:latin typeface="Calibri" panose="020F0502020204030204"/>
                <a:cs typeface="Calibri" panose="020F0502020204030204"/>
              </a:rPr>
              <a:t>x’s,</a:t>
            </a:r>
            <a:r>
              <a:rPr sz="2400" spc="-65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spc="-15" dirty="0">
                <a:latin typeface="Calibri" panose="020F0502020204030204"/>
                <a:cs typeface="Calibri" panose="020F0502020204030204"/>
              </a:rPr>
              <a:t>cluster</a:t>
            </a:r>
            <a:r>
              <a:rPr sz="2400" spc="-60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spc="-5" dirty="0">
                <a:latin typeface="Calibri" panose="020F0502020204030204"/>
                <a:cs typeface="Calibri" panose="020F0502020204030204"/>
              </a:rPr>
              <a:t>or</a:t>
            </a:r>
            <a:r>
              <a:rPr sz="2400" spc="-40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spc="-20" dirty="0">
                <a:latin typeface="Calibri" panose="020F0502020204030204"/>
                <a:cs typeface="Calibri" panose="020F0502020204030204"/>
              </a:rPr>
              <a:t>summarize</a:t>
            </a:r>
            <a:r>
              <a:rPr sz="2400" spc="-35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dirty="0">
                <a:latin typeface="Calibri" panose="020F0502020204030204"/>
                <a:cs typeface="Calibri" panose="020F0502020204030204"/>
              </a:rPr>
              <a:t>them</a:t>
            </a:r>
            <a:endParaRPr sz="2400">
              <a:latin typeface="Calibri" panose="020F0502020204030204"/>
              <a:cs typeface="Calibri" panose="020F0502020204030204"/>
            </a:endParaRPr>
          </a:p>
          <a:p>
            <a:pPr lvl="1">
              <a:lnSpc>
                <a:spcPct val="100000"/>
              </a:lnSpc>
              <a:spcBef>
                <a:spcPts val="60"/>
              </a:spcBef>
              <a:buFont typeface="Arial MT"/>
              <a:buChar char="–"/>
            </a:pPr>
            <a:endParaRPr sz="2250">
              <a:latin typeface="Calibri" panose="020F0502020204030204"/>
              <a:cs typeface="Calibri" panose="020F0502020204030204"/>
            </a:endParaRPr>
          </a:p>
          <a:p>
            <a:pPr marL="355600" marR="777240" indent="-342900">
              <a:lnSpc>
                <a:spcPct val="100000"/>
              </a:lnSpc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2700" b="1" spc="-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Semi-supervised</a:t>
            </a:r>
            <a:r>
              <a:rPr sz="2700" b="1" spc="-7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700" b="1" spc="-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Learning</a:t>
            </a:r>
            <a:r>
              <a:rPr sz="2700" b="1" spc="-6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700" spc="-5" dirty="0">
                <a:latin typeface="Calibri" panose="020F0502020204030204"/>
                <a:cs typeface="Calibri" panose="020F0502020204030204"/>
              </a:rPr>
              <a:t>(has</a:t>
            </a:r>
            <a:r>
              <a:rPr sz="2700" spc="-50" dirty="0">
                <a:latin typeface="Calibri" panose="020F0502020204030204"/>
                <a:cs typeface="Calibri" panose="020F0502020204030204"/>
              </a:rPr>
              <a:t> </a:t>
            </a:r>
            <a:r>
              <a:rPr sz="2700" dirty="0">
                <a:latin typeface="Calibri" panose="020F0502020204030204"/>
                <a:cs typeface="Calibri" panose="020F0502020204030204"/>
              </a:rPr>
              <a:t>labelled</a:t>
            </a:r>
            <a:r>
              <a:rPr sz="2700" spc="-70" dirty="0">
                <a:latin typeface="Calibri" panose="020F0502020204030204"/>
                <a:cs typeface="Calibri" panose="020F0502020204030204"/>
              </a:rPr>
              <a:t> </a:t>
            </a:r>
            <a:r>
              <a:rPr sz="2700" dirty="0">
                <a:latin typeface="Calibri" panose="020F0502020204030204"/>
                <a:cs typeface="Calibri" panose="020F0502020204030204"/>
              </a:rPr>
              <a:t>as</a:t>
            </a:r>
            <a:r>
              <a:rPr sz="2700" spc="-20" dirty="0">
                <a:latin typeface="Calibri" panose="020F0502020204030204"/>
                <a:cs typeface="Calibri" panose="020F0502020204030204"/>
              </a:rPr>
              <a:t> </a:t>
            </a:r>
            <a:r>
              <a:rPr sz="2700" spc="-10" dirty="0">
                <a:latin typeface="Calibri" panose="020F0502020204030204"/>
                <a:cs typeface="Calibri" panose="020F0502020204030204"/>
              </a:rPr>
              <a:t>well</a:t>
            </a:r>
            <a:r>
              <a:rPr sz="2700" spc="-30" dirty="0">
                <a:latin typeface="Calibri" panose="020F0502020204030204"/>
                <a:cs typeface="Calibri" panose="020F0502020204030204"/>
              </a:rPr>
              <a:t> </a:t>
            </a:r>
            <a:r>
              <a:rPr sz="2700" dirty="0">
                <a:latin typeface="Calibri" panose="020F0502020204030204"/>
                <a:cs typeface="Calibri" panose="020F0502020204030204"/>
              </a:rPr>
              <a:t>as </a:t>
            </a:r>
            <a:r>
              <a:rPr sz="2700" spc="-600" dirty="0">
                <a:latin typeface="Calibri" panose="020F0502020204030204"/>
                <a:cs typeface="Calibri" panose="020F0502020204030204"/>
              </a:rPr>
              <a:t> </a:t>
            </a:r>
            <a:r>
              <a:rPr sz="2700" spc="-10" dirty="0">
                <a:latin typeface="Calibri" panose="020F0502020204030204"/>
                <a:cs typeface="Calibri" panose="020F0502020204030204"/>
              </a:rPr>
              <a:t>unlabelled</a:t>
            </a:r>
            <a:r>
              <a:rPr sz="2700" spc="-55" dirty="0">
                <a:latin typeface="Calibri" panose="020F0502020204030204"/>
                <a:cs typeface="Calibri" panose="020F0502020204030204"/>
              </a:rPr>
              <a:t> </a:t>
            </a:r>
            <a:r>
              <a:rPr sz="2700" spc="-15" dirty="0">
                <a:latin typeface="Calibri" panose="020F0502020204030204"/>
                <a:cs typeface="Calibri" panose="020F0502020204030204"/>
              </a:rPr>
              <a:t>data)</a:t>
            </a:r>
            <a:endParaRPr sz="2700">
              <a:latin typeface="Calibri" panose="020F0502020204030204"/>
              <a:cs typeface="Calibri" panose="020F0502020204030204"/>
            </a:endParaRPr>
          </a:p>
          <a:p>
            <a:pPr>
              <a:lnSpc>
                <a:spcPct val="100000"/>
              </a:lnSpc>
              <a:spcBef>
                <a:spcPts val="5"/>
              </a:spcBef>
              <a:buClr>
                <a:srgbClr val="FF0000"/>
              </a:buClr>
              <a:buFont typeface="Arial MT"/>
              <a:buChar char="•"/>
            </a:pPr>
            <a:endParaRPr sz="2650">
              <a:latin typeface="Calibri" panose="020F0502020204030204"/>
              <a:cs typeface="Calibri" panose="020F0502020204030204"/>
            </a:endParaRPr>
          </a:p>
          <a:p>
            <a:pPr marL="355600" indent="-342900">
              <a:lnSpc>
                <a:spcPct val="100000"/>
              </a:lnSpc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2700" b="1" spc="-4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Reinforcement </a:t>
            </a:r>
            <a:r>
              <a:rPr sz="2700" b="1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Learning</a:t>
            </a:r>
            <a:endParaRPr sz="2700">
              <a:latin typeface="Calibri" panose="020F0502020204030204"/>
              <a:cs typeface="Calibri" panose="020F0502020204030204"/>
            </a:endParaRPr>
          </a:p>
          <a:p>
            <a:pPr marL="756285" lvl="1" indent="-287020">
              <a:lnSpc>
                <a:spcPct val="100000"/>
              </a:lnSpc>
              <a:spcBef>
                <a:spcPts val="15"/>
              </a:spcBef>
              <a:buFont typeface="Arial MT"/>
              <a:buChar char="–"/>
              <a:tabLst>
                <a:tab pos="756920" algn="l"/>
              </a:tabLst>
            </a:pPr>
            <a:r>
              <a:rPr sz="2400" spc="-10" dirty="0">
                <a:latin typeface="Calibri" panose="020F0502020204030204"/>
                <a:cs typeface="Calibri" panose="020F0502020204030204"/>
              </a:rPr>
              <a:t>Determine</a:t>
            </a:r>
            <a:r>
              <a:rPr sz="2400" spc="-65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spc="-20" dirty="0">
                <a:latin typeface="Calibri" panose="020F0502020204030204"/>
                <a:cs typeface="Calibri" panose="020F0502020204030204"/>
              </a:rPr>
              <a:t>what</a:t>
            </a:r>
            <a:r>
              <a:rPr sz="2400" spc="-30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spc="-20" dirty="0">
                <a:latin typeface="Calibri" panose="020F0502020204030204"/>
                <a:cs typeface="Calibri" panose="020F0502020204030204"/>
              </a:rPr>
              <a:t>to</a:t>
            </a:r>
            <a:r>
              <a:rPr sz="2400" spc="-55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spc="-5" dirty="0">
                <a:latin typeface="Calibri" panose="020F0502020204030204"/>
                <a:cs typeface="Calibri" panose="020F0502020204030204"/>
              </a:rPr>
              <a:t>do</a:t>
            </a:r>
            <a:r>
              <a:rPr sz="2400" spc="-25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spc="-5" dirty="0">
                <a:latin typeface="Calibri" panose="020F0502020204030204"/>
                <a:cs typeface="Calibri" panose="020F0502020204030204"/>
              </a:rPr>
              <a:t>based</a:t>
            </a:r>
            <a:r>
              <a:rPr sz="2400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spc="-5" dirty="0">
                <a:latin typeface="Calibri" panose="020F0502020204030204"/>
                <a:cs typeface="Calibri" panose="020F0502020204030204"/>
              </a:rPr>
              <a:t>on</a:t>
            </a:r>
            <a:r>
              <a:rPr sz="2400" spc="-20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spc="-40" dirty="0">
                <a:latin typeface="Calibri" panose="020F0502020204030204"/>
                <a:cs typeface="Calibri" panose="020F0502020204030204"/>
              </a:rPr>
              <a:t>rewards</a:t>
            </a:r>
            <a:r>
              <a:rPr sz="2400" spc="-10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dirty="0">
                <a:latin typeface="Calibri" panose="020F0502020204030204"/>
                <a:cs typeface="Calibri" panose="020F0502020204030204"/>
              </a:rPr>
              <a:t>and</a:t>
            </a:r>
            <a:r>
              <a:rPr sz="2400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spc="-10" dirty="0">
                <a:latin typeface="Calibri" panose="020F0502020204030204"/>
                <a:cs typeface="Calibri" panose="020F0502020204030204"/>
              </a:rPr>
              <a:t>punishments.</a:t>
            </a:r>
            <a:endParaRPr sz="2400">
              <a:latin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576322" y="432562"/>
            <a:ext cx="4699000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b="1" dirty="0">
                <a:solidFill>
                  <a:srgbClr val="2E5496"/>
                </a:solidFill>
                <a:latin typeface="Calibri" panose="020F0502020204030204"/>
                <a:cs typeface="Calibri" panose="020F0502020204030204"/>
              </a:rPr>
              <a:t>Supervised</a:t>
            </a:r>
            <a:r>
              <a:rPr sz="4400" b="1" spc="-110" dirty="0">
                <a:solidFill>
                  <a:srgbClr val="2E5496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4400" b="1" dirty="0">
                <a:solidFill>
                  <a:srgbClr val="2E5496"/>
                </a:solidFill>
                <a:latin typeface="Calibri" panose="020F0502020204030204"/>
                <a:cs typeface="Calibri" panose="020F0502020204030204"/>
              </a:rPr>
              <a:t>Learning</a:t>
            </a:r>
            <a:endParaRPr sz="4400">
              <a:latin typeface="Calibri" panose="020F0502020204030204"/>
              <a:cs typeface="Calibri" panose="020F0502020204030204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140462" y="1496822"/>
            <a:ext cx="5765165" cy="3682365"/>
            <a:chOff x="140462" y="1496822"/>
            <a:chExt cx="5765165" cy="3682365"/>
          </a:xfrm>
        </p:grpSpPr>
        <p:sp>
          <p:nvSpPr>
            <p:cNvPr id="4" name="object 4"/>
            <p:cNvSpPr/>
            <p:nvPr/>
          </p:nvSpPr>
          <p:spPr>
            <a:xfrm>
              <a:off x="152400" y="1824228"/>
              <a:ext cx="2524125" cy="3342004"/>
            </a:xfrm>
            <a:custGeom>
              <a:avLst/>
              <a:gdLst/>
              <a:ahLst/>
              <a:cxnLst/>
              <a:rect l="l" t="t" r="r" b="b"/>
              <a:pathLst>
                <a:path w="2524125" h="3342004">
                  <a:moveTo>
                    <a:pt x="2523617" y="0"/>
                  </a:moveTo>
                  <a:lnTo>
                    <a:pt x="2505964" y="52832"/>
                  </a:lnTo>
                  <a:lnTo>
                    <a:pt x="2475484" y="86613"/>
                  </a:lnTo>
                  <a:lnTo>
                    <a:pt x="2430907" y="118872"/>
                  </a:lnTo>
                  <a:lnTo>
                    <a:pt x="2373376" y="149479"/>
                  </a:lnTo>
                  <a:lnTo>
                    <a:pt x="2303399" y="178054"/>
                  </a:lnTo>
                  <a:lnTo>
                    <a:pt x="2264156" y="191643"/>
                  </a:lnTo>
                  <a:lnTo>
                    <a:pt x="2221992" y="204597"/>
                  </a:lnTo>
                  <a:lnTo>
                    <a:pt x="2177288" y="217043"/>
                  </a:lnTo>
                  <a:lnTo>
                    <a:pt x="2130044" y="228854"/>
                  </a:lnTo>
                  <a:lnTo>
                    <a:pt x="2080387" y="240030"/>
                  </a:lnTo>
                  <a:lnTo>
                    <a:pt x="2028444" y="250571"/>
                  </a:lnTo>
                  <a:lnTo>
                    <a:pt x="1974214" y="260350"/>
                  </a:lnTo>
                  <a:lnTo>
                    <a:pt x="1917827" y="269494"/>
                  </a:lnTo>
                  <a:lnTo>
                    <a:pt x="1859533" y="277875"/>
                  </a:lnTo>
                  <a:lnTo>
                    <a:pt x="1799336" y="285496"/>
                  </a:lnTo>
                  <a:lnTo>
                    <a:pt x="1737233" y="292226"/>
                  </a:lnTo>
                  <a:lnTo>
                    <a:pt x="1673606" y="298196"/>
                  </a:lnTo>
                  <a:lnTo>
                    <a:pt x="1608327" y="303402"/>
                  </a:lnTo>
                  <a:lnTo>
                    <a:pt x="1541526" y="307594"/>
                  </a:lnTo>
                  <a:lnTo>
                    <a:pt x="1473327" y="311023"/>
                  </a:lnTo>
                  <a:lnTo>
                    <a:pt x="1403985" y="313436"/>
                  </a:lnTo>
                  <a:lnTo>
                    <a:pt x="1333373" y="314960"/>
                  </a:lnTo>
                  <a:lnTo>
                    <a:pt x="1261872" y="315468"/>
                  </a:lnTo>
                  <a:lnTo>
                    <a:pt x="1190244" y="314960"/>
                  </a:lnTo>
                  <a:lnTo>
                    <a:pt x="1119632" y="313436"/>
                  </a:lnTo>
                  <a:lnTo>
                    <a:pt x="1050251" y="311023"/>
                  </a:lnTo>
                  <a:lnTo>
                    <a:pt x="982116" y="307594"/>
                  </a:lnTo>
                  <a:lnTo>
                    <a:pt x="915339" y="303402"/>
                  </a:lnTo>
                  <a:lnTo>
                    <a:pt x="850036" y="298196"/>
                  </a:lnTo>
                  <a:lnTo>
                    <a:pt x="786320" y="292226"/>
                  </a:lnTo>
                  <a:lnTo>
                    <a:pt x="724293" y="285496"/>
                  </a:lnTo>
                  <a:lnTo>
                    <a:pt x="664057" y="277875"/>
                  </a:lnTo>
                  <a:lnTo>
                    <a:pt x="605713" y="269494"/>
                  </a:lnTo>
                  <a:lnTo>
                    <a:pt x="549389" y="260350"/>
                  </a:lnTo>
                  <a:lnTo>
                    <a:pt x="495173" y="250571"/>
                  </a:lnTo>
                  <a:lnTo>
                    <a:pt x="443179" y="240030"/>
                  </a:lnTo>
                  <a:lnTo>
                    <a:pt x="393509" y="228854"/>
                  </a:lnTo>
                  <a:lnTo>
                    <a:pt x="346265" y="217043"/>
                  </a:lnTo>
                  <a:lnTo>
                    <a:pt x="301561" y="204597"/>
                  </a:lnTo>
                  <a:lnTo>
                    <a:pt x="259511" y="191643"/>
                  </a:lnTo>
                  <a:lnTo>
                    <a:pt x="220205" y="178054"/>
                  </a:lnTo>
                  <a:lnTo>
                    <a:pt x="183769" y="163957"/>
                  </a:lnTo>
                  <a:lnTo>
                    <a:pt x="119888" y="134366"/>
                  </a:lnTo>
                  <a:lnTo>
                    <a:pt x="68707" y="102997"/>
                  </a:lnTo>
                  <a:lnTo>
                    <a:pt x="31102" y="69976"/>
                  </a:lnTo>
                  <a:lnTo>
                    <a:pt x="7912" y="35560"/>
                  </a:lnTo>
                  <a:lnTo>
                    <a:pt x="0" y="0"/>
                  </a:lnTo>
                  <a:lnTo>
                    <a:pt x="0" y="3026029"/>
                  </a:lnTo>
                  <a:lnTo>
                    <a:pt x="17653" y="3078988"/>
                  </a:lnTo>
                  <a:lnTo>
                    <a:pt x="48158" y="3112643"/>
                  </a:lnTo>
                  <a:lnTo>
                    <a:pt x="92659" y="3144901"/>
                  </a:lnTo>
                  <a:lnTo>
                    <a:pt x="150291" y="3175508"/>
                  </a:lnTo>
                  <a:lnTo>
                    <a:pt x="220205" y="3204210"/>
                  </a:lnTo>
                  <a:lnTo>
                    <a:pt x="259511" y="3217672"/>
                  </a:lnTo>
                  <a:lnTo>
                    <a:pt x="301561" y="3230753"/>
                  </a:lnTo>
                  <a:lnTo>
                    <a:pt x="346265" y="3243199"/>
                  </a:lnTo>
                  <a:lnTo>
                    <a:pt x="393496" y="3255010"/>
                  </a:lnTo>
                  <a:lnTo>
                    <a:pt x="443166" y="3266186"/>
                  </a:lnTo>
                  <a:lnTo>
                    <a:pt x="495173" y="3276600"/>
                  </a:lnTo>
                  <a:lnTo>
                    <a:pt x="549389" y="3286505"/>
                  </a:lnTo>
                  <a:lnTo>
                    <a:pt x="605713" y="3295523"/>
                  </a:lnTo>
                  <a:lnTo>
                    <a:pt x="664057" y="3303904"/>
                  </a:lnTo>
                  <a:lnTo>
                    <a:pt x="724293" y="3311525"/>
                  </a:lnTo>
                  <a:lnTo>
                    <a:pt x="786320" y="3318383"/>
                  </a:lnTo>
                  <a:lnTo>
                    <a:pt x="850036" y="3324352"/>
                  </a:lnTo>
                  <a:lnTo>
                    <a:pt x="915339" y="3329432"/>
                  </a:lnTo>
                  <a:lnTo>
                    <a:pt x="982103" y="3333750"/>
                  </a:lnTo>
                  <a:lnTo>
                    <a:pt x="1050251" y="3337052"/>
                  </a:lnTo>
                  <a:lnTo>
                    <a:pt x="1119632" y="3339592"/>
                  </a:lnTo>
                  <a:lnTo>
                    <a:pt x="1190244" y="3340989"/>
                  </a:lnTo>
                  <a:lnTo>
                    <a:pt x="1261872" y="3341497"/>
                  </a:lnTo>
                  <a:lnTo>
                    <a:pt x="1333373" y="3340989"/>
                  </a:lnTo>
                  <a:lnTo>
                    <a:pt x="1403985" y="3339592"/>
                  </a:lnTo>
                  <a:lnTo>
                    <a:pt x="1473327" y="3337052"/>
                  </a:lnTo>
                  <a:lnTo>
                    <a:pt x="1541526" y="3333750"/>
                  </a:lnTo>
                  <a:lnTo>
                    <a:pt x="1608327" y="3329432"/>
                  </a:lnTo>
                  <a:lnTo>
                    <a:pt x="1673606" y="3324352"/>
                  </a:lnTo>
                  <a:lnTo>
                    <a:pt x="1737233" y="3318383"/>
                  </a:lnTo>
                  <a:lnTo>
                    <a:pt x="1799336" y="3311525"/>
                  </a:lnTo>
                  <a:lnTo>
                    <a:pt x="1859533" y="3303904"/>
                  </a:lnTo>
                  <a:lnTo>
                    <a:pt x="1917827" y="3295523"/>
                  </a:lnTo>
                  <a:lnTo>
                    <a:pt x="1974214" y="3286505"/>
                  </a:lnTo>
                  <a:lnTo>
                    <a:pt x="2028444" y="3276600"/>
                  </a:lnTo>
                  <a:lnTo>
                    <a:pt x="2080387" y="3266186"/>
                  </a:lnTo>
                  <a:lnTo>
                    <a:pt x="2130044" y="3255010"/>
                  </a:lnTo>
                  <a:lnTo>
                    <a:pt x="2177288" y="3243199"/>
                  </a:lnTo>
                  <a:lnTo>
                    <a:pt x="2221992" y="3230753"/>
                  </a:lnTo>
                  <a:lnTo>
                    <a:pt x="2264156" y="3217672"/>
                  </a:lnTo>
                  <a:lnTo>
                    <a:pt x="2303399" y="3204210"/>
                  </a:lnTo>
                  <a:lnTo>
                    <a:pt x="2339848" y="3190113"/>
                  </a:lnTo>
                  <a:lnTo>
                    <a:pt x="2403729" y="3160395"/>
                  </a:lnTo>
                  <a:lnTo>
                    <a:pt x="2454910" y="3129026"/>
                  </a:lnTo>
                  <a:lnTo>
                    <a:pt x="2492502" y="3096006"/>
                  </a:lnTo>
                  <a:lnTo>
                    <a:pt x="2515743" y="3061589"/>
                  </a:lnTo>
                  <a:lnTo>
                    <a:pt x="2523617" y="3026029"/>
                  </a:lnTo>
                  <a:lnTo>
                    <a:pt x="2523617" y="0"/>
                  </a:lnTo>
                  <a:close/>
                </a:path>
              </a:pathLst>
            </a:custGeom>
            <a:solidFill>
              <a:srgbClr val="7B9FD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152400" y="1508760"/>
              <a:ext cx="2524125" cy="631190"/>
            </a:xfrm>
            <a:custGeom>
              <a:avLst/>
              <a:gdLst/>
              <a:ahLst/>
              <a:cxnLst/>
              <a:rect l="l" t="t" r="r" b="b"/>
              <a:pathLst>
                <a:path w="2524125" h="631189">
                  <a:moveTo>
                    <a:pt x="1261872" y="0"/>
                  </a:moveTo>
                  <a:lnTo>
                    <a:pt x="1190244" y="507"/>
                  </a:lnTo>
                  <a:lnTo>
                    <a:pt x="1119632" y="2031"/>
                  </a:lnTo>
                  <a:lnTo>
                    <a:pt x="1050251" y="4444"/>
                  </a:lnTo>
                  <a:lnTo>
                    <a:pt x="982116" y="7747"/>
                  </a:lnTo>
                  <a:lnTo>
                    <a:pt x="915339" y="12064"/>
                  </a:lnTo>
                  <a:lnTo>
                    <a:pt x="850036" y="17144"/>
                  </a:lnTo>
                  <a:lnTo>
                    <a:pt x="786320" y="23113"/>
                  </a:lnTo>
                  <a:lnTo>
                    <a:pt x="724293" y="29972"/>
                  </a:lnTo>
                  <a:lnTo>
                    <a:pt x="664057" y="37591"/>
                  </a:lnTo>
                  <a:lnTo>
                    <a:pt x="605713" y="45974"/>
                  </a:lnTo>
                  <a:lnTo>
                    <a:pt x="549389" y="55117"/>
                  </a:lnTo>
                  <a:lnTo>
                    <a:pt x="495173" y="64897"/>
                  </a:lnTo>
                  <a:lnTo>
                    <a:pt x="443179" y="75437"/>
                  </a:lnTo>
                  <a:lnTo>
                    <a:pt x="393509" y="86613"/>
                  </a:lnTo>
                  <a:lnTo>
                    <a:pt x="346265" y="98425"/>
                  </a:lnTo>
                  <a:lnTo>
                    <a:pt x="301561" y="110870"/>
                  </a:lnTo>
                  <a:lnTo>
                    <a:pt x="259511" y="123825"/>
                  </a:lnTo>
                  <a:lnTo>
                    <a:pt x="220205" y="137413"/>
                  </a:lnTo>
                  <a:lnTo>
                    <a:pt x="183769" y="151511"/>
                  </a:lnTo>
                  <a:lnTo>
                    <a:pt x="119888" y="181101"/>
                  </a:lnTo>
                  <a:lnTo>
                    <a:pt x="68707" y="212598"/>
                  </a:lnTo>
                  <a:lnTo>
                    <a:pt x="31102" y="245617"/>
                  </a:lnTo>
                  <a:lnTo>
                    <a:pt x="7912" y="279907"/>
                  </a:lnTo>
                  <a:lnTo>
                    <a:pt x="0" y="315467"/>
                  </a:lnTo>
                  <a:lnTo>
                    <a:pt x="1993" y="333375"/>
                  </a:lnTo>
                  <a:lnTo>
                    <a:pt x="17653" y="368300"/>
                  </a:lnTo>
                  <a:lnTo>
                    <a:pt x="48158" y="402081"/>
                  </a:lnTo>
                  <a:lnTo>
                    <a:pt x="92659" y="434339"/>
                  </a:lnTo>
                  <a:lnTo>
                    <a:pt x="150291" y="464819"/>
                  </a:lnTo>
                  <a:lnTo>
                    <a:pt x="220205" y="493522"/>
                  </a:lnTo>
                  <a:lnTo>
                    <a:pt x="259511" y="507111"/>
                  </a:lnTo>
                  <a:lnTo>
                    <a:pt x="301561" y="520064"/>
                  </a:lnTo>
                  <a:lnTo>
                    <a:pt x="346265" y="532511"/>
                  </a:lnTo>
                  <a:lnTo>
                    <a:pt x="393509" y="544322"/>
                  </a:lnTo>
                  <a:lnTo>
                    <a:pt x="443179" y="555498"/>
                  </a:lnTo>
                  <a:lnTo>
                    <a:pt x="495173" y="565912"/>
                  </a:lnTo>
                  <a:lnTo>
                    <a:pt x="549389" y="575817"/>
                  </a:lnTo>
                  <a:lnTo>
                    <a:pt x="605713" y="584835"/>
                  </a:lnTo>
                  <a:lnTo>
                    <a:pt x="664057" y="593216"/>
                  </a:lnTo>
                  <a:lnTo>
                    <a:pt x="724293" y="600837"/>
                  </a:lnTo>
                  <a:lnTo>
                    <a:pt x="786320" y="607694"/>
                  </a:lnTo>
                  <a:lnTo>
                    <a:pt x="850036" y="613663"/>
                  </a:lnTo>
                  <a:lnTo>
                    <a:pt x="915339" y="618743"/>
                  </a:lnTo>
                  <a:lnTo>
                    <a:pt x="982116" y="623062"/>
                  </a:lnTo>
                  <a:lnTo>
                    <a:pt x="1050251" y="626363"/>
                  </a:lnTo>
                  <a:lnTo>
                    <a:pt x="1119632" y="628776"/>
                  </a:lnTo>
                  <a:lnTo>
                    <a:pt x="1190244" y="630301"/>
                  </a:lnTo>
                  <a:lnTo>
                    <a:pt x="1261872" y="630809"/>
                  </a:lnTo>
                  <a:lnTo>
                    <a:pt x="1333373" y="630301"/>
                  </a:lnTo>
                  <a:lnTo>
                    <a:pt x="1403985" y="628776"/>
                  </a:lnTo>
                  <a:lnTo>
                    <a:pt x="1473327" y="626363"/>
                  </a:lnTo>
                  <a:lnTo>
                    <a:pt x="1541526" y="623062"/>
                  </a:lnTo>
                  <a:lnTo>
                    <a:pt x="1608327" y="618743"/>
                  </a:lnTo>
                  <a:lnTo>
                    <a:pt x="1673606" y="613663"/>
                  </a:lnTo>
                  <a:lnTo>
                    <a:pt x="1737233" y="607694"/>
                  </a:lnTo>
                  <a:lnTo>
                    <a:pt x="1799336" y="600837"/>
                  </a:lnTo>
                  <a:lnTo>
                    <a:pt x="1859533" y="593216"/>
                  </a:lnTo>
                  <a:lnTo>
                    <a:pt x="1917827" y="584835"/>
                  </a:lnTo>
                  <a:lnTo>
                    <a:pt x="1974214" y="575817"/>
                  </a:lnTo>
                  <a:lnTo>
                    <a:pt x="2028444" y="565912"/>
                  </a:lnTo>
                  <a:lnTo>
                    <a:pt x="2080387" y="555498"/>
                  </a:lnTo>
                  <a:lnTo>
                    <a:pt x="2130044" y="544322"/>
                  </a:lnTo>
                  <a:lnTo>
                    <a:pt x="2177288" y="532511"/>
                  </a:lnTo>
                  <a:lnTo>
                    <a:pt x="2221992" y="520064"/>
                  </a:lnTo>
                  <a:lnTo>
                    <a:pt x="2264156" y="507111"/>
                  </a:lnTo>
                  <a:lnTo>
                    <a:pt x="2303399" y="493522"/>
                  </a:lnTo>
                  <a:lnTo>
                    <a:pt x="2339848" y="479425"/>
                  </a:lnTo>
                  <a:lnTo>
                    <a:pt x="2403729" y="449834"/>
                  </a:lnTo>
                  <a:lnTo>
                    <a:pt x="2454910" y="418338"/>
                  </a:lnTo>
                  <a:lnTo>
                    <a:pt x="2492502" y="385317"/>
                  </a:lnTo>
                  <a:lnTo>
                    <a:pt x="2515743" y="351027"/>
                  </a:lnTo>
                  <a:lnTo>
                    <a:pt x="2523617" y="315467"/>
                  </a:lnTo>
                  <a:lnTo>
                    <a:pt x="2521585" y="297561"/>
                  </a:lnTo>
                  <a:lnTo>
                    <a:pt x="2505964" y="262636"/>
                  </a:lnTo>
                  <a:lnTo>
                    <a:pt x="2475484" y="228853"/>
                  </a:lnTo>
                  <a:lnTo>
                    <a:pt x="2430907" y="196595"/>
                  </a:lnTo>
                  <a:lnTo>
                    <a:pt x="2373376" y="165988"/>
                  </a:lnTo>
                  <a:lnTo>
                    <a:pt x="2303399" y="137413"/>
                  </a:lnTo>
                  <a:lnTo>
                    <a:pt x="2264156" y="123825"/>
                  </a:lnTo>
                  <a:lnTo>
                    <a:pt x="2221992" y="110870"/>
                  </a:lnTo>
                  <a:lnTo>
                    <a:pt x="2177288" y="98425"/>
                  </a:lnTo>
                  <a:lnTo>
                    <a:pt x="2130044" y="86613"/>
                  </a:lnTo>
                  <a:lnTo>
                    <a:pt x="2080387" y="75437"/>
                  </a:lnTo>
                  <a:lnTo>
                    <a:pt x="2028444" y="64897"/>
                  </a:lnTo>
                  <a:lnTo>
                    <a:pt x="1974214" y="55117"/>
                  </a:lnTo>
                  <a:lnTo>
                    <a:pt x="1917827" y="45974"/>
                  </a:lnTo>
                  <a:lnTo>
                    <a:pt x="1859533" y="37591"/>
                  </a:lnTo>
                  <a:lnTo>
                    <a:pt x="1799336" y="29972"/>
                  </a:lnTo>
                  <a:lnTo>
                    <a:pt x="1737233" y="23113"/>
                  </a:lnTo>
                  <a:lnTo>
                    <a:pt x="1673606" y="17144"/>
                  </a:lnTo>
                  <a:lnTo>
                    <a:pt x="1608327" y="12064"/>
                  </a:lnTo>
                  <a:lnTo>
                    <a:pt x="1541526" y="7747"/>
                  </a:lnTo>
                  <a:lnTo>
                    <a:pt x="1473327" y="4444"/>
                  </a:lnTo>
                  <a:lnTo>
                    <a:pt x="1403985" y="2031"/>
                  </a:lnTo>
                  <a:lnTo>
                    <a:pt x="1333373" y="507"/>
                  </a:lnTo>
                  <a:lnTo>
                    <a:pt x="1261872" y="0"/>
                  </a:lnTo>
                  <a:close/>
                </a:path>
              </a:pathLst>
            </a:custGeom>
            <a:solidFill>
              <a:srgbClr val="AFC5E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153162" y="1509522"/>
              <a:ext cx="2524125" cy="3656965"/>
            </a:xfrm>
            <a:custGeom>
              <a:avLst/>
              <a:gdLst/>
              <a:ahLst/>
              <a:cxnLst/>
              <a:rect l="l" t="t" r="r" b="b"/>
              <a:pathLst>
                <a:path w="2524125" h="3656965">
                  <a:moveTo>
                    <a:pt x="2523617" y="315594"/>
                  </a:moveTo>
                  <a:lnTo>
                    <a:pt x="2505964" y="368426"/>
                  </a:lnTo>
                  <a:lnTo>
                    <a:pt x="2475484" y="402208"/>
                  </a:lnTo>
                  <a:lnTo>
                    <a:pt x="2430907" y="434339"/>
                  </a:lnTo>
                  <a:lnTo>
                    <a:pt x="2373376" y="464947"/>
                  </a:lnTo>
                  <a:lnTo>
                    <a:pt x="2303399" y="493649"/>
                  </a:lnTo>
                  <a:lnTo>
                    <a:pt x="2264156" y="507238"/>
                  </a:lnTo>
                  <a:lnTo>
                    <a:pt x="2221992" y="520191"/>
                  </a:lnTo>
                  <a:lnTo>
                    <a:pt x="2177288" y="532638"/>
                  </a:lnTo>
                  <a:lnTo>
                    <a:pt x="2130044" y="544449"/>
                  </a:lnTo>
                  <a:lnTo>
                    <a:pt x="2080387" y="555625"/>
                  </a:lnTo>
                  <a:lnTo>
                    <a:pt x="2028444" y="566038"/>
                  </a:lnTo>
                  <a:lnTo>
                    <a:pt x="1974214" y="575944"/>
                  </a:lnTo>
                  <a:lnTo>
                    <a:pt x="1917827" y="584962"/>
                  </a:lnTo>
                  <a:lnTo>
                    <a:pt x="1859533" y="593343"/>
                  </a:lnTo>
                  <a:lnTo>
                    <a:pt x="1799336" y="600963"/>
                  </a:lnTo>
                  <a:lnTo>
                    <a:pt x="1737233" y="607822"/>
                  </a:lnTo>
                  <a:lnTo>
                    <a:pt x="1673606" y="613790"/>
                  </a:lnTo>
                  <a:lnTo>
                    <a:pt x="1608327" y="618870"/>
                  </a:lnTo>
                  <a:lnTo>
                    <a:pt x="1541526" y="623188"/>
                  </a:lnTo>
                  <a:lnTo>
                    <a:pt x="1473327" y="626490"/>
                  </a:lnTo>
                  <a:lnTo>
                    <a:pt x="1403985" y="629030"/>
                  </a:lnTo>
                  <a:lnTo>
                    <a:pt x="1333373" y="630427"/>
                  </a:lnTo>
                  <a:lnTo>
                    <a:pt x="1261872" y="630936"/>
                  </a:lnTo>
                  <a:lnTo>
                    <a:pt x="1190244" y="630427"/>
                  </a:lnTo>
                  <a:lnTo>
                    <a:pt x="1119632" y="629030"/>
                  </a:lnTo>
                  <a:lnTo>
                    <a:pt x="1050251" y="626490"/>
                  </a:lnTo>
                  <a:lnTo>
                    <a:pt x="982103" y="623188"/>
                  </a:lnTo>
                  <a:lnTo>
                    <a:pt x="915339" y="618870"/>
                  </a:lnTo>
                  <a:lnTo>
                    <a:pt x="850036" y="613790"/>
                  </a:lnTo>
                  <a:lnTo>
                    <a:pt x="786320" y="607822"/>
                  </a:lnTo>
                  <a:lnTo>
                    <a:pt x="724293" y="600963"/>
                  </a:lnTo>
                  <a:lnTo>
                    <a:pt x="664057" y="593343"/>
                  </a:lnTo>
                  <a:lnTo>
                    <a:pt x="605713" y="584962"/>
                  </a:lnTo>
                  <a:lnTo>
                    <a:pt x="549389" y="575944"/>
                  </a:lnTo>
                  <a:lnTo>
                    <a:pt x="495172" y="566038"/>
                  </a:lnTo>
                  <a:lnTo>
                    <a:pt x="443166" y="555625"/>
                  </a:lnTo>
                  <a:lnTo>
                    <a:pt x="393496" y="544449"/>
                  </a:lnTo>
                  <a:lnTo>
                    <a:pt x="346265" y="532638"/>
                  </a:lnTo>
                  <a:lnTo>
                    <a:pt x="301561" y="520191"/>
                  </a:lnTo>
                  <a:lnTo>
                    <a:pt x="259511" y="507238"/>
                  </a:lnTo>
                  <a:lnTo>
                    <a:pt x="220205" y="493649"/>
                  </a:lnTo>
                  <a:lnTo>
                    <a:pt x="183769" y="479551"/>
                  </a:lnTo>
                  <a:lnTo>
                    <a:pt x="119875" y="449961"/>
                  </a:lnTo>
                  <a:lnTo>
                    <a:pt x="68706" y="418464"/>
                  </a:lnTo>
                  <a:lnTo>
                    <a:pt x="31102" y="385444"/>
                  </a:lnTo>
                  <a:lnTo>
                    <a:pt x="7912" y="351027"/>
                  </a:lnTo>
                  <a:lnTo>
                    <a:pt x="0" y="315594"/>
                  </a:lnTo>
                  <a:lnTo>
                    <a:pt x="1993" y="297688"/>
                  </a:lnTo>
                  <a:lnTo>
                    <a:pt x="17652" y="262636"/>
                  </a:lnTo>
                  <a:lnTo>
                    <a:pt x="48158" y="228980"/>
                  </a:lnTo>
                  <a:lnTo>
                    <a:pt x="92659" y="196723"/>
                  </a:lnTo>
                  <a:lnTo>
                    <a:pt x="150291" y="166115"/>
                  </a:lnTo>
                  <a:lnTo>
                    <a:pt x="220205" y="137413"/>
                  </a:lnTo>
                  <a:lnTo>
                    <a:pt x="259511" y="123825"/>
                  </a:lnTo>
                  <a:lnTo>
                    <a:pt x="301561" y="110870"/>
                  </a:lnTo>
                  <a:lnTo>
                    <a:pt x="346265" y="98425"/>
                  </a:lnTo>
                  <a:lnTo>
                    <a:pt x="393496" y="86613"/>
                  </a:lnTo>
                  <a:lnTo>
                    <a:pt x="443166" y="75437"/>
                  </a:lnTo>
                  <a:lnTo>
                    <a:pt x="495172" y="64897"/>
                  </a:lnTo>
                  <a:lnTo>
                    <a:pt x="549389" y="55117"/>
                  </a:lnTo>
                  <a:lnTo>
                    <a:pt x="605713" y="45974"/>
                  </a:lnTo>
                  <a:lnTo>
                    <a:pt x="664057" y="37591"/>
                  </a:lnTo>
                  <a:lnTo>
                    <a:pt x="724293" y="29972"/>
                  </a:lnTo>
                  <a:lnTo>
                    <a:pt x="786320" y="23240"/>
                  </a:lnTo>
                  <a:lnTo>
                    <a:pt x="850036" y="17144"/>
                  </a:lnTo>
                  <a:lnTo>
                    <a:pt x="915339" y="12064"/>
                  </a:lnTo>
                  <a:lnTo>
                    <a:pt x="982103" y="7747"/>
                  </a:lnTo>
                  <a:lnTo>
                    <a:pt x="1050251" y="4444"/>
                  </a:lnTo>
                  <a:lnTo>
                    <a:pt x="1119632" y="2031"/>
                  </a:lnTo>
                  <a:lnTo>
                    <a:pt x="1190244" y="507"/>
                  </a:lnTo>
                  <a:lnTo>
                    <a:pt x="1261872" y="0"/>
                  </a:lnTo>
                  <a:lnTo>
                    <a:pt x="1333373" y="507"/>
                  </a:lnTo>
                  <a:lnTo>
                    <a:pt x="1403985" y="2031"/>
                  </a:lnTo>
                  <a:lnTo>
                    <a:pt x="1473327" y="4444"/>
                  </a:lnTo>
                  <a:lnTo>
                    <a:pt x="1541526" y="7747"/>
                  </a:lnTo>
                  <a:lnTo>
                    <a:pt x="1608327" y="12064"/>
                  </a:lnTo>
                  <a:lnTo>
                    <a:pt x="1673606" y="17144"/>
                  </a:lnTo>
                  <a:lnTo>
                    <a:pt x="1737233" y="23240"/>
                  </a:lnTo>
                  <a:lnTo>
                    <a:pt x="1799336" y="29972"/>
                  </a:lnTo>
                  <a:lnTo>
                    <a:pt x="1859533" y="37591"/>
                  </a:lnTo>
                  <a:lnTo>
                    <a:pt x="1917827" y="45974"/>
                  </a:lnTo>
                  <a:lnTo>
                    <a:pt x="1974214" y="55117"/>
                  </a:lnTo>
                  <a:lnTo>
                    <a:pt x="2028444" y="64897"/>
                  </a:lnTo>
                  <a:lnTo>
                    <a:pt x="2080387" y="75437"/>
                  </a:lnTo>
                  <a:lnTo>
                    <a:pt x="2130044" y="86613"/>
                  </a:lnTo>
                  <a:lnTo>
                    <a:pt x="2177288" y="98425"/>
                  </a:lnTo>
                  <a:lnTo>
                    <a:pt x="2221992" y="110870"/>
                  </a:lnTo>
                  <a:lnTo>
                    <a:pt x="2264156" y="123825"/>
                  </a:lnTo>
                  <a:lnTo>
                    <a:pt x="2303399" y="137413"/>
                  </a:lnTo>
                  <a:lnTo>
                    <a:pt x="2339848" y="151511"/>
                  </a:lnTo>
                  <a:lnTo>
                    <a:pt x="2403729" y="181101"/>
                  </a:lnTo>
                  <a:lnTo>
                    <a:pt x="2454910" y="212598"/>
                  </a:lnTo>
                  <a:lnTo>
                    <a:pt x="2492502" y="245617"/>
                  </a:lnTo>
                  <a:lnTo>
                    <a:pt x="2515743" y="280035"/>
                  </a:lnTo>
                  <a:lnTo>
                    <a:pt x="2523617" y="315594"/>
                  </a:lnTo>
                  <a:close/>
                </a:path>
                <a:path w="2524125" h="3656965">
                  <a:moveTo>
                    <a:pt x="2523617" y="315594"/>
                  </a:moveTo>
                  <a:lnTo>
                    <a:pt x="2523617" y="3341497"/>
                  </a:lnTo>
                  <a:lnTo>
                    <a:pt x="2521585" y="3359404"/>
                  </a:lnTo>
                  <a:lnTo>
                    <a:pt x="2505964" y="3394455"/>
                  </a:lnTo>
                  <a:lnTo>
                    <a:pt x="2475484" y="3428110"/>
                  </a:lnTo>
                  <a:lnTo>
                    <a:pt x="2430907" y="3460369"/>
                  </a:lnTo>
                  <a:lnTo>
                    <a:pt x="2373376" y="3490976"/>
                  </a:lnTo>
                  <a:lnTo>
                    <a:pt x="2303399" y="3519678"/>
                  </a:lnTo>
                  <a:lnTo>
                    <a:pt x="2264156" y="3533140"/>
                  </a:lnTo>
                  <a:lnTo>
                    <a:pt x="2221992" y="3546221"/>
                  </a:lnTo>
                  <a:lnTo>
                    <a:pt x="2177288" y="3558666"/>
                  </a:lnTo>
                  <a:lnTo>
                    <a:pt x="2130044" y="3570478"/>
                  </a:lnTo>
                  <a:lnTo>
                    <a:pt x="2080387" y="3581654"/>
                  </a:lnTo>
                  <a:lnTo>
                    <a:pt x="2028444" y="3592067"/>
                  </a:lnTo>
                  <a:lnTo>
                    <a:pt x="1974214" y="3601974"/>
                  </a:lnTo>
                  <a:lnTo>
                    <a:pt x="1917827" y="3610991"/>
                  </a:lnTo>
                  <a:lnTo>
                    <a:pt x="1859533" y="3619373"/>
                  </a:lnTo>
                  <a:lnTo>
                    <a:pt x="1799336" y="3626992"/>
                  </a:lnTo>
                  <a:lnTo>
                    <a:pt x="1737233" y="3633851"/>
                  </a:lnTo>
                  <a:lnTo>
                    <a:pt x="1673606" y="3639820"/>
                  </a:lnTo>
                  <a:lnTo>
                    <a:pt x="1608327" y="3644900"/>
                  </a:lnTo>
                  <a:lnTo>
                    <a:pt x="1541526" y="3649217"/>
                  </a:lnTo>
                  <a:lnTo>
                    <a:pt x="1473327" y="3652520"/>
                  </a:lnTo>
                  <a:lnTo>
                    <a:pt x="1403985" y="3654932"/>
                  </a:lnTo>
                  <a:lnTo>
                    <a:pt x="1333373" y="3656456"/>
                  </a:lnTo>
                  <a:lnTo>
                    <a:pt x="1261872" y="3656965"/>
                  </a:lnTo>
                  <a:lnTo>
                    <a:pt x="1190244" y="3656456"/>
                  </a:lnTo>
                  <a:lnTo>
                    <a:pt x="1119632" y="3654932"/>
                  </a:lnTo>
                  <a:lnTo>
                    <a:pt x="1050251" y="3652520"/>
                  </a:lnTo>
                  <a:lnTo>
                    <a:pt x="982103" y="3649217"/>
                  </a:lnTo>
                  <a:lnTo>
                    <a:pt x="915339" y="3644900"/>
                  </a:lnTo>
                  <a:lnTo>
                    <a:pt x="850036" y="3639820"/>
                  </a:lnTo>
                  <a:lnTo>
                    <a:pt x="786320" y="3633851"/>
                  </a:lnTo>
                  <a:lnTo>
                    <a:pt x="724293" y="3626992"/>
                  </a:lnTo>
                  <a:lnTo>
                    <a:pt x="664057" y="3619373"/>
                  </a:lnTo>
                  <a:lnTo>
                    <a:pt x="605713" y="3610991"/>
                  </a:lnTo>
                  <a:lnTo>
                    <a:pt x="549389" y="3601974"/>
                  </a:lnTo>
                  <a:lnTo>
                    <a:pt x="495172" y="3592067"/>
                  </a:lnTo>
                  <a:lnTo>
                    <a:pt x="443166" y="3581654"/>
                  </a:lnTo>
                  <a:lnTo>
                    <a:pt x="393496" y="3570478"/>
                  </a:lnTo>
                  <a:lnTo>
                    <a:pt x="346265" y="3558666"/>
                  </a:lnTo>
                  <a:lnTo>
                    <a:pt x="301561" y="3546221"/>
                  </a:lnTo>
                  <a:lnTo>
                    <a:pt x="259511" y="3533140"/>
                  </a:lnTo>
                  <a:lnTo>
                    <a:pt x="220205" y="3519678"/>
                  </a:lnTo>
                  <a:lnTo>
                    <a:pt x="183769" y="3505580"/>
                  </a:lnTo>
                  <a:lnTo>
                    <a:pt x="119875" y="3475863"/>
                  </a:lnTo>
                  <a:lnTo>
                    <a:pt x="68706" y="3444494"/>
                  </a:lnTo>
                  <a:lnTo>
                    <a:pt x="31102" y="3411474"/>
                  </a:lnTo>
                  <a:lnTo>
                    <a:pt x="7912" y="3377056"/>
                  </a:lnTo>
                  <a:lnTo>
                    <a:pt x="0" y="3341497"/>
                  </a:lnTo>
                  <a:lnTo>
                    <a:pt x="0" y="315594"/>
                  </a:lnTo>
                </a:path>
              </a:pathLst>
            </a:custGeom>
            <a:ln w="25398">
              <a:solidFill>
                <a:srgbClr val="1E768A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7" name="object 7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3314694" y="2545080"/>
              <a:ext cx="2590810" cy="1595628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352800" y="2558796"/>
              <a:ext cx="2514600" cy="1523999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3352800" y="2558796"/>
              <a:ext cx="2514600" cy="1525270"/>
            </a:xfrm>
            <a:custGeom>
              <a:avLst/>
              <a:gdLst/>
              <a:ahLst/>
              <a:cxnLst/>
              <a:rect l="l" t="t" r="r" b="b"/>
              <a:pathLst>
                <a:path w="2514600" h="1525270">
                  <a:moveTo>
                    <a:pt x="0" y="762380"/>
                  </a:moveTo>
                  <a:lnTo>
                    <a:pt x="5461" y="691133"/>
                  </a:lnTo>
                  <a:lnTo>
                    <a:pt x="21462" y="621538"/>
                  </a:lnTo>
                  <a:lnTo>
                    <a:pt x="47498" y="554227"/>
                  </a:lnTo>
                  <a:lnTo>
                    <a:pt x="83058" y="489330"/>
                  </a:lnTo>
                  <a:lnTo>
                    <a:pt x="127762" y="427100"/>
                  </a:lnTo>
                  <a:lnTo>
                    <a:pt x="153415" y="397128"/>
                  </a:lnTo>
                  <a:lnTo>
                    <a:pt x="181101" y="367918"/>
                  </a:lnTo>
                  <a:lnTo>
                    <a:pt x="210820" y="339598"/>
                  </a:lnTo>
                  <a:lnTo>
                    <a:pt x="242570" y="312165"/>
                  </a:lnTo>
                  <a:lnTo>
                    <a:pt x="276225" y="285623"/>
                  </a:lnTo>
                  <a:lnTo>
                    <a:pt x="311658" y="259968"/>
                  </a:lnTo>
                  <a:lnTo>
                    <a:pt x="348996" y="235203"/>
                  </a:lnTo>
                  <a:lnTo>
                    <a:pt x="387985" y="211581"/>
                  </a:lnTo>
                  <a:lnTo>
                    <a:pt x="428625" y="188975"/>
                  </a:lnTo>
                  <a:lnTo>
                    <a:pt x="470915" y="167512"/>
                  </a:lnTo>
                  <a:lnTo>
                    <a:pt x="514730" y="147065"/>
                  </a:lnTo>
                  <a:lnTo>
                    <a:pt x="560070" y="127888"/>
                  </a:lnTo>
                  <a:lnTo>
                    <a:pt x="606805" y="109854"/>
                  </a:lnTo>
                  <a:lnTo>
                    <a:pt x="654938" y="92963"/>
                  </a:lnTo>
                  <a:lnTo>
                    <a:pt x="704341" y="77469"/>
                  </a:lnTo>
                  <a:lnTo>
                    <a:pt x="755014" y="63245"/>
                  </a:lnTo>
                  <a:lnTo>
                    <a:pt x="806830" y="50418"/>
                  </a:lnTo>
                  <a:lnTo>
                    <a:pt x="859916" y="38862"/>
                  </a:lnTo>
                  <a:lnTo>
                    <a:pt x="913891" y="28828"/>
                  </a:lnTo>
                  <a:lnTo>
                    <a:pt x="969010" y="20192"/>
                  </a:lnTo>
                  <a:lnTo>
                    <a:pt x="1025016" y="12953"/>
                  </a:lnTo>
                  <a:lnTo>
                    <a:pt x="1081913" y="7365"/>
                  </a:lnTo>
                  <a:lnTo>
                    <a:pt x="1139571" y="3301"/>
                  </a:lnTo>
                  <a:lnTo>
                    <a:pt x="1198117" y="888"/>
                  </a:lnTo>
                  <a:lnTo>
                    <a:pt x="1257300" y="0"/>
                  </a:lnTo>
                  <a:lnTo>
                    <a:pt x="1316482" y="888"/>
                  </a:lnTo>
                  <a:lnTo>
                    <a:pt x="1375028" y="3301"/>
                  </a:lnTo>
                  <a:lnTo>
                    <a:pt x="1432687" y="7365"/>
                  </a:lnTo>
                  <a:lnTo>
                    <a:pt x="1489583" y="12953"/>
                  </a:lnTo>
                  <a:lnTo>
                    <a:pt x="1545589" y="20192"/>
                  </a:lnTo>
                  <a:lnTo>
                    <a:pt x="1600708" y="28828"/>
                  </a:lnTo>
                  <a:lnTo>
                    <a:pt x="1654683" y="38862"/>
                  </a:lnTo>
                  <a:lnTo>
                    <a:pt x="1707769" y="50418"/>
                  </a:lnTo>
                  <a:lnTo>
                    <a:pt x="1759585" y="63245"/>
                  </a:lnTo>
                  <a:lnTo>
                    <a:pt x="1810258" y="77469"/>
                  </a:lnTo>
                  <a:lnTo>
                    <a:pt x="1859661" y="92963"/>
                  </a:lnTo>
                  <a:lnTo>
                    <a:pt x="1907794" y="109854"/>
                  </a:lnTo>
                  <a:lnTo>
                    <a:pt x="1954529" y="127888"/>
                  </a:lnTo>
                  <a:lnTo>
                    <a:pt x="1999869" y="147065"/>
                  </a:lnTo>
                  <a:lnTo>
                    <a:pt x="2043684" y="167512"/>
                  </a:lnTo>
                  <a:lnTo>
                    <a:pt x="2085975" y="188975"/>
                  </a:lnTo>
                  <a:lnTo>
                    <a:pt x="2126615" y="211581"/>
                  </a:lnTo>
                  <a:lnTo>
                    <a:pt x="2165604" y="235203"/>
                  </a:lnTo>
                  <a:lnTo>
                    <a:pt x="2202941" y="259968"/>
                  </a:lnTo>
                  <a:lnTo>
                    <a:pt x="2238375" y="285623"/>
                  </a:lnTo>
                  <a:lnTo>
                    <a:pt x="2272029" y="312165"/>
                  </a:lnTo>
                  <a:lnTo>
                    <a:pt x="2303779" y="339598"/>
                  </a:lnTo>
                  <a:lnTo>
                    <a:pt x="2333498" y="367918"/>
                  </a:lnTo>
                  <a:lnTo>
                    <a:pt x="2361184" y="397128"/>
                  </a:lnTo>
                  <a:lnTo>
                    <a:pt x="2386838" y="427100"/>
                  </a:lnTo>
                  <a:lnTo>
                    <a:pt x="2410333" y="457834"/>
                  </a:lnTo>
                  <a:lnTo>
                    <a:pt x="2450465" y="521462"/>
                  </a:lnTo>
                  <a:lnTo>
                    <a:pt x="2481453" y="587628"/>
                  </a:lnTo>
                  <a:lnTo>
                    <a:pt x="2502408" y="656081"/>
                  </a:lnTo>
                  <a:lnTo>
                    <a:pt x="2513203" y="726566"/>
                  </a:lnTo>
                  <a:lnTo>
                    <a:pt x="2514600" y="762380"/>
                  </a:lnTo>
                  <a:lnTo>
                    <a:pt x="2513203" y="798321"/>
                  </a:lnTo>
                  <a:lnTo>
                    <a:pt x="2502408" y="868806"/>
                  </a:lnTo>
                  <a:lnTo>
                    <a:pt x="2481453" y="937259"/>
                  </a:lnTo>
                  <a:lnTo>
                    <a:pt x="2450465" y="1003426"/>
                  </a:lnTo>
                  <a:lnTo>
                    <a:pt x="2410333" y="1067053"/>
                  </a:lnTo>
                  <a:lnTo>
                    <a:pt x="2386838" y="1097787"/>
                  </a:lnTo>
                  <a:lnTo>
                    <a:pt x="2361184" y="1127759"/>
                  </a:lnTo>
                  <a:lnTo>
                    <a:pt x="2333498" y="1156970"/>
                  </a:lnTo>
                  <a:lnTo>
                    <a:pt x="2303779" y="1185290"/>
                  </a:lnTo>
                  <a:lnTo>
                    <a:pt x="2272029" y="1212722"/>
                  </a:lnTo>
                  <a:lnTo>
                    <a:pt x="2238375" y="1239392"/>
                  </a:lnTo>
                  <a:lnTo>
                    <a:pt x="2202941" y="1265046"/>
                  </a:lnTo>
                  <a:lnTo>
                    <a:pt x="2165604" y="1289684"/>
                  </a:lnTo>
                  <a:lnTo>
                    <a:pt x="2126615" y="1313306"/>
                  </a:lnTo>
                  <a:lnTo>
                    <a:pt x="2085975" y="1335912"/>
                  </a:lnTo>
                  <a:lnTo>
                    <a:pt x="2043684" y="1357376"/>
                  </a:lnTo>
                  <a:lnTo>
                    <a:pt x="1999869" y="1377822"/>
                  </a:lnTo>
                  <a:lnTo>
                    <a:pt x="1954529" y="1396999"/>
                  </a:lnTo>
                  <a:lnTo>
                    <a:pt x="1907794" y="1415033"/>
                  </a:lnTo>
                  <a:lnTo>
                    <a:pt x="1859661" y="1431924"/>
                  </a:lnTo>
                  <a:lnTo>
                    <a:pt x="1810258" y="1447418"/>
                  </a:lnTo>
                  <a:lnTo>
                    <a:pt x="1759585" y="1461642"/>
                  </a:lnTo>
                  <a:lnTo>
                    <a:pt x="1707769" y="1474470"/>
                  </a:lnTo>
                  <a:lnTo>
                    <a:pt x="1654683" y="1486027"/>
                  </a:lnTo>
                  <a:lnTo>
                    <a:pt x="1600708" y="1496186"/>
                  </a:lnTo>
                  <a:lnTo>
                    <a:pt x="1545589" y="1504822"/>
                  </a:lnTo>
                  <a:lnTo>
                    <a:pt x="1489583" y="1511934"/>
                  </a:lnTo>
                  <a:lnTo>
                    <a:pt x="1432687" y="1517522"/>
                  </a:lnTo>
                  <a:lnTo>
                    <a:pt x="1375028" y="1521586"/>
                  </a:lnTo>
                  <a:lnTo>
                    <a:pt x="1316482" y="1524127"/>
                  </a:lnTo>
                  <a:lnTo>
                    <a:pt x="1257300" y="1524889"/>
                  </a:lnTo>
                  <a:lnTo>
                    <a:pt x="1198117" y="1524127"/>
                  </a:lnTo>
                  <a:lnTo>
                    <a:pt x="1139571" y="1521586"/>
                  </a:lnTo>
                  <a:lnTo>
                    <a:pt x="1081913" y="1517522"/>
                  </a:lnTo>
                  <a:lnTo>
                    <a:pt x="1025016" y="1511934"/>
                  </a:lnTo>
                  <a:lnTo>
                    <a:pt x="969010" y="1504822"/>
                  </a:lnTo>
                  <a:lnTo>
                    <a:pt x="913891" y="1496186"/>
                  </a:lnTo>
                  <a:lnTo>
                    <a:pt x="859916" y="1486027"/>
                  </a:lnTo>
                  <a:lnTo>
                    <a:pt x="806830" y="1474470"/>
                  </a:lnTo>
                  <a:lnTo>
                    <a:pt x="755014" y="1461642"/>
                  </a:lnTo>
                  <a:lnTo>
                    <a:pt x="704341" y="1447418"/>
                  </a:lnTo>
                  <a:lnTo>
                    <a:pt x="654938" y="1431924"/>
                  </a:lnTo>
                  <a:lnTo>
                    <a:pt x="606805" y="1415033"/>
                  </a:lnTo>
                  <a:lnTo>
                    <a:pt x="560070" y="1396999"/>
                  </a:lnTo>
                  <a:lnTo>
                    <a:pt x="514730" y="1377822"/>
                  </a:lnTo>
                  <a:lnTo>
                    <a:pt x="470915" y="1357376"/>
                  </a:lnTo>
                  <a:lnTo>
                    <a:pt x="428625" y="1335912"/>
                  </a:lnTo>
                  <a:lnTo>
                    <a:pt x="387985" y="1313306"/>
                  </a:lnTo>
                  <a:lnTo>
                    <a:pt x="348996" y="1289684"/>
                  </a:lnTo>
                  <a:lnTo>
                    <a:pt x="311658" y="1265046"/>
                  </a:lnTo>
                  <a:lnTo>
                    <a:pt x="276225" y="1239392"/>
                  </a:lnTo>
                  <a:lnTo>
                    <a:pt x="242570" y="1212722"/>
                  </a:lnTo>
                  <a:lnTo>
                    <a:pt x="210820" y="1185290"/>
                  </a:lnTo>
                  <a:lnTo>
                    <a:pt x="181101" y="1156970"/>
                  </a:lnTo>
                  <a:lnTo>
                    <a:pt x="153415" y="1127759"/>
                  </a:lnTo>
                  <a:lnTo>
                    <a:pt x="127762" y="1097787"/>
                  </a:lnTo>
                  <a:lnTo>
                    <a:pt x="104266" y="1067053"/>
                  </a:lnTo>
                  <a:lnTo>
                    <a:pt x="64135" y="1003426"/>
                  </a:lnTo>
                  <a:lnTo>
                    <a:pt x="33147" y="937259"/>
                  </a:lnTo>
                  <a:lnTo>
                    <a:pt x="12191" y="868806"/>
                  </a:lnTo>
                  <a:lnTo>
                    <a:pt x="1397" y="798321"/>
                  </a:lnTo>
                  <a:lnTo>
                    <a:pt x="0" y="762380"/>
                  </a:lnTo>
                  <a:close/>
                </a:path>
              </a:pathLst>
            </a:custGeom>
            <a:ln w="9523">
              <a:solidFill>
                <a:srgbClr val="EB5F15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" name="object 10"/>
          <p:cNvSpPr txBox="1"/>
          <p:nvPr/>
        </p:nvSpPr>
        <p:spPr>
          <a:xfrm>
            <a:off x="3882390" y="2836240"/>
            <a:ext cx="1443990" cy="87947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indent="95885">
              <a:lnSpc>
                <a:spcPct val="100000"/>
              </a:lnSpc>
              <a:spcBef>
                <a:spcPts val="95"/>
              </a:spcBef>
            </a:pPr>
            <a:r>
              <a:rPr sz="2800" spc="-20" dirty="0">
                <a:latin typeface="Calibri" panose="020F0502020204030204"/>
                <a:cs typeface="Calibri" panose="020F0502020204030204"/>
              </a:rPr>
              <a:t>Learning </a:t>
            </a:r>
            <a:r>
              <a:rPr sz="2800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sz="2800" spc="-5" dirty="0">
                <a:latin typeface="Calibri" panose="020F0502020204030204"/>
                <a:cs typeface="Calibri" panose="020F0502020204030204"/>
              </a:rPr>
              <a:t>A</a:t>
            </a:r>
            <a:r>
              <a:rPr sz="2800" spc="-15" dirty="0">
                <a:latin typeface="Calibri" panose="020F0502020204030204"/>
                <a:cs typeface="Calibri" panose="020F0502020204030204"/>
              </a:rPr>
              <a:t>l</a:t>
            </a:r>
            <a:r>
              <a:rPr sz="2800" spc="-65" dirty="0">
                <a:latin typeface="Calibri" panose="020F0502020204030204"/>
                <a:cs typeface="Calibri" panose="020F0502020204030204"/>
              </a:rPr>
              <a:t>g</a:t>
            </a:r>
            <a:r>
              <a:rPr sz="2800" spc="-20" dirty="0">
                <a:latin typeface="Calibri" panose="020F0502020204030204"/>
                <a:cs typeface="Calibri" panose="020F0502020204030204"/>
              </a:rPr>
              <a:t>or</a:t>
            </a:r>
            <a:r>
              <a:rPr sz="2800" spc="-15" dirty="0">
                <a:latin typeface="Calibri" panose="020F0502020204030204"/>
                <a:cs typeface="Calibri" panose="020F0502020204030204"/>
              </a:rPr>
              <a:t>i</a:t>
            </a:r>
            <a:r>
              <a:rPr sz="2800" spc="-20" dirty="0">
                <a:latin typeface="Calibri" panose="020F0502020204030204"/>
                <a:cs typeface="Calibri" panose="020F0502020204030204"/>
              </a:rPr>
              <a:t>t</a:t>
            </a:r>
            <a:r>
              <a:rPr sz="2800" spc="-25" dirty="0">
                <a:latin typeface="Calibri" panose="020F0502020204030204"/>
                <a:cs typeface="Calibri" panose="020F0502020204030204"/>
              </a:rPr>
              <a:t>hm</a:t>
            </a:r>
            <a:endParaRPr sz="2800">
              <a:latin typeface="Calibri" panose="020F0502020204030204"/>
              <a:cs typeface="Calibri" panose="020F0502020204030204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6451098" y="2845294"/>
            <a:ext cx="2059305" cy="991235"/>
            <a:chOff x="6451098" y="2845294"/>
            <a:chExt cx="2059305" cy="991235"/>
          </a:xfrm>
        </p:grpSpPr>
        <p:pic>
          <p:nvPicPr>
            <p:cNvPr id="12" name="object 1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451098" y="2845294"/>
              <a:ext cx="2058910" cy="990627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489192" y="2863595"/>
              <a:ext cx="1981200" cy="914399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6489192" y="2863595"/>
              <a:ext cx="1981200" cy="914400"/>
            </a:xfrm>
            <a:custGeom>
              <a:avLst/>
              <a:gdLst/>
              <a:ahLst/>
              <a:cxnLst/>
              <a:rect l="l" t="t" r="r" b="b"/>
              <a:pathLst>
                <a:path w="1981200" h="914400">
                  <a:moveTo>
                    <a:pt x="0" y="152400"/>
                  </a:moveTo>
                  <a:lnTo>
                    <a:pt x="7747" y="104266"/>
                  </a:lnTo>
                  <a:lnTo>
                    <a:pt x="29337" y="62356"/>
                  </a:lnTo>
                  <a:lnTo>
                    <a:pt x="62357" y="29337"/>
                  </a:lnTo>
                  <a:lnTo>
                    <a:pt x="104266" y="7746"/>
                  </a:lnTo>
                  <a:lnTo>
                    <a:pt x="152400" y="0"/>
                  </a:lnTo>
                  <a:lnTo>
                    <a:pt x="1828800" y="0"/>
                  </a:lnTo>
                  <a:lnTo>
                    <a:pt x="1876933" y="7746"/>
                  </a:lnTo>
                  <a:lnTo>
                    <a:pt x="1918842" y="29337"/>
                  </a:lnTo>
                  <a:lnTo>
                    <a:pt x="1951863" y="62356"/>
                  </a:lnTo>
                  <a:lnTo>
                    <a:pt x="1973453" y="104266"/>
                  </a:lnTo>
                  <a:lnTo>
                    <a:pt x="1981200" y="152400"/>
                  </a:lnTo>
                  <a:lnTo>
                    <a:pt x="1981200" y="761999"/>
                  </a:lnTo>
                  <a:lnTo>
                    <a:pt x="1973453" y="810132"/>
                  </a:lnTo>
                  <a:lnTo>
                    <a:pt x="1951863" y="852042"/>
                  </a:lnTo>
                  <a:lnTo>
                    <a:pt x="1918842" y="885062"/>
                  </a:lnTo>
                  <a:lnTo>
                    <a:pt x="1876933" y="906652"/>
                  </a:lnTo>
                  <a:lnTo>
                    <a:pt x="1828800" y="914399"/>
                  </a:lnTo>
                  <a:lnTo>
                    <a:pt x="152400" y="914399"/>
                  </a:lnTo>
                  <a:lnTo>
                    <a:pt x="104266" y="906652"/>
                  </a:lnTo>
                  <a:lnTo>
                    <a:pt x="62357" y="885062"/>
                  </a:lnTo>
                  <a:lnTo>
                    <a:pt x="29337" y="852042"/>
                  </a:lnTo>
                  <a:lnTo>
                    <a:pt x="7747" y="810132"/>
                  </a:lnTo>
                  <a:lnTo>
                    <a:pt x="0" y="761999"/>
                  </a:lnTo>
                  <a:lnTo>
                    <a:pt x="0" y="152400"/>
                  </a:lnTo>
                  <a:close/>
                </a:path>
              </a:pathLst>
            </a:custGeom>
            <a:ln w="9523">
              <a:solidFill>
                <a:srgbClr val="355F9B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5" name="object 15"/>
          <p:cNvSpPr txBox="1"/>
          <p:nvPr/>
        </p:nvSpPr>
        <p:spPr>
          <a:xfrm>
            <a:off x="6867270" y="2978022"/>
            <a:ext cx="123063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5" dirty="0">
                <a:latin typeface="Calibri" panose="020F0502020204030204"/>
                <a:cs typeface="Calibri" panose="020F0502020204030204"/>
              </a:rPr>
              <a:t>M</a:t>
            </a:r>
            <a:r>
              <a:rPr sz="3600" spc="-5" dirty="0">
                <a:latin typeface="Calibri" panose="020F0502020204030204"/>
                <a:cs typeface="Calibri" panose="020F0502020204030204"/>
              </a:rPr>
              <a:t>o</a:t>
            </a:r>
            <a:r>
              <a:rPr sz="3600" dirty="0">
                <a:latin typeface="Calibri" panose="020F0502020204030204"/>
                <a:cs typeface="Calibri" panose="020F0502020204030204"/>
              </a:rPr>
              <a:t>d</a:t>
            </a:r>
            <a:r>
              <a:rPr sz="3600" spc="-5" dirty="0">
                <a:latin typeface="Calibri" panose="020F0502020204030204"/>
                <a:cs typeface="Calibri" panose="020F0502020204030204"/>
              </a:rPr>
              <a:t>el</a:t>
            </a:r>
            <a:endParaRPr sz="3600">
              <a:latin typeface="Calibri" panose="020F0502020204030204"/>
              <a:cs typeface="Calibri" panose="020F0502020204030204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6352032" y="1836420"/>
            <a:ext cx="2338070" cy="832485"/>
            <a:chOff x="6352032" y="1836420"/>
            <a:chExt cx="2338070" cy="832485"/>
          </a:xfrm>
        </p:grpSpPr>
        <p:pic>
          <p:nvPicPr>
            <p:cNvPr id="17" name="object 1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379470" y="1860804"/>
              <a:ext cx="2200643" cy="676655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352032" y="1836420"/>
              <a:ext cx="2337816" cy="832103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412992" y="1874520"/>
              <a:ext cx="2133600" cy="609600"/>
            </a:xfrm>
            <a:prstGeom prst="rect">
              <a:avLst/>
            </a:prstGeom>
          </p:spPr>
        </p:pic>
      </p:grpSp>
      <p:sp>
        <p:nvSpPr>
          <p:cNvPr id="20" name="object 20"/>
          <p:cNvSpPr txBox="1"/>
          <p:nvPr/>
        </p:nvSpPr>
        <p:spPr>
          <a:xfrm>
            <a:off x="6597522" y="1907870"/>
            <a:ext cx="1761489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20" dirty="0">
                <a:latin typeface="Calibri" panose="020F0502020204030204"/>
                <a:cs typeface="Calibri" panose="020F0502020204030204"/>
              </a:rPr>
              <a:t>New</a:t>
            </a:r>
            <a:r>
              <a:rPr sz="2800" spc="-55" dirty="0">
                <a:latin typeface="Calibri" panose="020F0502020204030204"/>
                <a:cs typeface="Calibri" panose="020F0502020204030204"/>
              </a:rPr>
              <a:t> </a:t>
            </a:r>
            <a:r>
              <a:rPr sz="2800" spc="-5" dirty="0">
                <a:latin typeface="Calibri" panose="020F0502020204030204"/>
                <a:cs typeface="Calibri" panose="020F0502020204030204"/>
              </a:rPr>
              <a:t>Input</a:t>
            </a:r>
            <a:r>
              <a:rPr sz="2800" spc="-30" dirty="0">
                <a:latin typeface="Calibri" panose="020F0502020204030204"/>
                <a:cs typeface="Calibri" panose="020F0502020204030204"/>
              </a:rPr>
              <a:t> </a:t>
            </a:r>
            <a:r>
              <a:rPr sz="2800" spc="-5" dirty="0">
                <a:latin typeface="Calibri" panose="020F0502020204030204"/>
                <a:cs typeface="Calibri" panose="020F0502020204030204"/>
              </a:rPr>
              <a:t>x</a:t>
            </a:r>
            <a:endParaRPr sz="2800">
              <a:latin typeface="Calibri" panose="020F0502020204030204"/>
              <a:cs typeface="Calibri" panose="020F0502020204030204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6382518" y="4229100"/>
            <a:ext cx="2200910" cy="832485"/>
            <a:chOff x="6382518" y="4229100"/>
            <a:chExt cx="2200910" cy="832485"/>
          </a:xfrm>
        </p:grpSpPr>
        <p:pic>
          <p:nvPicPr>
            <p:cNvPr id="22" name="object 22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6382518" y="4253483"/>
              <a:ext cx="2200643" cy="676656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6589775" y="4229100"/>
              <a:ext cx="1868424" cy="832104"/>
            </a:xfrm>
            <a:prstGeom prst="rect">
              <a:avLst/>
            </a:prstGeom>
          </p:spPr>
        </p:pic>
        <p:pic>
          <p:nvPicPr>
            <p:cNvPr id="24" name="object 24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6416039" y="4267200"/>
              <a:ext cx="2133600" cy="609600"/>
            </a:xfrm>
            <a:prstGeom prst="rect">
              <a:avLst/>
            </a:prstGeom>
          </p:spPr>
        </p:pic>
      </p:grpSp>
      <p:sp>
        <p:nvSpPr>
          <p:cNvPr id="25" name="object 25"/>
          <p:cNvSpPr txBox="1"/>
          <p:nvPr/>
        </p:nvSpPr>
        <p:spPr>
          <a:xfrm>
            <a:off x="6834631" y="4301109"/>
            <a:ext cx="129159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20" dirty="0">
                <a:latin typeface="Calibri" panose="020F0502020204030204"/>
                <a:cs typeface="Calibri" panose="020F0502020204030204"/>
              </a:rPr>
              <a:t>Output</a:t>
            </a:r>
            <a:r>
              <a:rPr sz="2800" spc="-65" dirty="0">
                <a:latin typeface="Calibri" panose="020F0502020204030204"/>
                <a:cs typeface="Calibri" panose="020F0502020204030204"/>
              </a:rPr>
              <a:t> </a:t>
            </a:r>
            <a:r>
              <a:rPr sz="2800" spc="-5" dirty="0">
                <a:latin typeface="Calibri" panose="020F0502020204030204"/>
                <a:cs typeface="Calibri" panose="020F0502020204030204"/>
              </a:rPr>
              <a:t>y</a:t>
            </a:r>
            <a:endParaRPr sz="28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304800" y="2180844"/>
            <a:ext cx="2247900" cy="304800"/>
          </a:xfrm>
          <a:prstGeom prst="rect">
            <a:avLst/>
          </a:prstGeom>
          <a:solidFill>
            <a:srgbClr val="353535">
              <a:alpha val="14901"/>
            </a:srgbClr>
          </a:solidFill>
        </p:spPr>
        <p:txBody>
          <a:bodyPr vert="horz" wrap="square" lIns="0" tIns="0" rIns="0" bIns="0" rtlCol="0">
            <a:spAutoFit/>
          </a:bodyPr>
          <a:lstStyle/>
          <a:p>
            <a:pPr marL="276225">
              <a:lnSpc>
                <a:spcPts val="2055"/>
              </a:lnSpc>
              <a:tabLst>
                <a:tab pos="1190625" algn="l"/>
              </a:tabLst>
            </a:pPr>
            <a:r>
              <a:rPr sz="180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Input1	</a:t>
            </a:r>
            <a:r>
              <a:rPr sz="1800" spc="-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Output1</a:t>
            </a:r>
            <a:endParaRPr sz="18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313943" y="2592323"/>
            <a:ext cx="2247900" cy="304800"/>
          </a:xfrm>
          <a:prstGeom prst="rect">
            <a:avLst/>
          </a:prstGeom>
          <a:solidFill>
            <a:srgbClr val="353535">
              <a:alpha val="14901"/>
            </a:srgbClr>
          </a:solidFill>
        </p:spPr>
        <p:txBody>
          <a:bodyPr vert="horz" wrap="square" lIns="0" tIns="0" rIns="0" bIns="0" rtlCol="0">
            <a:spAutoFit/>
          </a:bodyPr>
          <a:lstStyle/>
          <a:p>
            <a:pPr marL="275590">
              <a:lnSpc>
                <a:spcPts val="2060"/>
              </a:lnSpc>
              <a:tabLst>
                <a:tab pos="1191895" algn="l"/>
              </a:tabLst>
            </a:pPr>
            <a:r>
              <a:rPr sz="1800" spc="-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Input2	Output2</a:t>
            </a:r>
            <a:endParaRPr sz="18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286511" y="3015995"/>
            <a:ext cx="2247900" cy="304800"/>
          </a:xfrm>
          <a:prstGeom prst="rect">
            <a:avLst/>
          </a:prstGeom>
          <a:solidFill>
            <a:srgbClr val="353535">
              <a:alpha val="14901"/>
            </a:srgbClr>
          </a:solidFill>
        </p:spPr>
        <p:txBody>
          <a:bodyPr vert="horz" wrap="square" lIns="0" tIns="0" rIns="0" bIns="0" rtlCol="0">
            <a:spAutoFit/>
          </a:bodyPr>
          <a:lstStyle/>
          <a:p>
            <a:pPr marL="274955">
              <a:lnSpc>
                <a:spcPts val="2065"/>
              </a:lnSpc>
              <a:tabLst>
                <a:tab pos="1189355" algn="l"/>
              </a:tabLst>
            </a:pPr>
            <a:r>
              <a:rPr sz="180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Input3	</a:t>
            </a:r>
            <a:r>
              <a:rPr sz="1800" spc="-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Output3</a:t>
            </a:r>
            <a:endParaRPr sz="18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286511" y="4419600"/>
            <a:ext cx="2247900" cy="304800"/>
          </a:xfrm>
          <a:prstGeom prst="rect">
            <a:avLst/>
          </a:prstGeom>
          <a:solidFill>
            <a:srgbClr val="353535">
              <a:alpha val="14901"/>
            </a:srgbClr>
          </a:solidFill>
        </p:spPr>
        <p:txBody>
          <a:bodyPr vert="horz" wrap="square" lIns="0" tIns="0" rIns="0" bIns="0" rtlCol="0">
            <a:spAutoFit/>
          </a:bodyPr>
          <a:lstStyle/>
          <a:p>
            <a:pPr marL="236855">
              <a:lnSpc>
                <a:spcPts val="2065"/>
              </a:lnSpc>
              <a:tabLst>
                <a:tab pos="1151255" algn="l"/>
              </a:tabLst>
            </a:pPr>
            <a:r>
              <a:rPr sz="1800" spc="-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Input-n	Output-n</a:t>
            </a:r>
            <a:endParaRPr sz="1800">
              <a:latin typeface="Calibri" panose="020F0502020204030204"/>
              <a:cs typeface="Calibri" panose="020F0502020204030204"/>
            </a:endParaRPr>
          </a:p>
        </p:txBody>
      </p:sp>
      <p:grpSp>
        <p:nvGrpSpPr>
          <p:cNvPr id="30" name="object 30"/>
          <p:cNvGrpSpPr/>
          <p:nvPr/>
        </p:nvGrpSpPr>
        <p:grpSpPr>
          <a:xfrm>
            <a:off x="2633472" y="2464307"/>
            <a:ext cx="5062855" cy="2037714"/>
            <a:chOff x="2633472" y="2464307"/>
            <a:chExt cx="5062855" cy="2037714"/>
          </a:xfrm>
        </p:grpSpPr>
        <p:pic>
          <p:nvPicPr>
            <p:cNvPr id="31" name="object 31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2633472" y="3131819"/>
              <a:ext cx="931163" cy="425196"/>
            </a:xfrm>
            <a:prstGeom prst="rect">
              <a:avLst/>
            </a:prstGeom>
          </p:spPr>
        </p:pic>
        <p:pic>
          <p:nvPicPr>
            <p:cNvPr id="32" name="object 32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3183127" y="3302634"/>
              <a:ext cx="169163" cy="107695"/>
            </a:xfrm>
            <a:prstGeom prst="rect">
              <a:avLst/>
            </a:prstGeom>
          </p:spPr>
        </p:pic>
        <p:sp>
          <p:nvSpPr>
            <p:cNvPr id="33" name="object 33"/>
            <p:cNvSpPr/>
            <p:nvPr/>
          </p:nvSpPr>
          <p:spPr>
            <a:xfrm>
              <a:off x="2676144" y="3304285"/>
              <a:ext cx="600710" cy="52069"/>
            </a:xfrm>
            <a:custGeom>
              <a:avLst/>
              <a:gdLst/>
              <a:ahLst/>
              <a:cxnLst/>
              <a:rect l="l" t="t" r="r" b="b"/>
              <a:pathLst>
                <a:path w="600710" h="52070">
                  <a:moveTo>
                    <a:pt x="567817" y="0"/>
                  </a:moveTo>
                  <a:lnTo>
                    <a:pt x="0" y="13462"/>
                  </a:lnTo>
                  <a:lnTo>
                    <a:pt x="888" y="51562"/>
                  </a:lnTo>
                  <a:lnTo>
                    <a:pt x="568325" y="38353"/>
                  </a:lnTo>
                  <a:lnTo>
                    <a:pt x="600582" y="18287"/>
                  </a:lnTo>
                  <a:lnTo>
                    <a:pt x="567817" y="0"/>
                  </a:lnTo>
                  <a:close/>
                </a:path>
              </a:pathLst>
            </a:custGeom>
            <a:solidFill>
              <a:srgbClr val="7B3A48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4" name="object 34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3179952" y="3238499"/>
              <a:ext cx="139573" cy="104139"/>
            </a:xfrm>
            <a:prstGeom prst="rect">
              <a:avLst/>
            </a:prstGeom>
          </p:spPr>
        </p:pic>
        <p:pic>
          <p:nvPicPr>
            <p:cNvPr id="35" name="object 35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5824727" y="3131819"/>
              <a:ext cx="877824" cy="425196"/>
            </a:xfrm>
            <a:prstGeom prst="rect">
              <a:avLst/>
            </a:prstGeom>
          </p:spPr>
        </p:pic>
        <p:pic>
          <p:nvPicPr>
            <p:cNvPr id="36" name="object 36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6319266" y="3321430"/>
              <a:ext cx="138557" cy="85979"/>
            </a:xfrm>
            <a:prstGeom prst="rect">
              <a:avLst/>
            </a:prstGeom>
          </p:spPr>
        </p:pic>
        <p:sp>
          <p:nvSpPr>
            <p:cNvPr id="37" name="object 37"/>
            <p:cNvSpPr/>
            <p:nvPr/>
          </p:nvSpPr>
          <p:spPr>
            <a:xfrm>
              <a:off x="5867400" y="3302253"/>
              <a:ext cx="547370" cy="38735"/>
            </a:xfrm>
            <a:custGeom>
              <a:avLst/>
              <a:gdLst/>
              <a:ahLst/>
              <a:cxnLst/>
              <a:rect l="l" t="t" r="r" b="b"/>
              <a:pathLst>
                <a:path w="547370" h="38735">
                  <a:moveTo>
                    <a:pt x="514476" y="0"/>
                  </a:moveTo>
                  <a:lnTo>
                    <a:pt x="0" y="0"/>
                  </a:lnTo>
                  <a:lnTo>
                    <a:pt x="0" y="38226"/>
                  </a:lnTo>
                  <a:lnTo>
                    <a:pt x="514603" y="38226"/>
                  </a:lnTo>
                  <a:lnTo>
                    <a:pt x="547242" y="19176"/>
                  </a:lnTo>
                  <a:lnTo>
                    <a:pt x="514476" y="0"/>
                  </a:lnTo>
                  <a:close/>
                </a:path>
              </a:pathLst>
            </a:custGeom>
            <a:solidFill>
              <a:srgbClr val="7B3A48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8" name="object 38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6319266" y="3235451"/>
              <a:ext cx="171196" cy="105028"/>
            </a:xfrm>
            <a:prstGeom prst="rect">
              <a:avLst/>
            </a:prstGeom>
          </p:spPr>
        </p:pic>
        <p:pic>
          <p:nvPicPr>
            <p:cNvPr id="39" name="object 39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7267956" y="2464307"/>
              <a:ext cx="425196" cy="635508"/>
            </a:xfrm>
            <a:prstGeom prst="rect">
              <a:avLst/>
            </a:prstGeom>
          </p:spPr>
        </p:pic>
        <p:pic>
          <p:nvPicPr>
            <p:cNvPr id="40" name="object 40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7394448" y="2693161"/>
              <a:ext cx="171830" cy="171323"/>
            </a:xfrm>
            <a:prstGeom prst="rect">
              <a:avLst/>
            </a:prstGeom>
          </p:spPr>
        </p:pic>
        <p:sp>
          <p:nvSpPr>
            <p:cNvPr id="41" name="object 41"/>
            <p:cNvSpPr/>
            <p:nvPr/>
          </p:nvSpPr>
          <p:spPr>
            <a:xfrm>
              <a:off x="7461250" y="2484119"/>
              <a:ext cx="38735" cy="304800"/>
            </a:xfrm>
            <a:custGeom>
              <a:avLst/>
              <a:gdLst/>
              <a:ahLst/>
              <a:cxnLst/>
              <a:rect l="l" t="t" r="r" b="b"/>
              <a:pathLst>
                <a:path w="38734" h="304800">
                  <a:moveTo>
                    <a:pt x="38226" y="0"/>
                  </a:moveTo>
                  <a:lnTo>
                    <a:pt x="0" y="0"/>
                  </a:lnTo>
                  <a:lnTo>
                    <a:pt x="0" y="271906"/>
                  </a:lnTo>
                  <a:lnTo>
                    <a:pt x="19050" y="304545"/>
                  </a:lnTo>
                  <a:lnTo>
                    <a:pt x="38226" y="271906"/>
                  </a:lnTo>
                  <a:lnTo>
                    <a:pt x="38226" y="0"/>
                  </a:lnTo>
                  <a:close/>
                </a:path>
              </a:pathLst>
            </a:custGeom>
            <a:solidFill>
              <a:srgbClr val="7B3A48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2" name="object 42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7271004" y="3758183"/>
              <a:ext cx="425196" cy="743712"/>
            </a:xfrm>
            <a:prstGeom prst="rect">
              <a:avLst/>
            </a:prstGeom>
          </p:spPr>
        </p:pic>
        <p:pic>
          <p:nvPicPr>
            <p:cNvPr id="43" name="object 43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7397495" y="4095368"/>
              <a:ext cx="170433" cy="171323"/>
            </a:xfrm>
            <a:prstGeom prst="rect">
              <a:avLst/>
            </a:prstGeom>
          </p:spPr>
        </p:pic>
        <p:sp>
          <p:nvSpPr>
            <p:cNvPr id="44" name="object 44"/>
            <p:cNvSpPr/>
            <p:nvPr/>
          </p:nvSpPr>
          <p:spPr>
            <a:xfrm>
              <a:off x="7461757" y="3777995"/>
              <a:ext cx="40640" cy="413384"/>
            </a:xfrm>
            <a:custGeom>
              <a:avLst/>
              <a:gdLst/>
              <a:ahLst/>
              <a:cxnLst/>
              <a:rect l="l" t="t" r="r" b="b"/>
              <a:pathLst>
                <a:path w="40640" h="413385">
                  <a:moveTo>
                    <a:pt x="37973" y="0"/>
                  </a:moveTo>
                  <a:lnTo>
                    <a:pt x="0" y="253"/>
                  </a:lnTo>
                  <a:lnTo>
                    <a:pt x="2286" y="380618"/>
                  </a:lnTo>
                  <a:lnTo>
                    <a:pt x="21336" y="413130"/>
                  </a:lnTo>
                  <a:lnTo>
                    <a:pt x="40132" y="380237"/>
                  </a:lnTo>
                  <a:lnTo>
                    <a:pt x="37973" y="0"/>
                  </a:lnTo>
                  <a:close/>
                </a:path>
              </a:pathLst>
            </a:custGeom>
            <a:solidFill>
              <a:srgbClr val="7B3A48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5" name="object 45"/>
          <p:cNvSpPr txBox="1"/>
          <p:nvPr/>
        </p:nvSpPr>
        <p:spPr>
          <a:xfrm>
            <a:off x="783437" y="1677162"/>
            <a:ext cx="114427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1010285" algn="l"/>
              </a:tabLst>
            </a:pPr>
            <a:r>
              <a:rPr sz="2000" b="1" dirty="0">
                <a:latin typeface="Calibri" panose="020F0502020204030204"/>
                <a:cs typeface="Calibri" panose="020F0502020204030204"/>
              </a:rPr>
              <a:t>X</a:t>
            </a:r>
            <a:r>
              <a:rPr sz="2000" b="1" dirty="0">
                <a:latin typeface="Calibri" panose="020F0502020204030204"/>
                <a:cs typeface="Calibri" panose="020F0502020204030204"/>
              </a:rPr>
              <a:t>	</a:t>
            </a:r>
            <a:r>
              <a:rPr sz="2000" b="1" dirty="0">
                <a:latin typeface="Calibri" panose="020F0502020204030204"/>
                <a:cs typeface="Calibri" panose="020F0502020204030204"/>
              </a:rPr>
              <a:t>y</a:t>
            </a:r>
            <a:endParaRPr sz="2000">
              <a:latin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451354" y="432562"/>
            <a:ext cx="4698365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b="1" dirty="0">
                <a:solidFill>
                  <a:srgbClr val="2E5496"/>
                </a:solidFill>
                <a:latin typeface="Calibri" panose="020F0502020204030204"/>
                <a:cs typeface="Calibri" panose="020F0502020204030204"/>
              </a:rPr>
              <a:t>Supervised</a:t>
            </a:r>
            <a:r>
              <a:rPr sz="4400" b="1" spc="-114" dirty="0">
                <a:solidFill>
                  <a:srgbClr val="2E5496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4400" b="1" dirty="0">
                <a:solidFill>
                  <a:srgbClr val="2E5496"/>
                </a:solidFill>
                <a:latin typeface="Calibri" panose="020F0502020204030204"/>
                <a:cs typeface="Calibri" panose="020F0502020204030204"/>
              </a:rPr>
              <a:t>Learning</a:t>
            </a:r>
            <a:endParaRPr sz="44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10540" y="1516126"/>
            <a:ext cx="7740650" cy="43154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700" spc="-5" dirty="0">
                <a:latin typeface="Calibri" panose="020F0502020204030204"/>
                <a:cs typeface="Calibri" panose="020F0502020204030204"/>
              </a:rPr>
              <a:t>Given:</a:t>
            </a:r>
            <a:endParaRPr sz="2700">
              <a:latin typeface="Calibri" panose="020F0502020204030204"/>
              <a:cs typeface="Calibri" panose="020F0502020204030204"/>
            </a:endParaRPr>
          </a:p>
          <a:p>
            <a:pPr marL="781685" indent="-287020" algn="just">
              <a:lnSpc>
                <a:spcPts val="3335"/>
              </a:lnSpc>
              <a:spcBef>
                <a:spcPts val="90"/>
              </a:spcBef>
              <a:buFont typeface="Arial MT"/>
              <a:buChar char="–"/>
              <a:tabLst>
                <a:tab pos="782320" algn="l"/>
              </a:tabLst>
            </a:pPr>
            <a:r>
              <a:rPr sz="2400" dirty="0">
                <a:latin typeface="Calibri" panose="020F0502020204030204"/>
                <a:cs typeface="Calibri" panose="020F0502020204030204"/>
              </a:rPr>
              <a:t>a</a:t>
            </a:r>
            <a:r>
              <a:rPr sz="2400" spc="-5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spc="-5" dirty="0">
                <a:latin typeface="Calibri" panose="020F0502020204030204"/>
                <a:cs typeface="Calibri" panose="020F0502020204030204"/>
              </a:rPr>
              <a:t>s</a:t>
            </a:r>
            <a:r>
              <a:rPr sz="2400" spc="-20" dirty="0">
                <a:latin typeface="Calibri" panose="020F0502020204030204"/>
                <a:cs typeface="Calibri" panose="020F0502020204030204"/>
              </a:rPr>
              <a:t>e</a:t>
            </a:r>
            <a:r>
              <a:rPr sz="2400" dirty="0">
                <a:latin typeface="Calibri" panose="020F0502020204030204"/>
                <a:cs typeface="Calibri" panose="020F0502020204030204"/>
              </a:rPr>
              <a:t>t</a:t>
            </a:r>
            <a:r>
              <a:rPr sz="2400" spc="-30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spc="-10" dirty="0">
                <a:latin typeface="Calibri" panose="020F0502020204030204"/>
                <a:cs typeface="Calibri" panose="020F0502020204030204"/>
              </a:rPr>
              <a:t>o</a:t>
            </a:r>
            <a:r>
              <a:rPr sz="2400" dirty="0">
                <a:latin typeface="Calibri" panose="020F0502020204030204"/>
                <a:cs typeface="Calibri" panose="020F0502020204030204"/>
              </a:rPr>
              <a:t>f</a:t>
            </a:r>
            <a:r>
              <a:rPr sz="2400" spc="-5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dirty="0">
                <a:solidFill>
                  <a:srgbClr val="20798E"/>
                </a:solidFill>
                <a:latin typeface="Calibri" panose="020F0502020204030204"/>
                <a:cs typeface="Calibri" panose="020F0502020204030204"/>
              </a:rPr>
              <a:t>inp</a:t>
            </a:r>
            <a:r>
              <a:rPr sz="2400" spc="-5" dirty="0">
                <a:solidFill>
                  <a:srgbClr val="20798E"/>
                </a:solidFill>
                <a:latin typeface="Calibri" panose="020F0502020204030204"/>
                <a:cs typeface="Calibri" panose="020F0502020204030204"/>
              </a:rPr>
              <a:t>u</a:t>
            </a:r>
            <a:r>
              <a:rPr sz="2400" dirty="0">
                <a:solidFill>
                  <a:srgbClr val="20798E"/>
                </a:solidFill>
                <a:latin typeface="Calibri" panose="020F0502020204030204"/>
                <a:cs typeface="Calibri" panose="020F0502020204030204"/>
              </a:rPr>
              <a:t>t</a:t>
            </a:r>
            <a:r>
              <a:rPr sz="2400" spc="-30" dirty="0">
                <a:solidFill>
                  <a:srgbClr val="20798E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400" spc="-125" dirty="0">
                <a:solidFill>
                  <a:srgbClr val="20798E"/>
                </a:solidFill>
                <a:latin typeface="Calibri" panose="020F0502020204030204"/>
                <a:cs typeface="Calibri" panose="020F0502020204030204"/>
              </a:rPr>
              <a:t>f</a:t>
            </a:r>
            <a:r>
              <a:rPr sz="2400" dirty="0">
                <a:solidFill>
                  <a:srgbClr val="20798E"/>
                </a:solidFill>
                <a:latin typeface="Calibri" panose="020F0502020204030204"/>
                <a:cs typeface="Calibri" panose="020F0502020204030204"/>
              </a:rPr>
              <a:t>e</a:t>
            </a:r>
            <a:r>
              <a:rPr sz="2400" spc="-50" dirty="0">
                <a:solidFill>
                  <a:srgbClr val="20798E"/>
                </a:solidFill>
                <a:latin typeface="Calibri" panose="020F0502020204030204"/>
                <a:cs typeface="Calibri" panose="020F0502020204030204"/>
              </a:rPr>
              <a:t>a</a:t>
            </a:r>
            <a:r>
              <a:rPr sz="2400" spc="-5" dirty="0">
                <a:solidFill>
                  <a:srgbClr val="20798E"/>
                </a:solidFill>
                <a:latin typeface="Calibri" panose="020F0502020204030204"/>
                <a:cs typeface="Calibri" panose="020F0502020204030204"/>
              </a:rPr>
              <a:t>tu</a:t>
            </a:r>
            <a:r>
              <a:rPr sz="2400" spc="-70" dirty="0">
                <a:solidFill>
                  <a:srgbClr val="20798E"/>
                </a:solidFill>
                <a:latin typeface="Calibri" panose="020F0502020204030204"/>
                <a:cs typeface="Calibri" panose="020F0502020204030204"/>
              </a:rPr>
              <a:t>r</a:t>
            </a:r>
            <a:r>
              <a:rPr sz="2400" dirty="0">
                <a:solidFill>
                  <a:srgbClr val="20798E"/>
                </a:solidFill>
                <a:latin typeface="Calibri" panose="020F0502020204030204"/>
                <a:cs typeface="Calibri" panose="020F0502020204030204"/>
              </a:rPr>
              <a:t>es</a:t>
            </a:r>
            <a:r>
              <a:rPr sz="2400" spc="5" dirty="0">
                <a:solidFill>
                  <a:srgbClr val="20798E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800" spc="195" dirty="0">
                <a:solidFill>
                  <a:srgbClr val="20798E"/>
                </a:solidFill>
                <a:latin typeface="Cambria Math" panose="02040503050406030204"/>
                <a:cs typeface="Cambria Math" panose="02040503050406030204"/>
              </a:rPr>
              <a:t>X</a:t>
            </a:r>
            <a:r>
              <a:rPr sz="2775" spc="7" baseline="-18000" dirty="0">
                <a:solidFill>
                  <a:srgbClr val="20798E"/>
                </a:solidFill>
                <a:latin typeface="Cambria Math" panose="02040503050406030204"/>
                <a:cs typeface="Cambria Math" panose="02040503050406030204"/>
              </a:rPr>
              <a:t>1</a:t>
            </a:r>
            <a:r>
              <a:rPr sz="2800" spc="-5" dirty="0">
                <a:solidFill>
                  <a:srgbClr val="20798E"/>
                </a:solidFill>
                <a:latin typeface="Cambria Math" panose="02040503050406030204"/>
                <a:cs typeface="Cambria Math" panose="02040503050406030204"/>
              </a:rPr>
              <a:t>,</a:t>
            </a:r>
            <a:r>
              <a:rPr sz="2800" spc="-160" dirty="0">
                <a:solidFill>
                  <a:srgbClr val="20798E"/>
                </a:solidFill>
                <a:latin typeface="Cambria Math" panose="02040503050406030204"/>
                <a:cs typeface="Cambria Math" panose="02040503050406030204"/>
              </a:rPr>
              <a:t> </a:t>
            </a:r>
            <a:r>
              <a:rPr sz="2800" spc="-5" dirty="0">
                <a:solidFill>
                  <a:srgbClr val="20798E"/>
                </a:solidFill>
                <a:latin typeface="Cambria Math" panose="02040503050406030204"/>
                <a:cs typeface="Cambria Math" panose="02040503050406030204"/>
              </a:rPr>
              <a:t>…</a:t>
            </a:r>
            <a:r>
              <a:rPr sz="2800" spc="-165" dirty="0">
                <a:solidFill>
                  <a:srgbClr val="20798E"/>
                </a:solidFill>
                <a:latin typeface="Cambria Math" panose="02040503050406030204"/>
                <a:cs typeface="Cambria Math" panose="02040503050406030204"/>
              </a:rPr>
              <a:t> </a:t>
            </a:r>
            <a:r>
              <a:rPr sz="2800" spc="-5" dirty="0">
                <a:solidFill>
                  <a:srgbClr val="20798E"/>
                </a:solidFill>
                <a:latin typeface="Cambria Math" panose="02040503050406030204"/>
                <a:cs typeface="Cambria Math" panose="02040503050406030204"/>
              </a:rPr>
              <a:t>,</a:t>
            </a:r>
            <a:r>
              <a:rPr sz="2800" spc="-175" dirty="0">
                <a:solidFill>
                  <a:srgbClr val="20798E"/>
                </a:solidFill>
                <a:latin typeface="Cambria Math" panose="02040503050406030204"/>
                <a:cs typeface="Cambria Math" panose="02040503050406030204"/>
              </a:rPr>
              <a:t> </a:t>
            </a:r>
            <a:r>
              <a:rPr sz="2800" spc="75" dirty="0">
                <a:solidFill>
                  <a:srgbClr val="20798E"/>
                </a:solidFill>
                <a:latin typeface="Cambria Math" panose="02040503050406030204"/>
                <a:cs typeface="Cambria Math" panose="02040503050406030204"/>
              </a:rPr>
              <a:t>X</a:t>
            </a:r>
            <a:r>
              <a:rPr sz="3075" baseline="-14000" dirty="0">
                <a:solidFill>
                  <a:srgbClr val="20798E"/>
                </a:solidFill>
                <a:latin typeface="Cambria Math" panose="02040503050406030204"/>
                <a:cs typeface="Cambria Math" panose="02040503050406030204"/>
              </a:rPr>
              <a:t>𝑛</a:t>
            </a:r>
            <a:endParaRPr sz="3075" baseline="-14000">
              <a:latin typeface="Cambria Math" panose="02040503050406030204"/>
              <a:cs typeface="Cambria Math" panose="02040503050406030204"/>
            </a:endParaRPr>
          </a:p>
          <a:p>
            <a:pPr marL="781685" indent="-287020" algn="just">
              <a:lnSpc>
                <a:spcPts val="2855"/>
              </a:lnSpc>
              <a:buFont typeface="Arial MT"/>
              <a:buChar char="–"/>
              <a:tabLst>
                <a:tab pos="782320" algn="l"/>
              </a:tabLst>
            </a:pPr>
            <a:r>
              <a:rPr sz="2400" dirty="0">
                <a:latin typeface="Calibri" panose="020F0502020204030204"/>
                <a:cs typeface="Calibri" panose="020F0502020204030204"/>
              </a:rPr>
              <a:t>A</a:t>
            </a:r>
            <a:r>
              <a:rPr sz="2400" spc="-65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spc="-30" dirty="0">
                <a:solidFill>
                  <a:srgbClr val="16375E"/>
                </a:solidFill>
                <a:latin typeface="Calibri" panose="020F0502020204030204"/>
                <a:cs typeface="Calibri" panose="020F0502020204030204"/>
              </a:rPr>
              <a:t>target</a:t>
            </a:r>
            <a:r>
              <a:rPr sz="2400" spc="-100" dirty="0">
                <a:solidFill>
                  <a:srgbClr val="16375E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400" spc="-40" dirty="0">
                <a:solidFill>
                  <a:srgbClr val="16375E"/>
                </a:solidFill>
                <a:latin typeface="Calibri" panose="020F0502020204030204"/>
                <a:cs typeface="Calibri" panose="020F0502020204030204"/>
              </a:rPr>
              <a:t>feature</a:t>
            </a:r>
            <a:r>
              <a:rPr sz="2400" spc="-15" dirty="0">
                <a:solidFill>
                  <a:srgbClr val="16375E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400" dirty="0">
                <a:solidFill>
                  <a:srgbClr val="16375E"/>
                </a:solidFill>
                <a:latin typeface="Cambria Math" panose="02040503050406030204"/>
                <a:cs typeface="Cambria Math" panose="02040503050406030204"/>
              </a:rPr>
              <a:t>𝑌</a:t>
            </a:r>
            <a:endParaRPr sz="2400">
              <a:latin typeface="Cambria Math" panose="02040503050406030204"/>
              <a:cs typeface="Cambria Math" panose="02040503050406030204"/>
            </a:endParaRPr>
          </a:p>
          <a:p>
            <a:pPr marL="781685" marR="30480" indent="-287020" algn="just">
              <a:lnSpc>
                <a:spcPct val="80000"/>
              </a:lnSpc>
              <a:spcBef>
                <a:spcPts val="635"/>
              </a:spcBef>
              <a:buFont typeface="Arial MT"/>
              <a:buChar char="–"/>
              <a:tabLst>
                <a:tab pos="782320" algn="l"/>
              </a:tabLst>
            </a:pPr>
            <a:r>
              <a:rPr sz="2400" dirty="0">
                <a:latin typeface="Calibri" panose="020F0502020204030204"/>
                <a:cs typeface="Calibri" panose="020F0502020204030204"/>
              </a:rPr>
              <a:t>a </a:t>
            </a:r>
            <a:r>
              <a:rPr sz="2400" spc="-5" dirty="0">
                <a:latin typeface="Calibri" panose="020F0502020204030204"/>
                <a:cs typeface="Calibri" panose="020F0502020204030204"/>
              </a:rPr>
              <a:t>set of </a:t>
            </a:r>
            <a:r>
              <a:rPr sz="2400" spc="-20" dirty="0">
                <a:solidFill>
                  <a:srgbClr val="16375E"/>
                </a:solidFill>
                <a:latin typeface="Calibri" panose="020F0502020204030204"/>
                <a:cs typeface="Calibri" panose="020F0502020204030204"/>
              </a:rPr>
              <a:t>training examples </a:t>
            </a:r>
            <a:r>
              <a:rPr sz="2400" spc="-20" dirty="0">
                <a:latin typeface="Calibri" panose="020F0502020204030204"/>
                <a:cs typeface="Calibri" panose="020F0502020204030204"/>
              </a:rPr>
              <a:t>where </a:t>
            </a:r>
            <a:r>
              <a:rPr sz="2400" dirty="0">
                <a:latin typeface="Calibri" panose="020F0502020204030204"/>
                <a:cs typeface="Calibri" panose="020F0502020204030204"/>
              </a:rPr>
              <a:t>the </a:t>
            </a:r>
            <a:r>
              <a:rPr sz="2400" spc="-20" dirty="0">
                <a:latin typeface="Calibri" panose="020F0502020204030204"/>
                <a:cs typeface="Calibri" panose="020F0502020204030204"/>
              </a:rPr>
              <a:t>values </a:t>
            </a:r>
            <a:r>
              <a:rPr sz="2400" spc="-35" dirty="0">
                <a:latin typeface="Calibri" panose="020F0502020204030204"/>
                <a:cs typeface="Calibri" panose="020F0502020204030204"/>
              </a:rPr>
              <a:t>for </a:t>
            </a:r>
            <a:r>
              <a:rPr sz="2400" dirty="0">
                <a:latin typeface="Calibri" panose="020F0502020204030204"/>
                <a:cs typeface="Calibri" panose="020F0502020204030204"/>
              </a:rPr>
              <a:t>the input </a:t>
            </a:r>
            <a:r>
              <a:rPr sz="2400" spc="-530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spc="-25" dirty="0">
                <a:latin typeface="Calibri" panose="020F0502020204030204"/>
                <a:cs typeface="Calibri" panose="020F0502020204030204"/>
              </a:rPr>
              <a:t>features </a:t>
            </a:r>
            <a:r>
              <a:rPr sz="2400" dirty="0">
                <a:latin typeface="Calibri" panose="020F0502020204030204"/>
                <a:cs typeface="Calibri" panose="020F0502020204030204"/>
              </a:rPr>
              <a:t>and the </a:t>
            </a:r>
            <a:r>
              <a:rPr sz="2400" spc="-40" dirty="0">
                <a:latin typeface="Calibri" panose="020F0502020204030204"/>
                <a:cs typeface="Calibri" panose="020F0502020204030204"/>
              </a:rPr>
              <a:t>target </a:t>
            </a:r>
            <a:r>
              <a:rPr sz="2400" spc="-25" dirty="0">
                <a:latin typeface="Calibri" panose="020F0502020204030204"/>
                <a:cs typeface="Calibri" panose="020F0502020204030204"/>
              </a:rPr>
              <a:t>features </a:t>
            </a:r>
            <a:r>
              <a:rPr sz="2400" spc="-20" dirty="0">
                <a:latin typeface="Calibri" panose="020F0502020204030204"/>
                <a:cs typeface="Calibri" panose="020F0502020204030204"/>
              </a:rPr>
              <a:t>are </a:t>
            </a:r>
            <a:r>
              <a:rPr sz="2400" spc="-15" dirty="0">
                <a:latin typeface="Calibri" panose="020F0502020204030204"/>
                <a:cs typeface="Calibri" panose="020F0502020204030204"/>
              </a:rPr>
              <a:t>given </a:t>
            </a:r>
            <a:r>
              <a:rPr sz="2400" spc="-35" dirty="0">
                <a:latin typeface="Calibri" panose="020F0502020204030204"/>
                <a:cs typeface="Calibri" panose="020F0502020204030204"/>
              </a:rPr>
              <a:t>for </a:t>
            </a:r>
            <a:r>
              <a:rPr sz="2400" dirty="0">
                <a:latin typeface="Calibri" panose="020F0502020204030204"/>
                <a:cs typeface="Calibri" panose="020F0502020204030204"/>
              </a:rPr>
              <a:t>each </a:t>
            </a:r>
            <a:r>
              <a:rPr sz="2400" spc="5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spc="-25" dirty="0">
                <a:latin typeface="Calibri" panose="020F0502020204030204"/>
                <a:cs typeface="Calibri" panose="020F0502020204030204"/>
              </a:rPr>
              <a:t>example</a:t>
            </a:r>
            <a:endParaRPr sz="2400">
              <a:latin typeface="Calibri" panose="020F0502020204030204"/>
              <a:cs typeface="Calibri" panose="020F0502020204030204"/>
            </a:endParaRPr>
          </a:p>
          <a:p>
            <a:pPr marL="781685" marR="650875" indent="-287020" algn="just">
              <a:lnSpc>
                <a:spcPct val="80000"/>
              </a:lnSpc>
              <a:spcBef>
                <a:spcPts val="615"/>
              </a:spcBef>
              <a:buFont typeface="Arial MT"/>
              <a:buChar char="–"/>
              <a:tabLst>
                <a:tab pos="782320" algn="l"/>
              </a:tabLst>
            </a:pPr>
            <a:r>
              <a:rPr sz="2400" dirty="0">
                <a:latin typeface="Calibri" panose="020F0502020204030204"/>
                <a:cs typeface="Calibri" panose="020F0502020204030204"/>
              </a:rPr>
              <a:t>a</a:t>
            </a:r>
            <a:r>
              <a:rPr sz="2400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spc="-5" dirty="0">
                <a:latin typeface="Calibri" panose="020F0502020204030204"/>
                <a:cs typeface="Calibri" panose="020F0502020204030204"/>
              </a:rPr>
              <a:t>new</a:t>
            </a:r>
            <a:r>
              <a:rPr sz="2400" spc="-30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spc="-20" dirty="0">
                <a:latin typeface="Calibri" panose="020F0502020204030204"/>
                <a:cs typeface="Calibri" panose="020F0502020204030204"/>
              </a:rPr>
              <a:t>example,</a:t>
            </a:r>
            <a:r>
              <a:rPr sz="2400" spc="-40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spc="-20" dirty="0">
                <a:latin typeface="Calibri" panose="020F0502020204030204"/>
                <a:cs typeface="Calibri" panose="020F0502020204030204"/>
              </a:rPr>
              <a:t>where</a:t>
            </a:r>
            <a:r>
              <a:rPr sz="2400" spc="-10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spc="-5" dirty="0">
                <a:latin typeface="Calibri" panose="020F0502020204030204"/>
                <a:cs typeface="Calibri" panose="020F0502020204030204"/>
              </a:rPr>
              <a:t>only</a:t>
            </a:r>
            <a:r>
              <a:rPr sz="2400" spc="-30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dirty="0">
                <a:latin typeface="Calibri" panose="020F0502020204030204"/>
                <a:cs typeface="Calibri" panose="020F0502020204030204"/>
              </a:rPr>
              <a:t>the</a:t>
            </a:r>
            <a:r>
              <a:rPr sz="2400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spc="-20" dirty="0">
                <a:latin typeface="Calibri" panose="020F0502020204030204"/>
                <a:cs typeface="Calibri" panose="020F0502020204030204"/>
              </a:rPr>
              <a:t>values</a:t>
            </a:r>
            <a:r>
              <a:rPr sz="2400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spc="-35" dirty="0">
                <a:latin typeface="Calibri" panose="020F0502020204030204"/>
                <a:cs typeface="Calibri" panose="020F0502020204030204"/>
              </a:rPr>
              <a:t>for</a:t>
            </a:r>
            <a:r>
              <a:rPr sz="2400" spc="-45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dirty="0">
                <a:latin typeface="Calibri" panose="020F0502020204030204"/>
                <a:cs typeface="Calibri" panose="020F0502020204030204"/>
              </a:rPr>
              <a:t>the</a:t>
            </a:r>
            <a:r>
              <a:rPr sz="2400" spc="-5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dirty="0">
                <a:latin typeface="Calibri" panose="020F0502020204030204"/>
                <a:cs typeface="Calibri" panose="020F0502020204030204"/>
              </a:rPr>
              <a:t>input </a:t>
            </a:r>
            <a:r>
              <a:rPr sz="2400" spc="-530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spc="-25" dirty="0">
                <a:latin typeface="Calibri" panose="020F0502020204030204"/>
                <a:cs typeface="Calibri" panose="020F0502020204030204"/>
              </a:rPr>
              <a:t>features</a:t>
            </a:r>
            <a:r>
              <a:rPr sz="2400" spc="-55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spc="-20" dirty="0">
                <a:latin typeface="Calibri" panose="020F0502020204030204"/>
                <a:cs typeface="Calibri" panose="020F0502020204030204"/>
              </a:rPr>
              <a:t>are</a:t>
            </a:r>
            <a:r>
              <a:rPr sz="2400" spc="-25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spc="-15" dirty="0">
                <a:latin typeface="Calibri" panose="020F0502020204030204"/>
                <a:cs typeface="Calibri" panose="020F0502020204030204"/>
              </a:rPr>
              <a:t>given</a:t>
            </a:r>
            <a:endParaRPr sz="2400">
              <a:latin typeface="Calibri" panose="020F0502020204030204"/>
              <a:cs typeface="Calibri" panose="020F0502020204030204"/>
            </a:endParaRPr>
          </a:p>
          <a:p>
            <a:pPr marL="38100" marR="981075" algn="just">
              <a:lnSpc>
                <a:spcPts val="2600"/>
              </a:lnSpc>
              <a:spcBef>
                <a:spcPts val="570"/>
              </a:spcBef>
            </a:pPr>
            <a:r>
              <a:rPr sz="2700" b="1" spc="-2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Predict</a:t>
            </a:r>
            <a:r>
              <a:rPr sz="2700" b="1" spc="-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700" b="1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the</a:t>
            </a:r>
            <a:r>
              <a:rPr sz="2700" b="1" spc="-2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 values</a:t>
            </a:r>
            <a:r>
              <a:rPr sz="2700" b="1" spc="-1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700" b="1" spc="-3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for</a:t>
            </a:r>
            <a:r>
              <a:rPr sz="2700" b="1" spc="-3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700" b="1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the</a:t>
            </a:r>
            <a:r>
              <a:rPr sz="2700" b="1" spc="-3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700" b="1" spc="-4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target</a:t>
            </a:r>
            <a:r>
              <a:rPr sz="2700" b="1" spc="-4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 features</a:t>
            </a:r>
            <a:r>
              <a:rPr sz="2700" b="1" spc="1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700" b="1" spc="-3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for</a:t>
            </a:r>
            <a:r>
              <a:rPr sz="2700" b="1" spc="-3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700" b="1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the </a:t>
            </a:r>
            <a:r>
              <a:rPr sz="2700" b="1" spc="-59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700" b="1" spc="-1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new</a:t>
            </a:r>
            <a:r>
              <a:rPr sz="2700" b="1" spc="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700" b="1" spc="-2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example.</a:t>
            </a:r>
            <a:endParaRPr sz="2700">
              <a:latin typeface="Calibri" panose="020F0502020204030204"/>
              <a:cs typeface="Calibri" panose="020F0502020204030204"/>
            </a:endParaRPr>
          </a:p>
          <a:p>
            <a:pPr marL="781685" indent="-287020" algn="just">
              <a:lnSpc>
                <a:spcPts val="2855"/>
              </a:lnSpc>
              <a:buFont typeface="Arial MT"/>
              <a:buChar char="–"/>
              <a:tabLst>
                <a:tab pos="782320" algn="l"/>
              </a:tabLst>
            </a:pPr>
            <a:r>
              <a:rPr sz="2400" spc="-10" dirty="0">
                <a:solidFill>
                  <a:srgbClr val="16375E"/>
                </a:solidFill>
                <a:latin typeface="Calibri" panose="020F0502020204030204"/>
                <a:cs typeface="Calibri" panose="020F0502020204030204"/>
              </a:rPr>
              <a:t>classification</a:t>
            </a:r>
            <a:r>
              <a:rPr sz="2400" spc="-90" dirty="0">
                <a:solidFill>
                  <a:srgbClr val="16375E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400" dirty="0">
                <a:latin typeface="Calibri" panose="020F0502020204030204"/>
                <a:cs typeface="Calibri" panose="020F0502020204030204"/>
              </a:rPr>
              <a:t>when</a:t>
            </a:r>
            <a:r>
              <a:rPr sz="2400" spc="-30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dirty="0">
                <a:latin typeface="Calibri" panose="020F0502020204030204"/>
                <a:cs typeface="Calibri" panose="020F0502020204030204"/>
              </a:rPr>
              <a:t>Y</a:t>
            </a:r>
            <a:r>
              <a:rPr sz="2400" spc="-20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dirty="0">
                <a:latin typeface="Calibri" panose="020F0502020204030204"/>
                <a:cs typeface="Calibri" panose="020F0502020204030204"/>
              </a:rPr>
              <a:t>is</a:t>
            </a:r>
            <a:r>
              <a:rPr sz="2400" spc="-55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spc="-20" dirty="0">
                <a:latin typeface="Calibri" panose="020F0502020204030204"/>
                <a:cs typeface="Calibri" panose="020F0502020204030204"/>
              </a:rPr>
              <a:t>discrete</a:t>
            </a:r>
            <a:endParaRPr sz="2400">
              <a:latin typeface="Calibri" panose="020F0502020204030204"/>
              <a:cs typeface="Calibri" panose="020F0502020204030204"/>
            </a:endParaRPr>
          </a:p>
          <a:p>
            <a:pPr marL="781685" indent="-287020" algn="just">
              <a:lnSpc>
                <a:spcPct val="100000"/>
              </a:lnSpc>
              <a:spcBef>
                <a:spcPts val="5"/>
              </a:spcBef>
              <a:buFont typeface="Arial MT"/>
              <a:buChar char="–"/>
              <a:tabLst>
                <a:tab pos="782320" algn="l"/>
              </a:tabLst>
            </a:pPr>
            <a:r>
              <a:rPr sz="2400" spc="-20" dirty="0">
                <a:solidFill>
                  <a:srgbClr val="16375E"/>
                </a:solidFill>
                <a:latin typeface="Calibri" panose="020F0502020204030204"/>
                <a:cs typeface="Calibri" panose="020F0502020204030204"/>
              </a:rPr>
              <a:t>regression</a:t>
            </a:r>
            <a:r>
              <a:rPr sz="2400" spc="-30" dirty="0">
                <a:solidFill>
                  <a:srgbClr val="16375E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400" dirty="0">
                <a:latin typeface="Calibri" panose="020F0502020204030204"/>
                <a:cs typeface="Calibri" panose="020F0502020204030204"/>
              </a:rPr>
              <a:t>when</a:t>
            </a:r>
            <a:r>
              <a:rPr sz="2400" spc="-30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b="1" dirty="0">
                <a:latin typeface="Calibri" panose="020F0502020204030204"/>
                <a:cs typeface="Calibri" panose="020F0502020204030204"/>
              </a:rPr>
              <a:t>Y</a:t>
            </a:r>
            <a:r>
              <a:rPr sz="2400" b="1" spc="-30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dirty="0">
                <a:latin typeface="Calibri" panose="020F0502020204030204"/>
                <a:cs typeface="Calibri" panose="020F0502020204030204"/>
              </a:rPr>
              <a:t>is</a:t>
            </a:r>
            <a:r>
              <a:rPr sz="2400" spc="-45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spc="-20" dirty="0">
                <a:latin typeface="Calibri" panose="020F0502020204030204"/>
                <a:cs typeface="Calibri" panose="020F0502020204030204"/>
              </a:rPr>
              <a:t>continuous</a:t>
            </a:r>
            <a:endParaRPr sz="2400">
              <a:latin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3962400" y="1071372"/>
            <a:ext cx="4689348" cy="4463796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143504" y="309829"/>
            <a:ext cx="305371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b="1" spc="-15" dirty="0">
                <a:solidFill>
                  <a:srgbClr val="2E5496"/>
                </a:solidFill>
                <a:latin typeface="Calibri" panose="020F0502020204030204"/>
                <a:cs typeface="Calibri" panose="020F0502020204030204"/>
              </a:rPr>
              <a:t>Classification</a:t>
            </a:r>
            <a:endParaRPr sz="44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46912" y="1839214"/>
            <a:ext cx="2943860" cy="2357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10" dirty="0">
                <a:latin typeface="Calibri" panose="020F0502020204030204"/>
                <a:cs typeface="Calibri" panose="020F0502020204030204"/>
              </a:rPr>
              <a:t>Example:</a:t>
            </a:r>
            <a:r>
              <a:rPr sz="2400" spc="-100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spc="-20" dirty="0">
                <a:latin typeface="Calibri" panose="020F0502020204030204"/>
                <a:cs typeface="Calibri" panose="020F0502020204030204"/>
              </a:rPr>
              <a:t>Credit</a:t>
            </a:r>
            <a:r>
              <a:rPr sz="2400" spc="-50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spc="-20" dirty="0">
                <a:latin typeface="Calibri" panose="020F0502020204030204"/>
                <a:cs typeface="Calibri" panose="020F0502020204030204"/>
              </a:rPr>
              <a:t>scoring</a:t>
            </a:r>
            <a:endParaRPr sz="2400">
              <a:latin typeface="Calibri" panose="020F0502020204030204"/>
              <a:cs typeface="Calibri" panose="020F0502020204030204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3200">
              <a:latin typeface="Calibri" panose="020F0502020204030204"/>
              <a:cs typeface="Calibri" panose="020F0502020204030204"/>
            </a:endParaRPr>
          </a:p>
          <a:p>
            <a:pPr marL="12700" marR="5080">
              <a:lnSpc>
                <a:spcPct val="100000"/>
              </a:lnSpc>
            </a:pPr>
            <a:r>
              <a:rPr sz="2400" spc="-15" dirty="0">
                <a:latin typeface="Calibri" panose="020F0502020204030204"/>
                <a:cs typeface="Calibri" panose="020F0502020204030204"/>
              </a:rPr>
              <a:t>Di</a:t>
            </a:r>
            <a:r>
              <a:rPr sz="2400" spc="-40" dirty="0">
                <a:latin typeface="Calibri" panose="020F0502020204030204"/>
                <a:cs typeface="Calibri" panose="020F0502020204030204"/>
              </a:rPr>
              <a:t>f</a:t>
            </a:r>
            <a:r>
              <a:rPr sz="2400" spc="-75" dirty="0">
                <a:latin typeface="Calibri" panose="020F0502020204030204"/>
                <a:cs typeface="Calibri" panose="020F0502020204030204"/>
              </a:rPr>
              <a:t>f</a:t>
            </a:r>
            <a:r>
              <a:rPr sz="2400" dirty="0">
                <a:latin typeface="Calibri" panose="020F0502020204030204"/>
                <a:cs typeface="Calibri" panose="020F0502020204030204"/>
              </a:rPr>
              <a:t>e</a:t>
            </a:r>
            <a:r>
              <a:rPr sz="2400" spc="-55" dirty="0">
                <a:latin typeface="Calibri" panose="020F0502020204030204"/>
                <a:cs typeface="Calibri" panose="020F0502020204030204"/>
              </a:rPr>
              <a:t>r</a:t>
            </a:r>
            <a:r>
              <a:rPr sz="2400" dirty="0">
                <a:latin typeface="Calibri" panose="020F0502020204030204"/>
                <a:cs typeface="Calibri" panose="020F0502020204030204"/>
              </a:rPr>
              <a:t>e</a:t>
            </a:r>
            <a:r>
              <a:rPr sz="2400" spc="-45" dirty="0">
                <a:latin typeface="Calibri" panose="020F0502020204030204"/>
                <a:cs typeface="Calibri" panose="020F0502020204030204"/>
              </a:rPr>
              <a:t>n</a:t>
            </a:r>
            <a:r>
              <a:rPr sz="2400" spc="-15" dirty="0">
                <a:latin typeface="Calibri" panose="020F0502020204030204"/>
                <a:cs typeface="Calibri" panose="020F0502020204030204"/>
              </a:rPr>
              <a:t>ti</a:t>
            </a:r>
            <a:r>
              <a:rPr sz="2400" spc="-35" dirty="0">
                <a:latin typeface="Calibri" panose="020F0502020204030204"/>
                <a:cs typeface="Calibri" panose="020F0502020204030204"/>
              </a:rPr>
              <a:t>a</a:t>
            </a:r>
            <a:r>
              <a:rPr sz="2400" spc="-15" dirty="0">
                <a:latin typeface="Calibri" panose="020F0502020204030204"/>
                <a:cs typeface="Calibri" panose="020F0502020204030204"/>
              </a:rPr>
              <a:t>tin</a:t>
            </a:r>
            <a:r>
              <a:rPr sz="2400" dirty="0">
                <a:latin typeface="Calibri" panose="020F0502020204030204"/>
                <a:cs typeface="Calibri" panose="020F0502020204030204"/>
              </a:rPr>
              <a:t>g</a:t>
            </a:r>
            <a:r>
              <a:rPr sz="2400" spc="-80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spc="-5" dirty="0">
                <a:latin typeface="Calibri" panose="020F0502020204030204"/>
                <a:cs typeface="Calibri" panose="020F0502020204030204"/>
              </a:rPr>
              <a:t>b</a:t>
            </a:r>
            <a:r>
              <a:rPr sz="2400" spc="-10" dirty="0">
                <a:latin typeface="Calibri" panose="020F0502020204030204"/>
                <a:cs typeface="Calibri" panose="020F0502020204030204"/>
              </a:rPr>
              <a:t>e</a:t>
            </a:r>
            <a:r>
              <a:rPr sz="2400" dirty="0">
                <a:latin typeface="Calibri" panose="020F0502020204030204"/>
                <a:cs typeface="Calibri" panose="020F0502020204030204"/>
              </a:rPr>
              <a:t>t</a:t>
            </a:r>
            <a:r>
              <a:rPr sz="2400" spc="-25" dirty="0">
                <a:latin typeface="Calibri" panose="020F0502020204030204"/>
                <a:cs typeface="Calibri" panose="020F0502020204030204"/>
              </a:rPr>
              <a:t>w</a:t>
            </a:r>
            <a:r>
              <a:rPr sz="2400" dirty="0">
                <a:latin typeface="Calibri" panose="020F0502020204030204"/>
                <a:cs typeface="Calibri" panose="020F0502020204030204"/>
              </a:rPr>
              <a:t>e</a:t>
            </a:r>
            <a:r>
              <a:rPr sz="2400" spc="5" dirty="0">
                <a:latin typeface="Calibri" panose="020F0502020204030204"/>
                <a:cs typeface="Calibri" panose="020F0502020204030204"/>
              </a:rPr>
              <a:t>e</a:t>
            </a:r>
            <a:r>
              <a:rPr sz="2400" dirty="0">
                <a:latin typeface="Calibri" panose="020F0502020204030204"/>
                <a:cs typeface="Calibri" panose="020F0502020204030204"/>
              </a:rPr>
              <a:t>n  </a:t>
            </a:r>
            <a:r>
              <a:rPr sz="2400" spc="-5" dirty="0">
                <a:solidFill>
                  <a:srgbClr val="FF31CC"/>
                </a:solidFill>
                <a:latin typeface="Calibri" panose="020F0502020204030204"/>
                <a:cs typeface="Calibri" panose="020F0502020204030204"/>
              </a:rPr>
              <a:t>low-risk </a:t>
            </a:r>
            <a:r>
              <a:rPr sz="2400" dirty="0">
                <a:latin typeface="Calibri" panose="020F0502020204030204"/>
                <a:cs typeface="Calibri" panose="020F0502020204030204"/>
              </a:rPr>
              <a:t>and </a:t>
            </a:r>
            <a:r>
              <a:rPr sz="2400" spc="-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high-risk </a:t>
            </a:r>
            <a:r>
              <a:rPr sz="240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400" spc="-25" dirty="0">
                <a:latin typeface="Calibri" panose="020F0502020204030204"/>
                <a:cs typeface="Calibri" panose="020F0502020204030204"/>
              </a:rPr>
              <a:t>customers </a:t>
            </a:r>
            <a:r>
              <a:rPr sz="2400" spc="-20" dirty="0">
                <a:latin typeface="Calibri" panose="020F0502020204030204"/>
                <a:cs typeface="Calibri" panose="020F0502020204030204"/>
              </a:rPr>
              <a:t>from </a:t>
            </a:r>
            <a:r>
              <a:rPr sz="2400" dirty="0">
                <a:latin typeface="Calibri" panose="020F0502020204030204"/>
                <a:cs typeface="Calibri" panose="020F0502020204030204"/>
              </a:rPr>
              <a:t>their </a:t>
            </a:r>
            <a:r>
              <a:rPr sz="2400" spc="5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i="1" spc="-15" dirty="0">
                <a:latin typeface="Calibri" panose="020F0502020204030204"/>
                <a:cs typeface="Calibri" panose="020F0502020204030204"/>
              </a:rPr>
              <a:t>income</a:t>
            </a:r>
            <a:r>
              <a:rPr sz="2400" i="1" spc="10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dirty="0">
                <a:latin typeface="Calibri" panose="020F0502020204030204"/>
                <a:cs typeface="Calibri" panose="020F0502020204030204"/>
              </a:rPr>
              <a:t>and</a:t>
            </a:r>
            <a:r>
              <a:rPr sz="2400" spc="-25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i="1" spc="-5" dirty="0">
                <a:latin typeface="Calibri" panose="020F0502020204030204"/>
                <a:cs typeface="Calibri" panose="020F0502020204030204"/>
              </a:rPr>
              <a:t>savings</a:t>
            </a:r>
            <a:endParaRPr sz="2400">
              <a:latin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4061460" y="1491996"/>
            <a:ext cx="4625340" cy="4451604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423030" y="233629"/>
            <a:ext cx="252031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b="1" spc="-30" dirty="0">
                <a:solidFill>
                  <a:srgbClr val="2E5496"/>
                </a:solidFill>
                <a:latin typeface="Calibri" panose="020F0502020204030204"/>
                <a:cs typeface="Calibri" panose="020F0502020204030204"/>
              </a:rPr>
              <a:t>Regression</a:t>
            </a:r>
            <a:endParaRPr sz="44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59435" y="1587246"/>
            <a:ext cx="2741295" cy="8788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sz="2800" spc="-20" dirty="0">
                <a:latin typeface="Calibri" panose="020F0502020204030204"/>
                <a:cs typeface="Calibri" panose="020F0502020204030204"/>
              </a:rPr>
              <a:t>Example:</a:t>
            </a:r>
            <a:r>
              <a:rPr sz="2800" spc="-55" dirty="0">
                <a:latin typeface="Calibri" panose="020F0502020204030204"/>
                <a:cs typeface="Calibri" panose="020F0502020204030204"/>
              </a:rPr>
              <a:t> </a:t>
            </a:r>
            <a:r>
              <a:rPr sz="2800" spc="-5" dirty="0">
                <a:latin typeface="Calibri" panose="020F0502020204030204"/>
                <a:cs typeface="Calibri" panose="020F0502020204030204"/>
              </a:rPr>
              <a:t>Price</a:t>
            </a:r>
            <a:r>
              <a:rPr sz="2800" spc="-50" dirty="0">
                <a:latin typeface="Calibri" panose="020F0502020204030204"/>
                <a:cs typeface="Calibri" panose="020F0502020204030204"/>
              </a:rPr>
              <a:t> </a:t>
            </a:r>
            <a:r>
              <a:rPr sz="2800" spc="-5" dirty="0">
                <a:latin typeface="Calibri" panose="020F0502020204030204"/>
                <a:cs typeface="Calibri" panose="020F0502020204030204"/>
              </a:rPr>
              <a:t>of</a:t>
            </a:r>
            <a:r>
              <a:rPr sz="2800" spc="-65" dirty="0">
                <a:latin typeface="Calibri" panose="020F0502020204030204"/>
                <a:cs typeface="Calibri" panose="020F0502020204030204"/>
              </a:rPr>
              <a:t> </a:t>
            </a:r>
            <a:r>
              <a:rPr sz="2800" spc="-5" dirty="0">
                <a:latin typeface="Calibri" panose="020F0502020204030204"/>
                <a:cs typeface="Calibri" panose="020F0502020204030204"/>
              </a:rPr>
              <a:t>a </a:t>
            </a:r>
            <a:r>
              <a:rPr sz="2800" spc="-615" dirty="0">
                <a:latin typeface="Calibri" panose="020F0502020204030204"/>
                <a:cs typeface="Calibri" panose="020F0502020204030204"/>
              </a:rPr>
              <a:t> </a:t>
            </a:r>
            <a:r>
              <a:rPr sz="2800" spc="-15" dirty="0">
                <a:latin typeface="Calibri" panose="020F0502020204030204"/>
                <a:cs typeface="Calibri" panose="020F0502020204030204"/>
              </a:rPr>
              <a:t>used</a:t>
            </a:r>
            <a:r>
              <a:rPr sz="2800" spc="15" dirty="0">
                <a:latin typeface="Calibri" panose="020F0502020204030204"/>
                <a:cs typeface="Calibri" panose="020F0502020204030204"/>
              </a:rPr>
              <a:t> </a:t>
            </a:r>
            <a:r>
              <a:rPr sz="2800" spc="-20" dirty="0">
                <a:latin typeface="Calibri" panose="020F0502020204030204"/>
                <a:cs typeface="Calibri" panose="020F0502020204030204"/>
              </a:rPr>
              <a:t>car</a:t>
            </a:r>
            <a:endParaRPr sz="28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59435" y="2436393"/>
            <a:ext cx="2500630" cy="2609215"/>
          </a:xfrm>
          <a:prstGeom prst="rect">
            <a:avLst/>
          </a:prstGeom>
        </p:spPr>
        <p:txBody>
          <a:bodyPr vert="horz" wrap="square" lIns="0" tIns="1022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05"/>
              </a:spcBef>
            </a:pPr>
            <a:r>
              <a:rPr sz="2800" i="1" spc="-5" dirty="0">
                <a:latin typeface="Calibri" panose="020F0502020204030204"/>
                <a:cs typeface="Calibri" panose="020F0502020204030204"/>
              </a:rPr>
              <a:t>x</a:t>
            </a:r>
            <a:r>
              <a:rPr sz="2800" i="1" spc="-40" dirty="0">
                <a:latin typeface="Calibri" panose="020F0502020204030204"/>
                <a:cs typeface="Calibri" panose="020F0502020204030204"/>
              </a:rPr>
              <a:t> </a:t>
            </a:r>
            <a:r>
              <a:rPr sz="2800" spc="-5" dirty="0">
                <a:latin typeface="Calibri" panose="020F0502020204030204"/>
                <a:cs typeface="Calibri" panose="020F0502020204030204"/>
              </a:rPr>
              <a:t>:</a:t>
            </a:r>
            <a:r>
              <a:rPr sz="2800" spc="-25" dirty="0">
                <a:latin typeface="Calibri" panose="020F0502020204030204"/>
                <a:cs typeface="Calibri" panose="020F0502020204030204"/>
              </a:rPr>
              <a:t> </a:t>
            </a:r>
            <a:r>
              <a:rPr sz="2800" spc="-15" dirty="0">
                <a:latin typeface="Calibri" panose="020F0502020204030204"/>
                <a:cs typeface="Calibri" panose="020F0502020204030204"/>
              </a:rPr>
              <a:t>car</a:t>
            </a:r>
            <a:r>
              <a:rPr sz="2800" spc="-55" dirty="0">
                <a:latin typeface="Calibri" panose="020F0502020204030204"/>
                <a:cs typeface="Calibri" panose="020F0502020204030204"/>
              </a:rPr>
              <a:t> </a:t>
            </a:r>
            <a:r>
              <a:rPr sz="2800" spc="-25" dirty="0">
                <a:latin typeface="Calibri" panose="020F0502020204030204"/>
                <a:cs typeface="Calibri" panose="020F0502020204030204"/>
              </a:rPr>
              <a:t>attributes</a:t>
            </a:r>
            <a:endParaRPr sz="2800">
              <a:latin typeface="Calibri" panose="020F0502020204030204"/>
              <a:cs typeface="Calibri" panose="020F0502020204030204"/>
            </a:endParaRPr>
          </a:p>
          <a:p>
            <a:pPr marL="12700">
              <a:lnSpc>
                <a:spcPct val="100000"/>
              </a:lnSpc>
              <a:spcBef>
                <a:spcPts val="710"/>
              </a:spcBef>
            </a:pPr>
            <a:r>
              <a:rPr sz="2800" i="1" spc="-5" dirty="0">
                <a:latin typeface="Calibri" panose="020F0502020204030204"/>
                <a:cs typeface="Calibri" panose="020F0502020204030204"/>
              </a:rPr>
              <a:t>y</a:t>
            </a:r>
            <a:r>
              <a:rPr sz="2800" i="1" spc="-65" dirty="0">
                <a:latin typeface="Calibri" panose="020F0502020204030204"/>
                <a:cs typeface="Calibri" panose="020F0502020204030204"/>
              </a:rPr>
              <a:t> </a:t>
            </a:r>
            <a:r>
              <a:rPr sz="2800" spc="-5" dirty="0">
                <a:latin typeface="Calibri" panose="020F0502020204030204"/>
                <a:cs typeface="Calibri" panose="020F0502020204030204"/>
              </a:rPr>
              <a:t>:</a:t>
            </a:r>
            <a:r>
              <a:rPr sz="2800" spc="-40" dirty="0">
                <a:latin typeface="Calibri" panose="020F0502020204030204"/>
                <a:cs typeface="Calibri" panose="020F0502020204030204"/>
              </a:rPr>
              <a:t> </a:t>
            </a:r>
            <a:r>
              <a:rPr sz="2800" spc="-10" dirty="0">
                <a:latin typeface="Calibri" panose="020F0502020204030204"/>
                <a:cs typeface="Calibri" panose="020F0502020204030204"/>
              </a:rPr>
              <a:t>price</a:t>
            </a:r>
            <a:endParaRPr sz="2800">
              <a:latin typeface="Calibri" panose="020F0502020204030204"/>
              <a:cs typeface="Calibri" panose="020F0502020204030204"/>
            </a:endParaRPr>
          </a:p>
          <a:p>
            <a:pPr marL="922020">
              <a:lnSpc>
                <a:spcPct val="100000"/>
              </a:lnSpc>
              <a:spcBef>
                <a:spcPts val="720"/>
              </a:spcBef>
            </a:pPr>
            <a:r>
              <a:rPr sz="2800" i="1" spc="-5" dirty="0">
                <a:solidFill>
                  <a:srgbClr val="353535"/>
                </a:solidFill>
                <a:latin typeface="Calibri" panose="020F0502020204030204"/>
                <a:cs typeface="Calibri" panose="020F0502020204030204"/>
              </a:rPr>
              <a:t>y</a:t>
            </a:r>
            <a:r>
              <a:rPr sz="2800" i="1" spc="-40" dirty="0">
                <a:solidFill>
                  <a:srgbClr val="353535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800" spc="-5" dirty="0">
                <a:solidFill>
                  <a:srgbClr val="353535"/>
                </a:solidFill>
                <a:latin typeface="Calibri" panose="020F0502020204030204"/>
                <a:cs typeface="Calibri" panose="020F0502020204030204"/>
              </a:rPr>
              <a:t>=</a:t>
            </a:r>
            <a:r>
              <a:rPr sz="2800" dirty="0">
                <a:solidFill>
                  <a:srgbClr val="353535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800" i="1" spc="-5" dirty="0">
                <a:solidFill>
                  <a:srgbClr val="353535"/>
                </a:solidFill>
                <a:latin typeface="Calibri" panose="020F0502020204030204"/>
                <a:cs typeface="Calibri" panose="020F0502020204030204"/>
              </a:rPr>
              <a:t>g</a:t>
            </a:r>
            <a:r>
              <a:rPr sz="2800" i="1" spc="-30" dirty="0">
                <a:solidFill>
                  <a:srgbClr val="353535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800" spc="-5" dirty="0">
                <a:solidFill>
                  <a:srgbClr val="353535"/>
                </a:solidFill>
                <a:latin typeface="Calibri" panose="020F0502020204030204"/>
                <a:cs typeface="Calibri" panose="020F0502020204030204"/>
              </a:rPr>
              <a:t>(</a:t>
            </a:r>
            <a:r>
              <a:rPr sz="2800" i="1" spc="-5" dirty="0">
                <a:solidFill>
                  <a:srgbClr val="353535"/>
                </a:solidFill>
                <a:latin typeface="Calibri" panose="020F0502020204030204"/>
                <a:cs typeface="Calibri" panose="020F0502020204030204"/>
              </a:rPr>
              <a:t>x</a:t>
            </a:r>
            <a:r>
              <a:rPr sz="2800" spc="-5" dirty="0">
                <a:solidFill>
                  <a:srgbClr val="353535"/>
                </a:solidFill>
                <a:latin typeface="Calibri" panose="020F0502020204030204"/>
                <a:cs typeface="Calibri" panose="020F0502020204030204"/>
              </a:rPr>
              <a:t>,</a:t>
            </a:r>
            <a:r>
              <a:rPr sz="2800" spc="-40" dirty="0">
                <a:solidFill>
                  <a:srgbClr val="353535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800" spc="-5" dirty="0">
                <a:solidFill>
                  <a:srgbClr val="353535"/>
                </a:solidFill>
                <a:latin typeface="Cambria Math" panose="02040503050406030204"/>
                <a:cs typeface="Cambria Math" panose="02040503050406030204"/>
              </a:rPr>
              <a:t>θ</a:t>
            </a:r>
            <a:r>
              <a:rPr sz="2800" spc="-10" dirty="0">
                <a:solidFill>
                  <a:srgbClr val="353535"/>
                </a:solidFill>
                <a:latin typeface="Cambria Math" panose="02040503050406030204"/>
                <a:cs typeface="Cambria Math" panose="02040503050406030204"/>
              </a:rPr>
              <a:t> </a:t>
            </a:r>
            <a:r>
              <a:rPr sz="2800" spc="-5" dirty="0">
                <a:solidFill>
                  <a:srgbClr val="353535"/>
                </a:solidFill>
                <a:latin typeface="Calibri" panose="020F0502020204030204"/>
                <a:cs typeface="Calibri" panose="020F0502020204030204"/>
              </a:rPr>
              <a:t>)</a:t>
            </a:r>
            <a:endParaRPr sz="2800">
              <a:latin typeface="Calibri" panose="020F0502020204030204"/>
              <a:cs typeface="Calibri" panose="020F0502020204030204"/>
            </a:endParaRPr>
          </a:p>
          <a:p>
            <a:pPr marL="355600">
              <a:lnSpc>
                <a:spcPct val="100000"/>
              </a:lnSpc>
              <a:spcBef>
                <a:spcPts val="675"/>
              </a:spcBef>
            </a:pPr>
            <a:r>
              <a:rPr sz="2800" i="1" spc="-5" dirty="0">
                <a:solidFill>
                  <a:srgbClr val="353535"/>
                </a:solidFill>
                <a:latin typeface="Calibri" panose="020F0502020204030204"/>
                <a:cs typeface="Calibri" panose="020F0502020204030204"/>
              </a:rPr>
              <a:t>g</a:t>
            </a:r>
            <a:r>
              <a:rPr sz="2800" i="1" spc="-40" dirty="0">
                <a:solidFill>
                  <a:srgbClr val="353535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800" spc="-5" dirty="0">
                <a:solidFill>
                  <a:srgbClr val="353535"/>
                </a:solidFill>
                <a:latin typeface="Calibri" panose="020F0502020204030204"/>
                <a:cs typeface="Calibri" panose="020F0502020204030204"/>
              </a:rPr>
              <a:t>(</a:t>
            </a:r>
            <a:r>
              <a:rPr sz="2800" spc="-25" dirty="0">
                <a:solidFill>
                  <a:srgbClr val="353535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800" spc="-5" dirty="0">
                <a:solidFill>
                  <a:srgbClr val="353535"/>
                </a:solidFill>
                <a:latin typeface="Calibri" panose="020F0502020204030204"/>
                <a:cs typeface="Calibri" panose="020F0502020204030204"/>
              </a:rPr>
              <a:t>)</a:t>
            </a:r>
            <a:r>
              <a:rPr sz="2800" spc="-40" dirty="0">
                <a:solidFill>
                  <a:srgbClr val="353535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800" spc="-5" dirty="0">
                <a:latin typeface="Calibri" panose="020F0502020204030204"/>
                <a:cs typeface="Calibri" panose="020F0502020204030204"/>
              </a:rPr>
              <a:t>model,</a:t>
            </a:r>
            <a:endParaRPr sz="2800">
              <a:latin typeface="Calibri" panose="020F0502020204030204"/>
              <a:cs typeface="Calibri" panose="020F0502020204030204"/>
            </a:endParaRPr>
          </a:p>
          <a:p>
            <a:pPr marL="355600">
              <a:lnSpc>
                <a:spcPct val="100000"/>
              </a:lnSpc>
              <a:spcBef>
                <a:spcPts val="730"/>
              </a:spcBef>
            </a:pPr>
            <a:r>
              <a:rPr sz="2800" spc="-5" dirty="0">
                <a:solidFill>
                  <a:srgbClr val="353535"/>
                </a:solidFill>
                <a:latin typeface="Cambria Math" panose="02040503050406030204"/>
                <a:cs typeface="Cambria Math" panose="02040503050406030204"/>
              </a:rPr>
              <a:t>𝜃</a:t>
            </a:r>
            <a:r>
              <a:rPr sz="2800" spc="-70" dirty="0">
                <a:solidFill>
                  <a:srgbClr val="353535"/>
                </a:solidFill>
                <a:latin typeface="Cambria Math" panose="02040503050406030204"/>
                <a:cs typeface="Cambria Math" panose="02040503050406030204"/>
              </a:rPr>
              <a:t> </a:t>
            </a:r>
            <a:r>
              <a:rPr sz="2800" spc="-40" dirty="0">
                <a:latin typeface="Calibri" panose="020F0502020204030204"/>
                <a:cs typeface="Calibri" panose="020F0502020204030204"/>
              </a:rPr>
              <a:t>parameters</a:t>
            </a:r>
            <a:endParaRPr sz="28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309486" y="2792729"/>
            <a:ext cx="137731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i="1" dirty="0">
                <a:latin typeface="Trebuchet MS" panose="020B0603020202020204"/>
                <a:cs typeface="Trebuchet MS" panose="020B0603020202020204"/>
              </a:rPr>
              <a:t>y</a:t>
            </a:r>
            <a:r>
              <a:rPr sz="2400" i="1" spc="155" dirty="0">
                <a:latin typeface="Trebuchet MS" panose="020B0603020202020204"/>
                <a:cs typeface="Trebuchet MS" panose="020B0603020202020204"/>
              </a:rPr>
              <a:t> </a:t>
            </a:r>
            <a:r>
              <a:rPr sz="2400" dirty="0">
                <a:latin typeface="Lucida Console" panose="020B0609040504020204"/>
                <a:cs typeface="Lucida Console" panose="020B0609040504020204"/>
              </a:rPr>
              <a:t>=</a:t>
            </a:r>
            <a:r>
              <a:rPr sz="2400" spc="-710" dirty="0">
                <a:latin typeface="Lucida Console" panose="020B0609040504020204"/>
                <a:cs typeface="Lucida Console" panose="020B0609040504020204"/>
              </a:rPr>
              <a:t> </a:t>
            </a:r>
            <a:r>
              <a:rPr sz="2400" i="1" spc="70" dirty="0">
                <a:latin typeface="Trebuchet MS" panose="020B0603020202020204"/>
                <a:cs typeface="Trebuchet MS" panose="020B0603020202020204"/>
              </a:rPr>
              <a:t>w</a:t>
            </a:r>
            <a:r>
              <a:rPr sz="2400" i="1" spc="65" dirty="0">
                <a:latin typeface="Trebuchet MS" panose="020B0603020202020204"/>
                <a:cs typeface="Trebuchet MS" panose="020B0603020202020204"/>
              </a:rPr>
              <a:t>x</a:t>
            </a:r>
            <a:r>
              <a:rPr sz="2400" spc="30" dirty="0">
                <a:latin typeface="Lucida Console" panose="020B0609040504020204"/>
                <a:cs typeface="Lucida Console" panose="020B0609040504020204"/>
              </a:rPr>
              <a:t>+</a:t>
            </a:r>
            <a:r>
              <a:rPr sz="2400" i="1" dirty="0">
                <a:latin typeface="Trebuchet MS" panose="020B0603020202020204"/>
                <a:cs typeface="Trebuchet MS" panose="020B0603020202020204"/>
              </a:rPr>
              <a:t>w</a:t>
            </a:r>
            <a:endParaRPr sz="2400">
              <a:latin typeface="Trebuchet MS" panose="020B0603020202020204"/>
              <a:cs typeface="Trebuchet MS" panose="020B0603020202020204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679817" y="2957322"/>
            <a:ext cx="14795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5" dirty="0">
                <a:latin typeface="Lucida Console" panose="020B0609040504020204"/>
                <a:cs typeface="Lucida Console" panose="020B0609040504020204"/>
              </a:rPr>
              <a:t>0</a:t>
            </a:r>
            <a:endParaRPr sz="1600">
              <a:latin typeface="Lucida Console" panose="020B0609040504020204"/>
              <a:cs typeface="Lucida Console" panose="020B0609040504020204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5791200" y="5715000"/>
            <a:ext cx="1243965" cy="370205"/>
          </a:xfrm>
          <a:custGeom>
            <a:avLst/>
            <a:gdLst/>
            <a:ahLst/>
            <a:cxnLst/>
            <a:rect l="l" t="t" r="r" b="b"/>
            <a:pathLst>
              <a:path w="1243965" h="370204">
                <a:moveTo>
                  <a:pt x="1243545" y="0"/>
                </a:moveTo>
                <a:lnTo>
                  <a:pt x="0" y="0"/>
                </a:lnTo>
                <a:lnTo>
                  <a:pt x="0" y="370090"/>
                </a:lnTo>
                <a:lnTo>
                  <a:pt x="1243545" y="370090"/>
                </a:lnTo>
                <a:lnTo>
                  <a:pt x="1243545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/>
          <p:nvPr/>
        </p:nvSpPr>
        <p:spPr>
          <a:xfrm>
            <a:off x="5871464" y="5719978"/>
            <a:ext cx="96266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 panose="020F0502020204030204"/>
                <a:cs typeface="Calibri" panose="020F0502020204030204"/>
              </a:rPr>
              <a:t>x:</a:t>
            </a:r>
            <a:r>
              <a:rPr sz="1800" spc="-50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dirty="0">
                <a:latin typeface="Calibri" panose="020F0502020204030204"/>
                <a:cs typeface="Calibri" panose="020F0502020204030204"/>
              </a:rPr>
              <a:t>mi</a:t>
            </a:r>
            <a:r>
              <a:rPr sz="1800" spc="-15" dirty="0">
                <a:latin typeface="Calibri" panose="020F0502020204030204"/>
                <a:cs typeface="Calibri" panose="020F0502020204030204"/>
              </a:rPr>
              <a:t>l</a:t>
            </a:r>
            <a:r>
              <a:rPr sz="1800" dirty="0">
                <a:latin typeface="Calibri" panose="020F0502020204030204"/>
                <a:cs typeface="Calibri" panose="020F0502020204030204"/>
              </a:rPr>
              <a:t>eage</a:t>
            </a:r>
            <a:endParaRPr sz="1800">
              <a:latin typeface="Calibri" panose="020F0502020204030204"/>
              <a:cs typeface="Calibri" panose="020F0502020204030204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3962400" y="3133344"/>
            <a:ext cx="3584575" cy="2943225"/>
            <a:chOff x="3962400" y="3133344"/>
            <a:chExt cx="3584575" cy="2943225"/>
          </a:xfrm>
        </p:grpSpPr>
        <p:pic>
          <p:nvPicPr>
            <p:cNvPr id="11" name="object 1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815327" y="5763767"/>
              <a:ext cx="731520" cy="312419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275576" y="5839967"/>
              <a:ext cx="115824" cy="118681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6858000" y="5886526"/>
              <a:ext cx="508634" cy="26034"/>
            </a:xfrm>
            <a:custGeom>
              <a:avLst/>
              <a:gdLst/>
              <a:ahLst/>
              <a:cxnLst/>
              <a:rect l="l" t="t" r="r" b="b"/>
              <a:pathLst>
                <a:path w="508634" h="26035">
                  <a:moveTo>
                    <a:pt x="508254" y="12"/>
                  </a:moveTo>
                  <a:lnTo>
                    <a:pt x="461391" y="12"/>
                  </a:lnTo>
                  <a:lnTo>
                    <a:pt x="0" y="0"/>
                  </a:lnTo>
                  <a:lnTo>
                    <a:pt x="0" y="25552"/>
                  </a:lnTo>
                  <a:lnTo>
                    <a:pt x="461391" y="25552"/>
                  </a:lnTo>
                  <a:lnTo>
                    <a:pt x="483108" y="12776"/>
                  </a:lnTo>
                  <a:lnTo>
                    <a:pt x="501904" y="23825"/>
                  </a:lnTo>
                  <a:lnTo>
                    <a:pt x="508241" y="23825"/>
                  </a:lnTo>
                  <a:lnTo>
                    <a:pt x="508241" y="1752"/>
                  </a:lnTo>
                  <a:lnTo>
                    <a:pt x="501904" y="1752"/>
                  </a:lnTo>
                  <a:lnTo>
                    <a:pt x="508254" y="1739"/>
                  </a:lnTo>
                  <a:lnTo>
                    <a:pt x="508254" y="12"/>
                  </a:lnTo>
                  <a:close/>
                </a:path>
              </a:pathLst>
            </a:custGeom>
            <a:solidFill>
              <a:srgbClr val="2CA0B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3962400" y="3133344"/>
              <a:ext cx="370205" cy="978535"/>
            </a:xfrm>
            <a:custGeom>
              <a:avLst/>
              <a:gdLst/>
              <a:ahLst/>
              <a:cxnLst/>
              <a:rect l="l" t="t" r="r" b="b"/>
              <a:pathLst>
                <a:path w="370204" h="978535">
                  <a:moveTo>
                    <a:pt x="370090" y="0"/>
                  </a:moveTo>
                  <a:lnTo>
                    <a:pt x="0" y="0"/>
                  </a:lnTo>
                  <a:lnTo>
                    <a:pt x="0" y="978027"/>
                  </a:lnTo>
                  <a:lnTo>
                    <a:pt x="370090" y="978027"/>
                  </a:lnTo>
                  <a:lnTo>
                    <a:pt x="37009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5" name="object 15"/>
          <p:cNvSpPr txBox="1"/>
          <p:nvPr/>
        </p:nvSpPr>
        <p:spPr>
          <a:xfrm>
            <a:off x="4026915" y="3337988"/>
            <a:ext cx="254000" cy="696595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>
              <a:lnSpc>
                <a:spcPts val="1810"/>
              </a:lnSpc>
            </a:pPr>
            <a:r>
              <a:rPr sz="1800" dirty="0">
                <a:latin typeface="Calibri" panose="020F0502020204030204"/>
                <a:cs typeface="Calibri" panose="020F0502020204030204"/>
              </a:rPr>
              <a:t>y:</a:t>
            </a:r>
            <a:r>
              <a:rPr sz="1800" spc="-50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spc="-5" dirty="0">
                <a:latin typeface="Calibri" panose="020F0502020204030204"/>
                <a:cs typeface="Calibri" panose="020F0502020204030204"/>
              </a:rPr>
              <a:t>pr</a:t>
            </a:r>
            <a:r>
              <a:rPr sz="1800" spc="-10" dirty="0">
                <a:latin typeface="Calibri" panose="020F0502020204030204"/>
                <a:cs typeface="Calibri" panose="020F0502020204030204"/>
              </a:rPr>
              <a:t>ic</a:t>
            </a:r>
            <a:r>
              <a:rPr sz="1800" dirty="0">
                <a:latin typeface="Calibri" panose="020F0502020204030204"/>
                <a:cs typeface="Calibri" panose="020F0502020204030204"/>
              </a:rPr>
              <a:t>e</a:t>
            </a:r>
            <a:endParaRPr sz="1800">
              <a:latin typeface="Calibri" panose="020F0502020204030204"/>
              <a:cs typeface="Calibri" panose="020F0502020204030204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65531" y="2702051"/>
            <a:ext cx="4270375" cy="3279775"/>
            <a:chOff x="65531" y="2702051"/>
            <a:chExt cx="4270375" cy="3279775"/>
          </a:xfrm>
        </p:grpSpPr>
        <p:pic>
          <p:nvPicPr>
            <p:cNvPr id="17" name="object 1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023360" y="2702051"/>
              <a:ext cx="312420" cy="656844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4166870" y="2889630"/>
              <a:ext cx="25400" cy="407034"/>
            </a:xfrm>
            <a:custGeom>
              <a:avLst/>
              <a:gdLst/>
              <a:ahLst/>
              <a:cxnLst/>
              <a:rect l="l" t="t" r="r" b="b"/>
              <a:pathLst>
                <a:path w="25400" h="407035">
                  <a:moveTo>
                    <a:pt x="12700" y="0"/>
                  </a:moveTo>
                  <a:lnTo>
                    <a:pt x="0" y="21971"/>
                  </a:lnTo>
                  <a:lnTo>
                    <a:pt x="0" y="406781"/>
                  </a:lnTo>
                  <a:lnTo>
                    <a:pt x="25145" y="406781"/>
                  </a:lnTo>
                  <a:lnTo>
                    <a:pt x="25145" y="21717"/>
                  </a:lnTo>
                  <a:lnTo>
                    <a:pt x="12700" y="0"/>
                  </a:lnTo>
                  <a:close/>
                </a:path>
              </a:pathLst>
            </a:custGeom>
            <a:solidFill>
              <a:srgbClr val="2CA0BD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9" name="object 1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120896" y="2839211"/>
              <a:ext cx="117093" cy="115824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5531" y="5448300"/>
              <a:ext cx="3511296" cy="533400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07542" y="328040"/>
            <a:ext cx="7728915" cy="1306830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1613535" marR="5080" indent="-887730">
              <a:lnSpc>
                <a:spcPts val="4750"/>
              </a:lnSpc>
              <a:spcBef>
                <a:spcPts val="700"/>
              </a:spcBef>
            </a:pPr>
            <a:r>
              <a:rPr lang="en-US" sz="4400" b="1" spc="-15" dirty="0">
                <a:solidFill>
                  <a:srgbClr val="2E5496"/>
                </a:solidFill>
                <a:latin typeface="Calibri" panose="020F0502020204030204"/>
                <a:cs typeface="Calibri" panose="020F0502020204030204"/>
              </a:rPr>
              <a:t>M</a:t>
            </a:r>
            <a:r>
              <a:rPr sz="4400" b="1" spc="-15" dirty="0">
                <a:solidFill>
                  <a:srgbClr val="2E5496"/>
                </a:solidFill>
                <a:latin typeface="Calibri" panose="020F0502020204030204"/>
                <a:cs typeface="Calibri" panose="020F0502020204030204"/>
              </a:rPr>
              <a:t>ost </a:t>
            </a:r>
            <a:r>
              <a:rPr lang="en-US" sz="4400" b="1" spc="-15" dirty="0">
                <a:solidFill>
                  <a:srgbClr val="2E5496"/>
                </a:solidFill>
                <a:latin typeface="Calibri" panose="020F0502020204030204"/>
                <a:cs typeface="Calibri" panose="020F0502020204030204"/>
              </a:rPr>
              <a:t>I</a:t>
            </a:r>
            <a:r>
              <a:rPr sz="4400" b="1" spc="-10" dirty="0">
                <a:solidFill>
                  <a:srgbClr val="2E5496"/>
                </a:solidFill>
                <a:latin typeface="Calibri" panose="020F0502020204030204"/>
                <a:cs typeface="Calibri" panose="020F0502020204030204"/>
              </a:rPr>
              <a:t>mportant </a:t>
            </a:r>
            <a:r>
              <a:rPr lang="en-US" sz="4400" b="1" spc="-10" dirty="0">
                <a:solidFill>
                  <a:srgbClr val="2E5496"/>
                </a:solidFill>
                <a:latin typeface="Calibri" panose="020F0502020204030204"/>
                <a:cs typeface="Calibri" panose="020F0502020204030204"/>
              </a:rPr>
              <a:t>S</a:t>
            </a:r>
            <a:r>
              <a:rPr sz="4400" b="1" dirty="0">
                <a:solidFill>
                  <a:srgbClr val="2E5496"/>
                </a:solidFill>
                <a:latin typeface="Calibri" panose="020F0502020204030204"/>
                <a:cs typeface="Calibri" panose="020F0502020204030204"/>
              </a:rPr>
              <a:t>upervised </a:t>
            </a:r>
            <a:r>
              <a:rPr sz="4400" b="1" spc="-980" dirty="0">
                <a:solidFill>
                  <a:srgbClr val="2E5496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lang="en-US" sz="4400" b="1" spc="-980" dirty="0">
                <a:solidFill>
                  <a:srgbClr val="2E5496"/>
                </a:solidFill>
                <a:latin typeface="Calibri" panose="020F0502020204030204"/>
                <a:cs typeface="Calibri" panose="020F0502020204030204"/>
              </a:rPr>
              <a:t>                                                                                                                                                                                                                                                 L  </a:t>
            </a:r>
            <a:r>
              <a:rPr sz="4400" b="1" dirty="0">
                <a:solidFill>
                  <a:srgbClr val="2E5496"/>
                </a:solidFill>
                <a:latin typeface="Calibri" panose="020F0502020204030204"/>
                <a:cs typeface="Calibri" panose="020F0502020204030204"/>
              </a:rPr>
              <a:t>earning</a:t>
            </a:r>
            <a:r>
              <a:rPr sz="4400" b="1" spc="-25" dirty="0">
                <a:solidFill>
                  <a:srgbClr val="2E5496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lang="en-US" sz="4400" b="1" spc="-25" dirty="0">
                <a:solidFill>
                  <a:srgbClr val="2E5496"/>
                </a:solidFill>
                <a:latin typeface="Calibri" panose="020F0502020204030204"/>
                <a:cs typeface="Calibri" panose="020F0502020204030204"/>
              </a:rPr>
              <a:t>A</a:t>
            </a:r>
            <a:r>
              <a:rPr sz="4400" b="1" spc="-5" dirty="0">
                <a:solidFill>
                  <a:srgbClr val="2E5496"/>
                </a:solidFill>
                <a:latin typeface="Calibri" panose="020F0502020204030204"/>
                <a:cs typeface="Calibri" panose="020F0502020204030204"/>
              </a:rPr>
              <a:t>lgorithms</a:t>
            </a:r>
            <a:endParaRPr sz="44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07542" y="1729105"/>
            <a:ext cx="6741795" cy="3597275"/>
          </a:xfrm>
          <a:prstGeom prst="rect">
            <a:avLst/>
          </a:prstGeom>
        </p:spPr>
        <p:txBody>
          <a:bodyPr vert="horz" wrap="square" lIns="0" tIns="58419" rIns="0" bIns="0" rtlCol="0">
            <a:spAutoFit/>
          </a:bodyPr>
          <a:lstStyle/>
          <a:p>
            <a:pPr marL="184785" indent="-172720">
              <a:lnSpc>
                <a:spcPct val="100000"/>
              </a:lnSpc>
              <a:spcBef>
                <a:spcPts val="460"/>
              </a:spcBef>
              <a:buFont typeface="Arial MT"/>
              <a:buChar char="•"/>
              <a:tabLst>
                <a:tab pos="185420" algn="l"/>
              </a:tabLst>
            </a:pPr>
            <a:r>
              <a:rPr sz="3600" spc="-15" dirty="0">
                <a:latin typeface="Calibri" panose="020F0502020204030204"/>
                <a:cs typeface="Calibri" panose="020F0502020204030204"/>
              </a:rPr>
              <a:t>k-Nearest</a:t>
            </a:r>
            <a:r>
              <a:rPr sz="3600" spc="-30" dirty="0">
                <a:latin typeface="Calibri" panose="020F0502020204030204"/>
                <a:cs typeface="Calibri" panose="020F0502020204030204"/>
              </a:rPr>
              <a:t> </a:t>
            </a:r>
            <a:r>
              <a:rPr sz="3600" spc="-10" dirty="0">
                <a:latin typeface="Calibri" panose="020F0502020204030204"/>
                <a:cs typeface="Calibri" panose="020F0502020204030204"/>
              </a:rPr>
              <a:t>Neighbors</a:t>
            </a:r>
            <a:endParaRPr sz="3600">
              <a:latin typeface="Calibri" panose="020F0502020204030204"/>
              <a:cs typeface="Calibri" panose="020F0502020204030204"/>
            </a:endParaRPr>
          </a:p>
          <a:p>
            <a:pPr marL="184785" indent="-172720">
              <a:lnSpc>
                <a:spcPct val="100000"/>
              </a:lnSpc>
              <a:spcBef>
                <a:spcPts val="365"/>
              </a:spcBef>
              <a:buFont typeface="Arial MT"/>
              <a:buChar char="•"/>
              <a:tabLst>
                <a:tab pos="185420" algn="l"/>
              </a:tabLst>
            </a:pPr>
            <a:r>
              <a:rPr sz="3600" spc="-5" dirty="0">
                <a:latin typeface="Calibri" panose="020F0502020204030204"/>
                <a:cs typeface="Calibri" panose="020F0502020204030204"/>
              </a:rPr>
              <a:t>Linear</a:t>
            </a:r>
            <a:r>
              <a:rPr sz="3600" spc="-50" dirty="0">
                <a:latin typeface="Calibri" panose="020F0502020204030204"/>
                <a:cs typeface="Calibri" panose="020F0502020204030204"/>
              </a:rPr>
              <a:t> </a:t>
            </a:r>
            <a:r>
              <a:rPr sz="3600" spc="-15" dirty="0">
                <a:latin typeface="Calibri" panose="020F0502020204030204"/>
                <a:cs typeface="Calibri" panose="020F0502020204030204"/>
              </a:rPr>
              <a:t>Regression</a:t>
            </a:r>
            <a:endParaRPr sz="3600">
              <a:latin typeface="Calibri" panose="020F0502020204030204"/>
              <a:cs typeface="Calibri" panose="020F0502020204030204"/>
            </a:endParaRPr>
          </a:p>
          <a:p>
            <a:pPr marL="184785" indent="-172720">
              <a:lnSpc>
                <a:spcPct val="100000"/>
              </a:lnSpc>
              <a:spcBef>
                <a:spcPts val="370"/>
              </a:spcBef>
              <a:buFont typeface="Arial MT"/>
              <a:buChar char="•"/>
              <a:tabLst>
                <a:tab pos="185420" algn="l"/>
              </a:tabLst>
            </a:pPr>
            <a:r>
              <a:rPr sz="3600" spc="-10" dirty="0">
                <a:latin typeface="Calibri" panose="020F0502020204030204"/>
                <a:cs typeface="Calibri" panose="020F0502020204030204"/>
              </a:rPr>
              <a:t>Logistic</a:t>
            </a:r>
            <a:r>
              <a:rPr sz="3600" spc="-25" dirty="0">
                <a:latin typeface="Calibri" panose="020F0502020204030204"/>
                <a:cs typeface="Calibri" panose="020F0502020204030204"/>
              </a:rPr>
              <a:t> </a:t>
            </a:r>
            <a:r>
              <a:rPr sz="3600" spc="-15" dirty="0">
                <a:latin typeface="Calibri" panose="020F0502020204030204"/>
                <a:cs typeface="Calibri" panose="020F0502020204030204"/>
              </a:rPr>
              <a:t>Regression</a:t>
            </a:r>
            <a:endParaRPr sz="3600">
              <a:latin typeface="Calibri" panose="020F0502020204030204"/>
              <a:cs typeface="Calibri" panose="020F0502020204030204"/>
            </a:endParaRPr>
          </a:p>
          <a:p>
            <a:pPr marL="184785" indent="-172720">
              <a:lnSpc>
                <a:spcPct val="100000"/>
              </a:lnSpc>
              <a:spcBef>
                <a:spcPts val="375"/>
              </a:spcBef>
              <a:buFont typeface="Arial MT"/>
              <a:buChar char="•"/>
              <a:tabLst>
                <a:tab pos="185420" algn="l"/>
              </a:tabLst>
            </a:pPr>
            <a:r>
              <a:rPr sz="3600" spc="-5" dirty="0">
                <a:latin typeface="Calibri" panose="020F0502020204030204"/>
                <a:cs typeface="Calibri" panose="020F0502020204030204"/>
              </a:rPr>
              <a:t>Support</a:t>
            </a:r>
            <a:r>
              <a:rPr sz="3600" spc="-55" dirty="0">
                <a:latin typeface="Calibri" panose="020F0502020204030204"/>
                <a:cs typeface="Calibri" panose="020F0502020204030204"/>
              </a:rPr>
              <a:t> </a:t>
            </a:r>
            <a:r>
              <a:rPr sz="3600" spc="-40" dirty="0">
                <a:latin typeface="Calibri" panose="020F0502020204030204"/>
                <a:cs typeface="Calibri" panose="020F0502020204030204"/>
              </a:rPr>
              <a:t>Vector</a:t>
            </a:r>
            <a:r>
              <a:rPr sz="3600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sz="3600" dirty="0">
                <a:latin typeface="Calibri" panose="020F0502020204030204"/>
                <a:cs typeface="Calibri" panose="020F0502020204030204"/>
              </a:rPr>
              <a:t>Machines</a:t>
            </a:r>
            <a:r>
              <a:rPr sz="3600" spc="-35" dirty="0">
                <a:latin typeface="Calibri" panose="020F0502020204030204"/>
                <a:cs typeface="Calibri" panose="020F0502020204030204"/>
              </a:rPr>
              <a:t> </a:t>
            </a:r>
            <a:r>
              <a:rPr sz="3600" spc="-10" dirty="0">
                <a:latin typeface="Calibri" panose="020F0502020204030204"/>
                <a:cs typeface="Calibri" panose="020F0502020204030204"/>
              </a:rPr>
              <a:t>(SVMs)</a:t>
            </a:r>
            <a:endParaRPr sz="3600">
              <a:latin typeface="Calibri" panose="020F0502020204030204"/>
              <a:cs typeface="Calibri" panose="020F0502020204030204"/>
            </a:endParaRPr>
          </a:p>
          <a:p>
            <a:pPr marL="184785" indent="-172720">
              <a:lnSpc>
                <a:spcPct val="100000"/>
              </a:lnSpc>
              <a:spcBef>
                <a:spcPts val="360"/>
              </a:spcBef>
              <a:buFont typeface="Arial MT"/>
              <a:buChar char="•"/>
              <a:tabLst>
                <a:tab pos="185420" algn="l"/>
              </a:tabLst>
            </a:pPr>
            <a:r>
              <a:rPr sz="3600" spc="-5" dirty="0">
                <a:latin typeface="Calibri" panose="020F0502020204030204"/>
                <a:cs typeface="Calibri" panose="020F0502020204030204"/>
              </a:rPr>
              <a:t>Decision</a:t>
            </a:r>
            <a:r>
              <a:rPr sz="3600" spc="-10" dirty="0">
                <a:latin typeface="Calibri" panose="020F0502020204030204"/>
                <a:cs typeface="Calibri" panose="020F0502020204030204"/>
              </a:rPr>
              <a:t> </a:t>
            </a:r>
            <a:r>
              <a:rPr sz="3600" spc="-60" dirty="0">
                <a:latin typeface="Calibri" panose="020F0502020204030204"/>
                <a:cs typeface="Calibri" panose="020F0502020204030204"/>
              </a:rPr>
              <a:t>Trees</a:t>
            </a:r>
            <a:r>
              <a:rPr sz="3600" spc="-20" dirty="0">
                <a:latin typeface="Calibri" panose="020F0502020204030204"/>
                <a:cs typeface="Calibri" panose="020F0502020204030204"/>
              </a:rPr>
              <a:t> </a:t>
            </a:r>
            <a:r>
              <a:rPr sz="3600" dirty="0">
                <a:latin typeface="Calibri" panose="020F0502020204030204"/>
                <a:cs typeface="Calibri" panose="020F0502020204030204"/>
              </a:rPr>
              <a:t>and</a:t>
            </a:r>
            <a:r>
              <a:rPr sz="3600" spc="-25" dirty="0">
                <a:latin typeface="Calibri" panose="020F0502020204030204"/>
                <a:cs typeface="Calibri" panose="020F0502020204030204"/>
              </a:rPr>
              <a:t> </a:t>
            </a:r>
            <a:r>
              <a:rPr sz="3600" spc="-5" dirty="0">
                <a:latin typeface="Calibri" panose="020F0502020204030204"/>
                <a:cs typeface="Calibri" panose="020F0502020204030204"/>
              </a:rPr>
              <a:t>Random</a:t>
            </a:r>
            <a:r>
              <a:rPr sz="3600" spc="-35" dirty="0">
                <a:latin typeface="Calibri" panose="020F0502020204030204"/>
                <a:cs typeface="Calibri" panose="020F0502020204030204"/>
              </a:rPr>
              <a:t> </a:t>
            </a:r>
            <a:r>
              <a:rPr sz="3600" spc="-25" dirty="0">
                <a:latin typeface="Calibri" panose="020F0502020204030204"/>
                <a:cs typeface="Calibri" panose="020F0502020204030204"/>
              </a:rPr>
              <a:t>Forests</a:t>
            </a:r>
            <a:endParaRPr sz="3600">
              <a:latin typeface="Calibri" panose="020F0502020204030204"/>
              <a:cs typeface="Calibri" panose="020F0502020204030204"/>
            </a:endParaRPr>
          </a:p>
          <a:p>
            <a:pPr marL="184785" indent="-172720">
              <a:lnSpc>
                <a:spcPct val="100000"/>
              </a:lnSpc>
              <a:spcBef>
                <a:spcPts val="370"/>
              </a:spcBef>
              <a:buFont typeface="Arial MT"/>
              <a:buChar char="•"/>
              <a:tabLst>
                <a:tab pos="185420" algn="l"/>
              </a:tabLst>
            </a:pPr>
            <a:r>
              <a:rPr sz="3600" spc="-15" dirty="0">
                <a:latin typeface="Calibri" panose="020F0502020204030204"/>
                <a:cs typeface="Calibri" panose="020F0502020204030204"/>
              </a:rPr>
              <a:t>Neural</a:t>
            </a:r>
            <a:r>
              <a:rPr sz="3600" spc="-50" dirty="0">
                <a:latin typeface="Calibri" panose="020F0502020204030204"/>
                <a:cs typeface="Calibri" panose="020F0502020204030204"/>
              </a:rPr>
              <a:t> </a:t>
            </a:r>
            <a:r>
              <a:rPr sz="3600" spc="-20" dirty="0">
                <a:latin typeface="Calibri" panose="020F0502020204030204"/>
                <a:cs typeface="Calibri" panose="020F0502020204030204"/>
              </a:rPr>
              <a:t>networks</a:t>
            </a:r>
            <a:endParaRPr sz="3600">
              <a:latin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009013" y="439877"/>
            <a:ext cx="532320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b="1" dirty="0">
                <a:solidFill>
                  <a:srgbClr val="2E5496"/>
                </a:solidFill>
                <a:latin typeface="Calibri" panose="020F0502020204030204"/>
                <a:cs typeface="Calibri" panose="020F0502020204030204"/>
              </a:rPr>
              <a:t>Unsupervised</a:t>
            </a:r>
            <a:r>
              <a:rPr sz="4400" b="1" spc="-110" dirty="0">
                <a:solidFill>
                  <a:srgbClr val="2E5496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4400" b="1" dirty="0">
                <a:solidFill>
                  <a:srgbClr val="2E5496"/>
                </a:solidFill>
                <a:latin typeface="Calibri" panose="020F0502020204030204"/>
                <a:cs typeface="Calibri" panose="020F0502020204030204"/>
              </a:rPr>
              <a:t>Learning</a:t>
            </a:r>
            <a:endParaRPr sz="4400">
              <a:latin typeface="Calibri" panose="020F0502020204030204"/>
              <a:cs typeface="Calibri" panose="020F0502020204030204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152400" y="1508760"/>
            <a:ext cx="5753100" cy="3656965"/>
            <a:chOff x="152400" y="1508760"/>
            <a:chExt cx="5753100" cy="3656965"/>
          </a:xfrm>
        </p:grpSpPr>
        <p:sp>
          <p:nvSpPr>
            <p:cNvPr id="4" name="object 4"/>
            <p:cNvSpPr/>
            <p:nvPr/>
          </p:nvSpPr>
          <p:spPr>
            <a:xfrm>
              <a:off x="152400" y="1824228"/>
              <a:ext cx="2524125" cy="3342004"/>
            </a:xfrm>
            <a:custGeom>
              <a:avLst/>
              <a:gdLst/>
              <a:ahLst/>
              <a:cxnLst/>
              <a:rect l="l" t="t" r="r" b="b"/>
              <a:pathLst>
                <a:path w="2524125" h="3342004">
                  <a:moveTo>
                    <a:pt x="2523617" y="0"/>
                  </a:moveTo>
                  <a:lnTo>
                    <a:pt x="2505964" y="52832"/>
                  </a:lnTo>
                  <a:lnTo>
                    <a:pt x="2475484" y="86613"/>
                  </a:lnTo>
                  <a:lnTo>
                    <a:pt x="2430907" y="118872"/>
                  </a:lnTo>
                  <a:lnTo>
                    <a:pt x="2373376" y="149479"/>
                  </a:lnTo>
                  <a:lnTo>
                    <a:pt x="2303399" y="178054"/>
                  </a:lnTo>
                  <a:lnTo>
                    <a:pt x="2264156" y="191643"/>
                  </a:lnTo>
                  <a:lnTo>
                    <a:pt x="2221992" y="204597"/>
                  </a:lnTo>
                  <a:lnTo>
                    <a:pt x="2177288" y="217043"/>
                  </a:lnTo>
                  <a:lnTo>
                    <a:pt x="2130044" y="228854"/>
                  </a:lnTo>
                  <a:lnTo>
                    <a:pt x="2080387" y="240030"/>
                  </a:lnTo>
                  <a:lnTo>
                    <a:pt x="2028444" y="250571"/>
                  </a:lnTo>
                  <a:lnTo>
                    <a:pt x="1974214" y="260350"/>
                  </a:lnTo>
                  <a:lnTo>
                    <a:pt x="1917827" y="269494"/>
                  </a:lnTo>
                  <a:lnTo>
                    <a:pt x="1859533" y="277875"/>
                  </a:lnTo>
                  <a:lnTo>
                    <a:pt x="1799336" y="285496"/>
                  </a:lnTo>
                  <a:lnTo>
                    <a:pt x="1737233" y="292226"/>
                  </a:lnTo>
                  <a:lnTo>
                    <a:pt x="1673606" y="298196"/>
                  </a:lnTo>
                  <a:lnTo>
                    <a:pt x="1608327" y="303402"/>
                  </a:lnTo>
                  <a:lnTo>
                    <a:pt x="1541526" y="307594"/>
                  </a:lnTo>
                  <a:lnTo>
                    <a:pt x="1473327" y="311023"/>
                  </a:lnTo>
                  <a:lnTo>
                    <a:pt x="1403985" y="313436"/>
                  </a:lnTo>
                  <a:lnTo>
                    <a:pt x="1333373" y="314960"/>
                  </a:lnTo>
                  <a:lnTo>
                    <a:pt x="1261872" y="315468"/>
                  </a:lnTo>
                  <a:lnTo>
                    <a:pt x="1190244" y="314960"/>
                  </a:lnTo>
                  <a:lnTo>
                    <a:pt x="1119632" y="313436"/>
                  </a:lnTo>
                  <a:lnTo>
                    <a:pt x="1050251" y="311023"/>
                  </a:lnTo>
                  <a:lnTo>
                    <a:pt x="982116" y="307594"/>
                  </a:lnTo>
                  <a:lnTo>
                    <a:pt x="915339" y="303402"/>
                  </a:lnTo>
                  <a:lnTo>
                    <a:pt x="850036" y="298196"/>
                  </a:lnTo>
                  <a:lnTo>
                    <a:pt x="786320" y="292226"/>
                  </a:lnTo>
                  <a:lnTo>
                    <a:pt x="724293" y="285496"/>
                  </a:lnTo>
                  <a:lnTo>
                    <a:pt x="664057" y="277875"/>
                  </a:lnTo>
                  <a:lnTo>
                    <a:pt x="605713" y="269494"/>
                  </a:lnTo>
                  <a:lnTo>
                    <a:pt x="549389" y="260350"/>
                  </a:lnTo>
                  <a:lnTo>
                    <a:pt x="495173" y="250571"/>
                  </a:lnTo>
                  <a:lnTo>
                    <a:pt x="443179" y="240030"/>
                  </a:lnTo>
                  <a:lnTo>
                    <a:pt x="393509" y="228854"/>
                  </a:lnTo>
                  <a:lnTo>
                    <a:pt x="346265" y="217043"/>
                  </a:lnTo>
                  <a:lnTo>
                    <a:pt x="301561" y="204597"/>
                  </a:lnTo>
                  <a:lnTo>
                    <a:pt x="259511" y="191643"/>
                  </a:lnTo>
                  <a:lnTo>
                    <a:pt x="220205" y="178054"/>
                  </a:lnTo>
                  <a:lnTo>
                    <a:pt x="183769" y="163957"/>
                  </a:lnTo>
                  <a:lnTo>
                    <a:pt x="119888" y="134366"/>
                  </a:lnTo>
                  <a:lnTo>
                    <a:pt x="68707" y="102997"/>
                  </a:lnTo>
                  <a:lnTo>
                    <a:pt x="31102" y="69976"/>
                  </a:lnTo>
                  <a:lnTo>
                    <a:pt x="7912" y="35560"/>
                  </a:lnTo>
                  <a:lnTo>
                    <a:pt x="0" y="0"/>
                  </a:lnTo>
                  <a:lnTo>
                    <a:pt x="0" y="3026029"/>
                  </a:lnTo>
                  <a:lnTo>
                    <a:pt x="17653" y="3078988"/>
                  </a:lnTo>
                  <a:lnTo>
                    <a:pt x="48158" y="3112643"/>
                  </a:lnTo>
                  <a:lnTo>
                    <a:pt x="92659" y="3144901"/>
                  </a:lnTo>
                  <a:lnTo>
                    <a:pt x="150291" y="3175508"/>
                  </a:lnTo>
                  <a:lnTo>
                    <a:pt x="220205" y="3204210"/>
                  </a:lnTo>
                  <a:lnTo>
                    <a:pt x="259511" y="3217672"/>
                  </a:lnTo>
                  <a:lnTo>
                    <a:pt x="301561" y="3230753"/>
                  </a:lnTo>
                  <a:lnTo>
                    <a:pt x="346265" y="3243199"/>
                  </a:lnTo>
                  <a:lnTo>
                    <a:pt x="393496" y="3255010"/>
                  </a:lnTo>
                  <a:lnTo>
                    <a:pt x="443166" y="3266186"/>
                  </a:lnTo>
                  <a:lnTo>
                    <a:pt x="495173" y="3276600"/>
                  </a:lnTo>
                  <a:lnTo>
                    <a:pt x="549389" y="3286505"/>
                  </a:lnTo>
                  <a:lnTo>
                    <a:pt x="605713" y="3295523"/>
                  </a:lnTo>
                  <a:lnTo>
                    <a:pt x="664057" y="3303904"/>
                  </a:lnTo>
                  <a:lnTo>
                    <a:pt x="724293" y="3311525"/>
                  </a:lnTo>
                  <a:lnTo>
                    <a:pt x="786320" y="3318383"/>
                  </a:lnTo>
                  <a:lnTo>
                    <a:pt x="850036" y="3324352"/>
                  </a:lnTo>
                  <a:lnTo>
                    <a:pt x="915339" y="3329432"/>
                  </a:lnTo>
                  <a:lnTo>
                    <a:pt x="982103" y="3333750"/>
                  </a:lnTo>
                  <a:lnTo>
                    <a:pt x="1050251" y="3337052"/>
                  </a:lnTo>
                  <a:lnTo>
                    <a:pt x="1119632" y="3339592"/>
                  </a:lnTo>
                  <a:lnTo>
                    <a:pt x="1190244" y="3340989"/>
                  </a:lnTo>
                  <a:lnTo>
                    <a:pt x="1261872" y="3341497"/>
                  </a:lnTo>
                  <a:lnTo>
                    <a:pt x="1333373" y="3340989"/>
                  </a:lnTo>
                  <a:lnTo>
                    <a:pt x="1403985" y="3339592"/>
                  </a:lnTo>
                  <a:lnTo>
                    <a:pt x="1473327" y="3337052"/>
                  </a:lnTo>
                  <a:lnTo>
                    <a:pt x="1541526" y="3333750"/>
                  </a:lnTo>
                  <a:lnTo>
                    <a:pt x="1608327" y="3329432"/>
                  </a:lnTo>
                  <a:lnTo>
                    <a:pt x="1673606" y="3324352"/>
                  </a:lnTo>
                  <a:lnTo>
                    <a:pt x="1737233" y="3318383"/>
                  </a:lnTo>
                  <a:lnTo>
                    <a:pt x="1799336" y="3311525"/>
                  </a:lnTo>
                  <a:lnTo>
                    <a:pt x="1859533" y="3303904"/>
                  </a:lnTo>
                  <a:lnTo>
                    <a:pt x="1917827" y="3295523"/>
                  </a:lnTo>
                  <a:lnTo>
                    <a:pt x="1974214" y="3286505"/>
                  </a:lnTo>
                  <a:lnTo>
                    <a:pt x="2028444" y="3276600"/>
                  </a:lnTo>
                  <a:lnTo>
                    <a:pt x="2080387" y="3266186"/>
                  </a:lnTo>
                  <a:lnTo>
                    <a:pt x="2130044" y="3255010"/>
                  </a:lnTo>
                  <a:lnTo>
                    <a:pt x="2177288" y="3243199"/>
                  </a:lnTo>
                  <a:lnTo>
                    <a:pt x="2221992" y="3230753"/>
                  </a:lnTo>
                  <a:lnTo>
                    <a:pt x="2264156" y="3217672"/>
                  </a:lnTo>
                  <a:lnTo>
                    <a:pt x="2303399" y="3204210"/>
                  </a:lnTo>
                  <a:lnTo>
                    <a:pt x="2339848" y="3190113"/>
                  </a:lnTo>
                  <a:lnTo>
                    <a:pt x="2403729" y="3160395"/>
                  </a:lnTo>
                  <a:lnTo>
                    <a:pt x="2454910" y="3129026"/>
                  </a:lnTo>
                  <a:lnTo>
                    <a:pt x="2492502" y="3096006"/>
                  </a:lnTo>
                  <a:lnTo>
                    <a:pt x="2515743" y="3061589"/>
                  </a:lnTo>
                  <a:lnTo>
                    <a:pt x="2523617" y="3026029"/>
                  </a:lnTo>
                  <a:lnTo>
                    <a:pt x="2523617" y="0"/>
                  </a:lnTo>
                  <a:close/>
                </a:path>
              </a:pathLst>
            </a:custGeom>
            <a:solidFill>
              <a:srgbClr val="7B9FD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152400" y="1508760"/>
              <a:ext cx="2524125" cy="631190"/>
            </a:xfrm>
            <a:custGeom>
              <a:avLst/>
              <a:gdLst/>
              <a:ahLst/>
              <a:cxnLst/>
              <a:rect l="l" t="t" r="r" b="b"/>
              <a:pathLst>
                <a:path w="2524125" h="631189">
                  <a:moveTo>
                    <a:pt x="1261872" y="0"/>
                  </a:moveTo>
                  <a:lnTo>
                    <a:pt x="1190244" y="507"/>
                  </a:lnTo>
                  <a:lnTo>
                    <a:pt x="1119632" y="2031"/>
                  </a:lnTo>
                  <a:lnTo>
                    <a:pt x="1050251" y="4444"/>
                  </a:lnTo>
                  <a:lnTo>
                    <a:pt x="982116" y="7747"/>
                  </a:lnTo>
                  <a:lnTo>
                    <a:pt x="915339" y="12064"/>
                  </a:lnTo>
                  <a:lnTo>
                    <a:pt x="850036" y="17144"/>
                  </a:lnTo>
                  <a:lnTo>
                    <a:pt x="786320" y="23113"/>
                  </a:lnTo>
                  <a:lnTo>
                    <a:pt x="724293" y="29972"/>
                  </a:lnTo>
                  <a:lnTo>
                    <a:pt x="664057" y="37591"/>
                  </a:lnTo>
                  <a:lnTo>
                    <a:pt x="605713" y="45974"/>
                  </a:lnTo>
                  <a:lnTo>
                    <a:pt x="549389" y="55117"/>
                  </a:lnTo>
                  <a:lnTo>
                    <a:pt x="495173" y="64897"/>
                  </a:lnTo>
                  <a:lnTo>
                    <a:pt x="443179" y="75437"/>
                  </a:lnTo>
                  <a:lnTo>
                    <a:pt x="393509" y="86613"/>
                  </a:lnTo>
                  <a:lnTo>
                    <a:pt x="346265" y="98425"/>
                  </a:lnTo>
                  <a:lnTo>
                    <a:pt x="301561" y="110870"/>
                  </a:lnTo>
                  <a:lnTo>
                    <a:pt x="259511" y="123825"/>
                  </a:lnTo>
                  <a:lnTo>
                    <a:pt x="220205" y="137413"/>
                  </a:lnTo>
                  <a:lnTo>
                    <a:pt x="183769" y="151511"/>
                  </a:lnTo>
                  <a:lnTo>
                    <a:pt x="119888" y="181101"/>
                  </a:lnTo>
                  <a:lnTo>
                    <a:pt x="68707" y="212598"/>
                  </a:lnTo>
                  <a:lnTo>
                    <a:pt x="31102" y="245617"/>
                  </a:lnTo>
                  <a:lnTo>
                    <a:pt x="7912" y="279907"/>
                  </a:lnTo>
                  <a:lnTo>
                    <a:pt x="0" y="315467"/>
                  </a:lnTo>
                  <a:lnTo>
                    <a:pt x="1993" y="333375"/>
                  </a:lnTo>
                  <a:lnTo>
                    <a:pt x="17653" y="368300"/>
                  </a:lnTo>
                  <a:lnTo>
                    <a:pt x="48158" y="402081"/>
                  </a:lnTo>
                  <a:lnTo>
                    <a:pt x="92659" y="434339"/>
                  </a:lnTo>
                  <a:lnTo>
                    <a:pt x="150291" y="464819"/>
                  </a:lnTo>
                  <a:lnTo>
                    <a:pt x="220205" y="493522"/>
                  </a:lnTo>
                  <a:lnTo>
                    <a:pt x="259511" y="507111"/>
                  </a:lnTo>
                  <a:lnTo>
                    <a:pt x="301561" y="520064"/>
                  </a:lnTo>
                  <a:lnTo>
                    <a:pt x="346265" y="532511"/>
                  </a:lnTo>
                  <a:lnTo>
                    <a:pt x="393509" y="544322"/>
                  </a:lnTo>
                  <a:lnTo>
                    <a:pt x="443179" y="555498"/>
                  </a:lnTo>
                  <a:lnTo>
                    <a:pt x="495173" y="565912"/>
                  </a:lnTo>
                  <a:lnTo>
                    <a:pt x="549389" y="575817"/>
                  </a:lnTo>
                  <a:lnTo>
                    <a:pt x="605713" y="584835"/>
                  </a:lnTo>
                  <a:lnTo>
                    <a:pt x="664057" y="593216"/>
                  </a:lnTo>
                  <a:lnTo>
                    <a:pt x="724293" y="600837"/>
                  </a:lnTo>
                  <a:lnTo>
                    <a:pt x="786320" y="607694"/>
                  </a:lnTo>
                  <a:lnTo>
                    <a:pt x="850036" y="613663"/>
                  </a:lnTo>
                  <a:lnTo>
                    <a:pt x="915339" y="618743"/>
                  </a:lnTo>
                  <a:lnTo>
                    <a:pt x="982116" y="623062"/>
                  </a:lnTo>
                  <a:lnTo>
                    <a:pt x="1050251" y="626363"/>
                  </a:lnTo>
                  <a:lnTo>
                    <a:pt x="1119632" y="628776"/>
                  </a:lnTo>
                  <a:lnTo>
                    <a:pt x="1190244" y="630301"/>
                  </a:lnTo>
                  <a:lnTo>
                    <a:pt x="1261872" y="630809"/>
                  </a:lnTo>
                  <a:lnTo>
                    <a:pt x="1333373" y="630301"/>
                  </a:lnTo>
                  <a:lnTo>
                    <a:pt x="1403985" y="628776"/>
                  </a:lnTo>
                  <a:lnTo>
                    <a:pt x="1473327" y="626363"/>
                  </a:lnTo>
                  <a:lnTo>
                    <a:pt x="1541526" y="623062"/>
                  </a:lnTo>
                  <a:lnTo>
                    <a:pt x="1608327" y="618743"/>
                  </a:lnTo>
                  <a:lnTo>
                    <a:pt x="1673606" y="613663"/>
                  </a:lnTo>
                  <a:lnTo>
                    <a:pt x="1737233" y="607694"/>
                  </a:lnTo>
                  <a:lnTo>
                    <a:pt x="1799336" y="600837"/>
                  </a:lnTo>
                  <a:lnTo>
                    <a:pt x="1859533" y="593216"/>
                  </a:lnTo>
                  <a:lnTo>
                    <a:pt x="1917827" y="584835"/>
                  </a:lnTo>
                  <a:lnTo>
                    <a:pt x="1974214" y="575817"/>
                  </a:lnTo>
                  <a:lnTo>
                    <a:pt x="2028444" y="565912"/>
                  </a:lnTo>
                  <a:lnTo>
                    <a:pt x="2080387" y="555498"/>
                  </a:lnTo>
                  <a:lnTo>
                    <a:pt x="2130044" y="544322"/>
                  </a:lnTo>
                  <a:lnTo>
                    <a:pt x="2177288" y="532511"/>
                  </a:lnTo>
                  <a:lnTo>
                    <a:pt x="2221992" y="520064"/>
                  </a:lnTo>
                  <a:lnTo>
                    <a:pt x="2264156" y="507111"/>
                  </a:lnTo>
                  <a:lnTo>
                    <a:pt x="2303399" y="493522"/>
                  </a:lnTo>
                  <a:lnTo>
                    <a:pt x="2339848" y="479425"/>
                  </a:lnTo>
                  <a:lnTo>
                    <a:pt x="2403729" y="449834"/>
                  </a:lnTo>
                  <a:lnTo>
                    <a:pt x="2454910" y="418338"/>
                  </a:lnTo>
                  <a:lnTo>
                    <a:pt x="2492502" y="385317"/>
                  </a:lnTo>
                  <a:lnTo>
                    <a:pt x="2515743" y="351027"/>
                  </a:lnTo>
                  <a:lnTo>
                    <a:pt x="2523617" y="315467"/>
                  </a:lnTo>
                  <a:lnTo>
                    <a:pt x="2521585" y="297561"/>
                  </a:lnTo>
                  <a:lnTo>
                    <a:pt x="2505964" y="262636"/>
                  </a:lnTo>
                  <a:lnTo>
                    <a:pt x="2475484" y="228853"/>
                  </a:lnTo>
                  <a:lnTo>
                    <a:pt x="2430907" y="196595"/>
                  </a:lnTo>
                  <a:lnTo>
                    <a:pt x="2373376" y="165988"/>
                  </a:lnTo>
                  <a:lnTo>
                    <a:pt x="2303399" y="137413"/>
                  </a:lnTo>
                  <a:lnTo>
                    <a:pt x="2264156" y="123825"/>
                  </a:lnTo>
                  <a:lnTo>
                    <a:pt x="2221992" y="110870"/>
                  </a:lnTo>
                  <a:lnTo>
                    <a:pt x="2177288" y="98425"/>
                  </a:lnTo>
                  <a:lnTo>
                    <a:pt x="2130044" y="86613"/>
                  </a:lnTo>
                  <a:lnTo>
                    <a:pt x="2080387" y="75437"/>
                  </a:lnTo>
                  <a:lnTo>
                    <a:pt x="2028444" y="64897"/>
                  </a:lnTo>
                  <a:lnTo>
                    <a:pt x="1974214" y="55117"/>
                  </a:lnTo>
                  <a:lnTo>
                    <a:pt x="1917827" y="45974"/>
                  </a:lnTo>
                  <a:lnTo>
                    <a:pt x="1859533" y="37591"/>
                  </a:lnTo>
                  <a:lnTo>
                    <a:pt x="1799336" y="29972"/>
                  </a:lnTo>
                  <a:lnTo>
                    <a:pt x="1737233" y="23113"/>
                  </a:lnTo>
                  <a:lnTo>
                    <a:pt x="1673606" y="17144"/>
                  </a:lnTo>
                  <a:lnTo>
                    <a:pt x="1608327" y="12064"/>
                  </a:lnTo>
                  <a:lnTo>
                    <a:pt x="1541526" y="7747"/>
                  </a:lnTo>
                  <a:lnTo>
                    <a:pt x="1473327" y="4444"/>
                  </a:lnTo>
                  <a:lnTo>
                    <a:pt x="1403985" y="2031"/>
                  </a:lnTo>
                  <a:lnTo>
                    <a:pt x="1333373" y="507"/>
                  </a:lnTo>
                  <a:lnTo>
                    <a:pt x="1261872" y="0"/>
                  </a:lnTo>
                  <a:close/>
                </a:path>
              </a:pathLst>
            </a:custGeom>
            <a:solidFill>
              <a:srgbClr val="AFC5E2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" name="object 6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3314694" y="2545080"/>
              <a:ext cx="2590810" cy="1595628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352800" y="2558796"/>
              <a:ext cx="2514600" cy="1523999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3352800" y="2558796"/>
              <a:ext cx="2514600" cy="1525270"/>
            </a:xfrm>
            <a:custGeom>
              <a:avLst/>
              <a:gdLst/>
              <a:ahLst/>
              <a:cxnLst/>
              <a:rect l="l" t="t" r="r" b="b"/>
              <a:pathLst>
                <a:path w="2514600" h="1525270">
                  <a:moveTo>
                    <a:pt x="0" y="762380"/>
                  </a:moveTo>
                  <a:lnTo>
                    <a:pt x="5461" y="691133"/>
                  </a:lnTo>
                  <a:lnTo>
                    <a:pt x="21462" y="621538"/>
                  </a:lnTo>
                  <a:lnTo>
                    <a:pt x="47498" y="554227"/>
                  </a:lnTo>
                  <a:lnTo>
                    <a:pt x="83058" y="489330"/>
                  </a:lnTo>
                  <a:lnTo>
                    <a:pt x="127762" y="427100"/>
                  </a:lnTo>
                  <a:lnTo>
                    <a:pt x="153415" y="397128"/>
                  </a:lnTo>
                  <a:lnTo>
                    <a:pt x="181101" y="367918"/>
                  </a:lnTo>
                  <a:lnTo>
                    <a:pt x="210820" y="339598"/>
                  </a:lnTo>
                  <a:lnTo>
                    <a:pt x="242570" y="312165"/>
                  </a:lnTo>
                  <a:lnTo>
                    <a:pt x="276225" y="285623"/>
                  </a:lnTo>
                  <a:lnTo>
                    <a:pt x="311658" y="259968"/>
                  </a:lnTo>
                  <a:lnTo>
                    <a:pt x="348996" y="235203"/>
                  </a:lnTo>
                  <a:lnTo>
                    <a:pt x="387985" y="211581"/>
                  </a:lnTo>
                  <a:lnTo>
                    <a:pt x="428625" y="188975"/>
                  </a:lnTo>
                  <a:lnTo>
                    <a:pt x="470915" y="167512"/>
                  </a:lnTo>
                  <a:lnTo>
                    <a:pt x="514730" y="147065"/>
                  </a:lnTo>
                  <a:lnTo>
                    <a:pt x="560070" y="127888"/>
                  </a:lnTo>
                  <a:lnTo>
                    <a:pt x="606805" y="109854"/>
                  </a:lnTo>
                  <a:lnTo>
                    <a:pt x="654938" y="92963"/>
                  </a:lnTo>
                  <a:lnTo>
                    <a:pt x="704341" y="77469"/>
                  </a:lnTo>
                  <a:lnTo>
                    <a:pt x="755014" y="63245"/>
                  </a:lnTo>
                  <a:lnTo>
                    <a:pt x="806830" y="50418"/>
                  </a:lnTo>
                  <a:lnTo>
                    <a:pt x="859916" y="38862"/>
                  </a:lnTo>
                  <a:lnTo>
                    <a:pt x="913891" y="28828"/>
                  </a:lnTo>
                  <a:lnTo>
                    <a:pt x="969010" y="20192"/>
                  </a:lnTo>
                  <a:lnTo>
                    <a:pt x="1025016" y="12953"/>
                  </a:lnTo>
                  <a:lnTo>
                    <a:pt x="1081913" y="7365"/>
                  </a:lnTo>
                  <a:lnTo>
                    <a:pt x="1139571" y="3301"/>
                  </a:lnTo>
                  <a:lnTo>
                    <a:pt x="1198117" y="888"/>
                  </a:lnTo>
                  <a:lnTo>
                    <a:pt x="1257300" y="0"/>
                  </a:lnTo>
                  <a:lnTo>
                    <a:pt x="1316482" y="888"/>
                  </a:lnTo>
                  <a:lnTo>
                    <a:pt x="1375028" y="3301"/>
                  </a:lnTo>
                  <a:lnTo>
                    <a:pt x="1432687" y="7365"/>
                  </a:lnTo>
                  <a:lnTo>
                    <a:pt x="1489583" y="12953"/>
                  </a:lnTo>
                  <a:lnTo>
                    <a:pt x="1545589" y="20192"/>
                  </a:lnTo>
                  <a:lnTo>
                    <a:pt x="1600708" y="28828"/>
                  </a:lnTo>
                  <a:lnTo>
                    <a:pt x="1654683" y="38862"/>
                  </a:lnTo>
                  <a:lnTo>
                    <a:pt x="1707769" y="50418"/>
                  </a:lnTo>
                  <a:lnTo>
                    <a:pt x="1759585" y="63245"/>
                  </a:lnTo>
                  <a:lnTo>
                    <a:pt x="1810258" y="77469"/>
                  </a:lnTo>
                  <a:lnTo>
                    <a:pt x="1859661" y="92963"/>
                  </a:lnTo>
                  <a:lnTo>
                    <a:pt x="1907794" y="109854"/>
                  </a:lnTo>
                  <a:lnTo>
                    <a:pt x="1954529" y="127888"/>
                  </a:lnTo>
                  <a:lnTo>
                    <a:pt x="1999869" y="147065"/>
                  </a:lnTo>
                  <a:lnTo>
                    <a:pt x="2043684" y="167512"/>
                  </a:lnTo>
                  <a:lnTo>
                    <a:pt x="2085975" y="188975"/>
                  </a:lnTo>
                  <a:lnTo>
                    <a:pt x="2126615" y="211581"/>
                  </a:lnTo>
                  <a:lnTo>
                    <a:pt x="2165604" y="235203"/>
                  </a:lnTo>
                  <a:lnTo>
                    <a:pt x="2202941" y="259968"/>
                  </a:lnTo>
                  <a:lnTo>
                    <a:pt x="2238375" y="285623"/>
                  </a:lnTo>
                  <a:lnTo>
                    <a:pt x="2272029" y="312165"/>
                  </a:lnTo>
                  <a:lnTo>
                    <a:pt x="2303779" y="339598"/>
                  </a:lnTo>
                  <a:lnTo>
                    <a:pt x="2333498" y="367918"/>
                  </a:lnTo>
                  <a:lnTo>
                    <a:pt x="2361184" y="397128"/>
                  </a:lnTo>
                  <a:lnTo>
                    <a:pt x="2386838" y="427100"/>
                  </a:lnTo>
                  <a:lnTo>
                    <a:pt x="2410333" y="457834"/>
                  </a:lnTo>
                  <a:lnTo>
                    <a:pt x="2450465" y="521462"/>
                  </a:lnTo>
                  <a:lnTo>
                    <a:pt x="2481453" y="587628"/>
                  </a:lnTo>
                  <a:lnTo>
                    <a:pt x="2502408" y="656081"/>
                  </a:lnTo>
                  <a:lnTo>
                    <a:pt x="2513203" y="726566"/>
                  </a:lnTo>
                  <a:lnTo>
                    <a:pt x="2514600" y="762380"/>
                  </a:lnTo>
                  <a:lnTo>
                    <a:pt x="2513203" y="798321"/>
                  </a:lnTo>
                  <a:lnTo>
                    <a:pt x="2502408" y="868806"/>
                  </a:lnTo>
                  <a:lnTo>
                    <a:pt x="2481453" y="937259"/>
                  </a:lnTo>
                  <a:lnTo>
                    <a:pt x="2450465" y="1003426"/>
                  </a:lnTo>
                  <a:lnTo>
                    <a:pt x="2410333" y="1067053"/>
                  </a:lnTo>
                  <a:lnTo>
                    <a:pt x="2386838" y="1097787"/>
                  </a:lnTo>
                  <a:lnTo>
                    <a:pt x="2361184" y="1127759"/>
                  </a:lnTo>
                  <a:lnTo>
                    <a:pt x="2333498" y="1156970"/>
                  </a:lnTo>
                  <a:lnTo>
                    <a:pt x="2303779" y="1185290"/>
                  </a:lnTo>
                  <a:lnTo>
                    <a:pt x="2272029" y="1212722"/>
                  </a:lnTo>
                  <a:lnTo>
                    <a:pt x="2238375" y="1239392"/>
                  </a:lnTo>
                  <a:lnTo>
                    <a:pt x="2202941" y="1265046"/>
                  </a:lnTo>
                  <a:lnTo>
                    <a:pt x="2165604" y="1289684"/>
                  </a:lnTo>
                  <a:lnTo>
                    <a:pt x="2126615" y="1313306"/>
                  </a:lnTo>
                  <a:lnTo>
                    <a:pt x="2085975" y="1335912"/>
                  </a:lnTo>
                  <a:lnTo>
                    <a:pt x="2043684" y="1357376"/>
                  </a:lnTo>
                  <a:lnTo>
                    <a:pt x="1999869" y="1377822"/>
                  </a:lnTo>
                  <a:lnTo>
                    <a:pt x="1954529" y="1396999"/>
                  </a:lnTo>
                  <a:lnTo>
                    <a:pt x="1907794" y="1415033"/>
                  </a:lnTo>
                  <a:lnTo>
                    <a:pt x="1859661" y="1431924"/>
                  </a:lnTo>
                  <a:lnTo>
                    <a:pt x="1810258" y="1447418"/>
                  </a:lnTo>
                  <a:lnTo>
                    <a:pt x="1759585" y="1461642"/>
                  </a:lnTo>
                  <a:lnTo>
                    <a:pt x="1707769" y="1474470"/>
                  </a:lnTo>
                  <a:lnTo>
                    <a:pt x="1654683" y="1486027"/>
                  </a:lnTo>
                  <a:lnTo>
                    <a:pt x="1600708" y="1496186"/>
                  </a:lnTo>
                  <a:lnTo>
                    <a:pt x="1545589" y="1504822"/>
                  </a:lnTo>
                  <a:lnTo>
                    <a:pt x="1489583" y="1511934"/>
                  </a:lnTo>
                  <a:lnTo>
                    <a:pt x="1432687" y="1517522"/>
                  </a:lnTo>
                  <a:lnTo>
                    <a:pt x="1375028" y="1521586"/>
                  </a:lnTo>
                  <a:lnTo>
                    <a:pt x="1316482" y="1524127"/>
                  </a:lnTo>
                  <a:lnTo>
                    <a:pt x="1257300" y="1524889"/>
                  </a:lnTo>
                  <a:lnTo>
                    <a:pt x="1198117" y="1524127"/>
                  </a:lnTo>
                  <a:lnTo>
                    <a:pt x="1139571" y="1521586"/>
                  </a:lnTo>
                  <a:lnTo>
                    <a:pt x="1081913" y="1517522"/>
                  </a:lnTo>
                  <a:lnTo>
                    <a:pt x="1025016" y="1511934"/>
                  </a:lnTo>
                  <a:lnTo>
                    <a:pt x="969010" y="1504822"/>
                  </a:lnTo>
                  <a:lnTo>
                    <a:pt x="913891" y="1496186"/>
                  </a:lnTo>
                  <a:lnTo>
                    <a:pt x="859916" y="1486027"/>
                  </a:lnTo>
                  <a:lnTo>
                    <a:pt x="806830" y="1474470"/>
                  </a:lnTo>
                  <a:lnTo>
                    <a:pt x="755014" y="1461642"/>
                  </a:lnTo>
                  <a:lnTo>
                    <a:pt x="704341" y="1447418"/>
                  </a:lnTo>
                  <a:lnTo>
                    <a:pt x="654938" y="1431924"/>
                  </a:lnTo>
                  <a:lnTo>
                    <a:pt x="606805" y="1415033"/>
                  </a:lnTo>
                  <a:lnTo>
                    <a:pt x="560070" y="1396999"/>
                  </a:lnTo>
                  <a:lnTo>
                    <a:pt x="514730" y="1377822"/>
                  </a:lnTo>
                  <a:lnTo>
                    <a:pt x="470915" y="1357376"/>
                  </a:lnTo>
                  <a:lnTo>
                    <a:pt x="428625" y="1335912"/>
                  </a:lnTo>
                  <a:lnTo>
                    <a:pt x="387985" y="1313306"/>
                  </a:lnTo>
                  <a:lnTo>
                    <a:pt x="348996" y="1289684"/>
                  </a:lnTo>
                  <a:lnTo>
                    <a:pt x="311658" y="1265046"/>
                  </a:lnTo>
                  <a:lnTo>
                    <a:pt x="276225" y="1239392"/>
                  </a:lnTo>
                  <a:lnTo>
                    <a:pt x="242570" y="1212722"/>
                  </a:lnTo>
                  <a:lnTo>
                    <a:pt x="210820" y="1185290"/>
                  </a:lnTo>
                  <a:lnTo>
                    <a:pt x="181101" y="1156970"/>
                  </a:lnTo>
                  <a:lnTo>
                    <a:pt x="153415" y="1127759"/>
                  </a:lnTo>
                  <a:lnTo>
                    <a:pt x="127762" y="1097787"/>
                  </a:lnTo>
                  <a:lnTo>
                    <a:pt x="104266" y="1067053"/>
                  </a:lnTo>
                  <a:lnTo>
                    <a:pt x="64135" y="1003426"/>
                  </a:lnTo>
                  <a:lnTo>
                    <a:pt x="33147" y="937259"/>
                  </a:lnTo>
                  <a:lnTo>
                    <a:pt x="12191" y="868806"/>
                  </a:lnTo>
                  <a:lnTo>
                    <a:pt x="1397" y="798321"/>
                  </a:lnTo>
                  <a:lnTo>
                    <a:pt x="0" y="762380"/>
                  </a:lnTo>
                  <a:close/>
                </a:path>
              </a:pathLst>
            </a:custGeom>
            <a:ln w="9523">
              <a:solidFill>
                <a:srgbClr val="EB5F15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" name="object 9"/>
          <p:cNvSpPr txBox="1"/>
          <p:nvPr/>
        </p:nvSpPr>
        <p:spPr>
          <a:xfrm>
            <a:off x="3882390" y="2836240"/>
            <a:ext cx="1443990" cy="87947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indent="95885">
              <a:lnSpc>
                <a:spcPct val="100000"/>
              </a:lnSpc>
              <a:spcBef>
                <a:spcPts val="95"/>
              </a:spcBef>
            </a:pPr>
            <a:r>
              <a:rPr sz="2800" spc="-20" dirty="0">
                <a:latin typeface="Calibri" panose="020F0502020204030204"/>
                <a:cs typeface="Calibri" panose="020F0502020204030204"/>
              </a:rPr>
              <a:t>Learning </a:t>
            </a:r>
            <a:r>
              <a:rPr sz="2800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sz="2800" spc="-5" dirty="0">
                <a:latin typeface="Calibri" panose="020F0502020204030204"/>
                <a:cs typeface="Calibri" panose="020F0502020204030204"/>
              </a:rPr>
              <a:t>A</a:t>
            </a:r>
            <a:r>
              <a:rPr sz="2800" spc="-15" dirty="0">
                <a:latin typeface="Calibri" panose="020F0502020204030204"/>
                <a:cs typeface="Calibri" panose="020F0502020204030204"/>
              </a:rPr>
              <a:t>l</a:t>
            </a:r>
            <a:r>
              <a:rPr sz="2800" spc="-65" dirty="0">
                <a:latin typeface="Calibri" panose="020F0502020204030204"/>
                <a:cs typeface="Calibri" panose="020F0502020204030204"/>
              </a:rPr>
              <a:t>g</a:t>
            </a:r>
            <a:r>
              <a:rPr sz="2800" spc="-20" dirty="0">
                <a:latin typeface="Calibri" panose="020F0502020204030204"/>
                <a:cs typeface="Calibri" panose="020F0502020204030204"/>
              </a:rPr>
              <a:t>or</a:t>
            </a:r>
            <a:r>
              <a:rPr sz="2800" spc="-15" dirty="0">
                <a:latin typeface="Calibri" panose="020F0502020204030204"/>
                <a:cs typeface="Calibri" panose="020F0502020204030204"/>
              </a:rPr>
              <a:t>i</a:t>
            </a:r>
            <a:r>
              <a:rPr sz="2800" spc="-20" dirty="0">
                <a:latin typeface="Calibri" panose="020F0502020204030204"/>
                <a:cs typeface="Calibri" panose="020F0502020204030204"/>
              </a:rPr>
              <a:t>t</a:t>
            </a:r>
            <a:r>
              <a:rPr sz="2800" spc="-25" dirty="0">
                <a:latin typeface="Calibri" panose="020F0502020204030204"/>
                <a:cs typeface="Calibri" panose="020F0502020204030204"/>
              </a:rPr>
              <a:t>hm</a:t>
            </a:r>
            <a:endParaRPr sz="2800">
              <a:latin typeface="Calibri" panose="020F0502020204030204"/>
              <a:cs typeface="Calibri" panose="020F0502020204030204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6451091" y="1562100"/>
            <a:ext cx="2350135" cy="3594100"/>
            <a:chOff x="6451091" y="1562100"/>
            <a:chExt cx="2350135" cy="3594100"/>
          </a:xfrm>
        </p:grpSpPr>
        <p:pic>
          <p:nvPicPr>
            <p:cNvPr id="11" name="object 1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451091" y="1562100"/>
              <a:ext cx="2350007" cy="3593592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489191" y="1575816"/>
              <a:ext cx="2273808" cy="3521963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6489191" y="1575816"/>
              <a:ext cx="2273935" cy="3522345"/>
            </a:xfrm>
            <a:custGeom>
              <a:avLst/>
              <a:gdLst/>
              <a:ahLst/>
              <a:cxnLst/>
              <a:rect l="l" t="t" r="r" b="b"/>
              <a:pathLst>
                <a:path w="2273934" h="3522345">
                  <a:moveTo>
                    <a:pt x="0" y="378968"/>
                  </a:moveTo>
                  <a:lnTo>
                    <a:pt x="2921" y="331343"/>
                  </a:lnTo>
                  <a:lnTo>
                    <a:pt x="11557" y="285623"/>
                  </a:lnTo>
                  <a:lnTo>
                    <a:pt x="25527" y="241935"/>
                  </a:lnTo>
                  <a:lnTo>
                    <a:pt x="44323" y="200787"/>
                  </a:lnTo>
                  <a:lnTo>
                    <a:pt x="67817" y="162433"/>
                  </a:lnTo>
                  <a:lnTo>
                    <a:pt x="95631" y="127254"/>
                  </a:lnTo>
                  <a:lnTo>
                    <a:pt x="127254" y="95631"/>
                  </a:lnTo>
                  <a:lnTo>
                    <a:pt x="162433" y="67945"/>
                  </a:lnTo>
                  <a:lnTo>
                    <a:pt x="200787" y="44450"/>
                  </a:lnTo>
                  <a:lnTo>
                    <a:pt x="241935" y="25526"/>
                  </a:lnTo>
                  <a:lnTo>
                    <a:pt x="285623" y="11557"/>
                  </a:lnTo>
                  <a:lnTo>
                    <a:pt x="331342" y="2921"/>
                  </a:lnTo>
                  <a:lnTo>
                    <a:pt x="378967" y="0"/>
                  </a:lnTo>
                  <a:lnTo>
                    <a:pt x="1894586" y="0"/>
                  </a:lnTo>
                  <a:lnTo>
                    <a:pt x="1942211" y="2921"/>
                  </a:lnTo>
                  <a:lnTo>
                    <a:pt x="1987931" y="11557"/>
                  </a:lnTo>
                  <a:lnTo>
                    <a:pt x="2031491" y="25526"/>
                  </a:lnTo>
                  <a:lnTo>
                    <a:pt x="2072766" y="44450"/>
                  </a:lnTo>
                  <a:lnTo>
                    <a:pt x="2111121" y="67945"/>
                  </a:lnTo>
                  <a:lnTo>
                    <a:pt x="2146300" y="95631"/>
                  </a:lnTo>
                  <a:lnTo>
                    <a:pt x="2177923" y="127254"/>
                  </a:lnTo>
                  <a:lnTo>
                    <a:pt x="2205609" y="162433"/>
                  </a:lnTo>
                  <a:lnTo>
                    <a:pt x="2229104" y="200787"/>
                  </a:lnTo>
                  <a:lnTo>
                    <a:pt x="2248027" y="241935"/>
                  </a:lnTo>
                  <a:lnTo>
                    <a:pt x="2261997" y="285623"/>
                  </a:lnTo>
                  <a:lnTo>
                    <a:pt x="2270633" y="331343"/>
                  </a:lnTo>
                  <a:lnTo>
                    <a:pt x="2273554" y="378968"/>
                  </a:lnTo>
                  <a:lnTo>
                    <a:pt x="2273554" y="3142996"/>
                  </a:lnTo>
                  <a:lnTo>
                    <a:pt x="2270633" y="3190494"/>
                  </a:lnTo>
                  <a:lnTo>
                    <a:pt x="2261997" y="3236341"/>
                  </a:lnTo>
                  <a:lnTo>
                    <a:pt x="2248027" y="3279902"/>
                  </a:lnTo>
                  <a:lnTo>
                    <a:pt x="2229104" y="3321177"/>
                  </a:lnTo>
                  <a:lnTo>
                    <a:pt x="2205609" y="3359531"/>
                  </a:lnTo>
                  <a:lnTo>
                    <a:pt x="2177923" y="3394710"/>
                  </a:lnTo>
                  <a:lnTo>
                    <a:pt x="2146300" y="3426333"/>
                  </a:lnTo>
                  <a:lnTo>
                    <a:pt x="2111121" y="3454019"/>
                  </a:lnTo>
                  <a:lnTo>
                    <a:pt x="2072766" y="3477514"/>
                  </a:lnTo>
                  <a:lnTo>
                    <a:pt x="2031491" y="3496437"/>
                  </a:lnTo>
                  <a:lnTo>
                    <a:pt x="1987931" y="3510407"/>
                  </a:lnTo>
                  <a:lnTo>
                    <a:pt x="1942211" y="3519043"/>
                  </a:lnTo>
                  <a:lnTo>
                    <a:pt x="1894586" y="3521964"/>
                  </a:lnTo>
                  <a:lnTo>
                    <a:pt x="378967" y="3521964"/>
                  </a:lnTo>
                  <a:lnTo>
                    <a:pt x="331342" y="3519043"/>
                  </a:lnTo>
                  <a:lnTo>
                    <a:pt x="285623" y="3510407"/>
                  </a:lnTo>
                  <a:lnTo>
                    <a:pt x="241935" y="3496437"/>
                  </a:lnTo>
                  <a:lnTo>
                    <a:pt x="200787" y="3477514"/>
                  </a:lnTo>
                  <a:lnTo>
                    <a:pt x="162433" y="3454019"/>
                  </a:lnTo>
                  <a:lnTo>
                    <a:pt x="127254" y="3426333"/>
                  </a:lnTo>
                  <a:lnTo>
                    <a:pt x="95631" y="3394710"/>
                  </a:lnTo>
                  <a:lnTo>
                    <a:pt x="67817" y="3359531"/>
                  </a:lnTo>
                  <a:lnTo>
                    <a:pt x="44323" y="3321177"/>
                  </a:lnTo>
                  <a:lnTo>
                    <a:pt x="25527" y="3279902"/>
                  </a:lnTo>
                  <a:lnTo>
                    <a:pt x="11557" y="3236341"/>
                  </a:lnTo>
                  <a:lnTo>
                    <a:pt x="2921" y="3190494"/>
                  </a:lnTo>
                  <a:lnTo>
                    <a:pt x="0" y="3142996"/>
                  </a:lnTo>
                  <a:lnTo>
                    <a:pt x="0" y="378968"/>
                  </a:lnTo>
                  <a:close/>
                </a:path>
              </a:pathLst>
            </a:custGeom>
            <a:ln w="9523">
              <a:solidFill>
                <a:srgbClr val="355F9B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4" name="object 14"/>
          <p:cNvSpPr txBox="1"/>
          <p:nvPr/>
        </p:nvSpPr>
        <p:spPr>
          <a:xfrm>
            <a:off x="7046721" y="1675002"/>
            <a:ext cx="114300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45" dirty="0">
                <a:latin typeface="Calibri" panose="020F0502020204030204"/>
                <a:cs typeface="Calibri" panose="020F0502020204030204"/>
              </a:rPr>
              <a:t>Clusters</a:t>
            </a:r>
            <a:endParaRPr sz="28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304800" y="2180844"/>
            <a:ext cx="2247900" cy="304800"/>
          </a:xfrm>
          <a:prstGeom prst="rect">
            <a:avLst/>
          </a:prstGeom>
          <a:solidFill>
            <a:srgbClr val="8F8F8F">
              <a:alpha val="14901"/>
            </a:srgbClr>
          </a:solidFill>
        </p:spPr>
        <p:txBody>
          <a:bodyPr vert="horz" wrap="square" lIns="0" tIns="0" rIns="0" bIns="0" rtlCol="0">
            <a:spAutoFit/>
          </a:bodyPr>
          <a:lstStyle/>
          <a:p>
            <a:pPr marL="2540" algn="ctr">
              <a:lnSpc>
                <a:spcPts val="2045"/>
              </a:lnSpc>
            </a:pPr>
            <a:r>
              <a:rPr sz="180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Input1</a:t>
            </a:r>
            <a:endParaRPr sz="18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313943" y="2592323"/>
            <a:ext cx="2247900" cy="304800"/>
          </a:xfrm>
          <a:prstGeom prst="rect">
            <a:avLst/>
          </a:prstGeom>
          <a:solidFill>
            <a:srgbClr val="8F8F8F">
              <a:alpha val="14901"/>
            </a:srgbClr>
          </a:solidFill>
        </p:spPr>
        <p:txBody>
          <a:bodyPr vert="horz" wrap="square" lIns="0" tIns="0" rIns="0" bIns="0" rtlCol="0">
            <a:spAutoFit/>
          </a:bodyPr>
          <a:lstStyle/>
          <a:p>
            <a:pPr marL="1270" algn="ctr">
              <a:lnSpc>
                <a:spcPts val="2050"/>
              </a:lnSpc>
            </a:pPr>
            <a:r>
              <a:rPr sz="180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Input2</a:t>
            </a:r>
            <a:endParaRPr sz="18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286511" y="3015995"/>
            <a:ext cx="2247900" cy="304800"/>
          </a:xfrm>
          <a:prstGeom prst="rect">
            <a:avLst/>
          </a:prstGeom>
          <a:solidFill>
            <a:srgbClr val="8F8F8F">
              <a:alpha val="14901"/>
            </a:srgbClr>
          </a:solidFill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2050"/>
              </a:lnSpc>
            </a:pPr>
            <a:r>
              <a:rPr sz="180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Input3</a:t>
            </a:r>
            <a:endParaRPr sz="18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286511" y="4419600"/>
            <a:ext cx="2247900" cy="304800"/>
          </a:xfrm>
          <a:prstGeom prst="rect">
            <a:avLst/>
          </a:prstGeom>
          <a:solidFill>
            <a:srgbClr val="8F8F8F">
              <a:alpha val="14901"/>
            </a:srgbClr>
          </a:solidFill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2050"/>
              </a:lnSpc>
            </a:pPr>
            <a:r>
              <a:rPr sz="1800" spc="-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Input-n</a:t>
            </a:r>
            <a:endParaRPr sz="1800">
              <a:latin typeface="Calibri" panose="020F0502020204030204"/>
              <a:cs typeface="Calibri" panose="020F0502020204030204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2633472" y="2328672"/>
            <a:ext cx="5535295" cy="2353310"/>
            <a:chOff x="2633472" y="2328672"/>
            <a:chExt cx="5535295" cy="2353310"/>
          </a:xfrm>
        </p:grpSpPr>
        <p:pic>
          <p:nvPicPr>
            <p:cNvPr id="20" name="object 2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633472" y="3131820"/>
              <a:ext cx="931163" cy="425196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183127" y="3302635"/>
              <a:ext cx="169163" cy="107695"/>
            </a:xfrm>
            <a:prstGeom prst="rect">
              <a:avLst/>
            </a:prstGeom>
          </p:spPr>
        </p:pic>
        <p:sp>
          <p:nvSpPr>
            <p:cNvPr id="22" name="object 22"/>
            <p:cNvSpPr/>
            <p:nvPr/>
          </p:nvSpPr>
          <p:spPr>
            <a:xfrm>
              <a:off x="2676144" y="3304286"/>
              <a:ext cx="600710" cy="52069"/>
            </a:xfrm>
            <a:custGeom>
              <a:avLst/>
              <a:gdLst/>
              <a:ahLst/>
              <a:cxnLst/>
              <a:rect l="l" t="t" r="r" b="b"/>
              <a:pathLst>
                <a:path w="600710" h="52070">
                  <a:moveTo>
                    <a:pt x="567817" y="0"/>
                  </a:moveTo>
                  <a:lnTo>
                    <a:pt x="0" y="13462"/>
                  </a:lnTo>
                  <a:lnTo>
                    <a:pt x="888" y="51562"/>
                  </a:lnTo>
                  <a:lnTo>
                    <a:pt x="568325" y="38353"/>
                  </a:lnTo>
                  <a:lnTo>
                    <a:pt x="600582" y="18287"/>
                  </a:lnTo>
                  <a:lnTo>
                    <a:pt x="567817" y="0"/>
                  </a:lnTo>
                  <a:close/>
                </a:path>
              </a:pathLst>
            </a:custGeom>
            <a:solidFill>
              <a:srgbClr val="7B3A48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3" name="object 23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3179952" y="3238500"/>
              <a:ext cx="139573" cy="104139"/>
            </a:xfrm>
            <a:prstGeom prst="rect">
              <a:avLst/>
            </a:prstGeom>
          </p:spPr>
        </p:pic>
        <p:pic>
          <p:nvPicPr>
            <p:cNvPr id="24" name="object 24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5824727" y="3147060"/>
              <a:ext cx="877824" cy="425196"/>
            </a:xfrm>
            <a:prstGeom prst="rect">
              <a:avLst/>
            </a:prstGeom>
          </p:spPr>
        </p:pic>
        <p:pic>
          <p:nvPicPr>
            <p:cNvPr id="25" name="object 25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6317614" y="3247644"/>
              <a:ext cx="172720" cy="171830"/>
            </a:xfrm>
            <a:prstGeom prst="rect">
              <a:avLst/>
            </a:prstGeom>
          </p:spPr>
        </p:pic>
        <p:sp>
          <p:nvSpPr>
            <p:cNvPr id="26" name="object 26"/>
            <p:cNvSpPr/>
            <p:nvPr/>
          </p:nvSpPr>
          <p:spPr>
            <a:xfrm>
              <a:off x="5867400" y="3302380"/>
              <a:ext cx="586105" cy="51435"/>
            </a:xfrm>
            <a:custGeom>
              <a:avLst/>
              <a:gdLst/>
              <a:ahLst/>
              <a:cxnLst/>
              <a:rect l="l" t="t" r="r" b="b"/>
              <a:pathLst>
                <a:path w="586104" h="51435">
                  <a:moveTo>
                    <a:pt x="585597" y="14859"/>
                  </a:moveTo>
                  <a:lnTo>
                    <a:pt x="515112" y="13081"/>
                  </a:lnTo>
                  <a:lnTo>
                    <a:pt x="1016" y="0"/>
                  </a:lnTo>
                  <a:lnTo>
                    <a:pt x="0" y="38227"/>
                  </a:lnTo>
                  <a:lnTo>
                    <a:pt x="514096" y="51435"/>
                  </a:lnTo>
                  <a:lnTo>
                    <a:pt x="547243" y="33020"/>
                  </a:lnTo>
                  <a:lnTo>
                    <a:pt x="575056" y="50419"/>
                  </a:lnTo>
                  <a:lnTo>
                    <a:pt x="584708" y="50419"/>
                  </a:lnTo>
                  <a:lnTo>
                    <a:pt x="585597" y="17145"/>
                  </a:lnTo>
                  <a:lnTo>
                    <a:pt x="585597" y="14859"/>
                  </a:lnTo>
                  <a:close/>
                </a:path>
              </a:pathLst>
            </a:custGeom>
            <a:solidFill>
              <a:srgbClr val="7B3A48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7" name="object 27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7083551" y="2328672"/>
              <a:ext cx="1085088" cy="566927"/>
            </a:xfrm>
            <a:prstGeom prst="rect">
              <a:avLst/>
            </a:prstGeom>
          </p:spPr>
        </p:pic>
        <p:pic>
          <p:nvPicPr>
            <p:cNvPr id="28" name="object 28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7130795" y="2356104"/>
              <a:ext cx="990600" cy="470915"/>
            </a:xfrm>
            <a:prstGeom prst="rect">
              <a:avLst/>
            </a:prstGeom>
          </p:spPr>
        </p:pic>
        <p:sp>
          <p:nvSpPr>
            <p:cNvPr id="29" name="object 29"/>
            <p:cNvSpPr/>
            <p:nvPr/>
          </p:nvSpPr>
          <p:spPr>
            <a:xfrm>
              <a:off x="7130795" y="2356104"/>
              <a:ext cx="990600" cy="472440"/>
            </a:xfrm>
            <a:custGeom>
              <a:avLst/>
              <a:gdLst/>
              <a:ahLst/>
              <a:cxnLst/>
              <a:rect l="l" t="t" r="r" b="b"/>
              <a:pathLst>
                <a:path w="990600" h="472439">
                  <a:moveTo>
                    <a:pt x="0" y="80518"/>
                  </a:moveTo>
                  <a:lnTo>
                    <a:pt x="852804" y="80518"/>
                  </a:lnTo>
                  <a:lnTo>
                    <a:pt x="852804" y="394716"/>
                  </a:lnTo>
                  <a:lnTo>
                    <a:pt x="788924" y="395732"/>
                  </a:lnTo>
                  <a:lnTo>
                    <a:pt x="731393" y="398399"/>
                  </a:lnTo>
                  <a:lnTo>
                    <a:pt x="679323" y="402590"/>
                  </a:lnTo>
                  <a:lnTo>
                    <a:pt x="632205" y="407924"/>
                  </a:lnTo>
                  <a:lnTo>
                    <a:pt x="589279" y="414274"/>
                  </a:lnTo>
                  <a:lnTo>
                    <a:pt x="549528" y="421386"/>
                  </a:lnTo>
                  <a:lnTo>
                    <a:pt x="477393" y="436372"/>
                  </a:lnTo>
                  <a:lnTo>
                    <a:pt x="443229" y="443992"/>
                  </a:lnTo>
                  <a:lnTo>
                    <a:pt x="409575" y="451104"/>
                  </a:lnTo>
                  <a:lnTo>
                    <a:pt x="340359" y="463169"/>
                  </a:lnTo>
                  <a:lnTo>
                    <a:pt x="263651" y="470662"/>
                  </a:lnTo>
                  <a:lnTo>
                    <a:pt x="220599" y="472059"/>
                  </a:lnTo>
                  <a:lnTo>
                    <a:pt x="173481" y="471424"/>
                  </a:lnTo>
                  <a:lnTo>
                    <a:pt x="121538" y="468630"/>
                  </a:lnTo>
                  <a:lnTo>
                    <a:pt x="63880" y="463296"/>
                  </a:lnTo>
                  <a:lnTo>
                    <a:pt x="0" y="455168"/>
                  </a:lnTo>
                  <a:lnTo>
                    <a:pt x="0" y="80518"/>
                  </a:lnTo>
                  <a:close/>
                </a:path>
                <a:path w="990600" h="472439">
                  <a:moveTo>
                    <a:pt x="70230" y="80518"/>
                  </a:moveTo>
                  <a:lnTo>
                    <a:pt x="70230" y="39750"/>
                  </a:lnTo>
                  <a:lnTo>
                    <a:pt x="917194" y="39750"/>
                  </a:lnTo>
                  <a:lnTo>
                    <a:pt x="917194" y="355854"/>
                  </a:lnTo>
                  <a:lnTo>
                    <a:pt x="893572" y="356235"/>
                  </a:lnTo>
                  <a:lnTo>
                    <a:pt x="872998" y="356997"/>
                  </a:lnTo>
                  <a:lnTo>
                    <a:pt x="858393" y="357759"/>
                  </a:lnTo>
                  <a:lnTo>
                    <a:pt x="852804" y="358140"/>
                  </a:lnTo>
                </a:path>
                <a:path w="990600" h="472439">
                  <a:moveTo>
                    <a:pt x="136271" y="39750"/>
                  </a:moveTo>
                  <a:lnTo>
                    <a:pt x="136271" y="0"/>
                  </a:lnTo>
                  <a:lnTo>
                    <a:pt x="990600" y="0"/>
                  </a:lnTo>
                  <a:lnTo>
                    <a:pt x="990600" y="315213"/>
                  </a:lnTo>
                  <a:lnTo>
                    <a:pt x="963676" y="315468"/>
                  </a:lnTo>
                  <a:lnTo>
                    <a:pt x="940053" y="316103"/>
                  </a:lnTo>
                  <a:lnTo>
                    <a:pt x="923544" y="316611"/>
                  </a:lnTo>
                  <a:lnTo>
                    <a:pt x="917194" y="316865"/>
                  </a:lnTo>
                </a:path>
              </a:pathLst>
            </a:custGeom>
            <a:ln w="9523">
              <a:solidFill>
                <a:srgbClr val="DA1721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30" name="object 30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6886956" y="3261360"/>
              <a:ext cx="1085088" cy="566927"/>
            </a:xfrm>
            <a:prstGeom prst="rect">
              <a:avLst/>
            </a:prstGeom>
          </p:spPr>
        </p:pic>
        <p:pic>
          <p:nvPicPr>
            <p:cNvPr id="31" name="object 31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6934200" y="3288791"/>
              <a:ext cx="990600" cy="472440"/>
            </a:xfrm>
            <a:prstGeom prst="rect">
              <a:avLst/>
            </a:prstGeom>
          </p:spPr>
        </p:pic>
        <p:sp>
          <p:nvSpPr>
            <p:cNvPr id="32" name="object 32"/>
            <p:cNvSpPr/>
            <p:nvPr/>
          </p:nvSpPr>
          <p:spPr>
            <a:xfrm>
              <a:off x="6934200" y="3288791"/>
              <a:ext cx="990600" cy="472440"/>
            </a:xfrm>
            <a:custGeom>
              <a:avLst/>
              <a:gdLst/>
              <a:ahLst/>
              <a:cxnLst/>
              <a:rect l="l" t="t" r="r" b="b"/>
              <a:pathLst>
                <a:path w="990600" h="472439">
                  <a:moveTo>
                    <a:pt x="0" y="80518"/>
                  </a:moveTo>
                  <a:lnTo>
                    <a:pt x="852804" y="80518"/>
                  </a:lnTo>
                  <a:lnTo>
                    <a:pt x="852804" y="394716"/>
                  </a:lnTo>
                  <a:lnTo>
                    <a:pt x="788924" y="395732"/>
                  </a:lnTo>
                  <a:lnTo>
                    <a:pt x="731393" y="398399"/>
                  </a:lnTo>
                  <a:lnTo>
                    <a:pt x="679323" y="402590"/>
                  </a:lnTo>
                  <a:lnTo>
                    <a:pt x="632332" y="407924"/>
                  </a:lnTo>
                  <a:lnTo>
                    <a:pt x="589279" y="414274"/>
                  </a:lnTo>
                  <a:lnTo>
                    <a:pt x="549655" y="421386"/>
                  </a:lnTo>
                  <a:lnTo>
                    <a:pt x="477393" y="436499"/>
                  </a:lnTo>
                  <a:lnTo>
                    <a:pt x="443356" y="443992"/>
                  </a:lnTo>
                  <a:lnTo>
                    <a:pt x="409575" y="451104"/>
                  </a:lnTo>
                  <a:lnTo>
                    <a:pt x="340359" y="463296"/>
                  </a:lnTo>
                  <a:lnTo>
                    <a:pt x="263651" y="470662"/>
                  </a:lnTo>
                  <a:lnTo>
                    <a:pt x="220599" y="472059"/>
                  </a:lnTo>
                  <a:lnTo>
                    <a:pt x="173481" y="471424"/>
                  </a:lnTo>
                  <a:lnTo>
                    <a:pt x="121539" y="468630"/>
                  </a:lnTo>
                  <a:lnTo>
                    <a:pt x="63880" y="463296"/>
                  </a:lnTo>
                  <a:lnTo>
                    <a:pt x="0" y="455168"/>
                  </a:lnTo>
                  <a:lnTo>
                    <a:pt x="0" y="80518"/>
                  </a:lnTo>
                  <a:close/>
                </a:path>
                <a:path w="990600" h="472439">
                  <a:moveTo>
                    <a:pt x="70230" y="80518"/>
                  </a:moveTo>
                  <a:lnTo>
                    <a:pt x="70230" y="39750"/>
                  </a:lnTo>
                  <a:lnTo>
                    <a:pt x="917194" y="39750"/>
                  </a:lnTo>
                  <a:lnTo>
                    <a:pt x="917194" y="355981"/>
                  </a:lnTo>
                  <a:lnTo>
                    <a:pt x="893572" y="356362"/>
                  </a:lnTo>
                  <a:lnTo>
                    <a:pt x="872998" y="356997"/>
                  </a:lnTo>
                  <a:lnTo>
                    <a:pt x="858393" y="357759"/>
                  </a:lnTo>
                  <a:lnTo>
                    <a:pt x="852804" y="358140"/>
                  </a:lnTo>
                </a:path>
                <a:path w="990600" h="472439">
                  <a:moveTo>
                    <a:pt x="136271" y="39750"/>
                  </a:moveTo>
                  <a:lnTo>
                    <a:pt x="136271" y="0"/>
                  </a:lnTo>
                  <a:lnTo>
                    <a:pt x="990600" y="0"/>
                  </a:lnTo>
                  <a:lnTo>
                    <a:pt x="990600" y="315213"/>
                  </a:lnTo>
                  <a:lnTo>
                    <a:pt x="963676" y="315468"/>
                  </a:lnTo>
                  <a:lnTo>
                    <a:pt x="940180" y="316103"/>
                  </a:lnTo>
                  <a:lnTo>
                    <a:pt x="923544" y="316611"/>
                  </a:lnTo>
                  <a:lnTo>
                    <a:pt x="917194" y="316865"/>
                  </a:lnTo>
                </a:path>
              </a:pathLst>
            </a:custGeom>
            <a:ln w="952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33" name="object 33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7083551" y="4114800"/>
              <a:ext cx="1085088" cy="566927"/>
            </a:xfrm>
            <a:prstGeom prst="rect">
              <a:avLst/>
            </a:prstGeom>
          </p:spPr>
        </p:pic>
        <p:pic>
          <p:nvPicPr>
            <p:cNvPr id="34" name="object 34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7130795" y="4142232"/>
              <a:ext cx="990600" cy="472439"/>
            </a:xfrm>
            <a:prstGeom prst="rect">
              <a:avLst/>
            </a:prstGeom>
          </p:spPr>
        </p:pic>
        <p:sp>
          <p:nvSpPr>
            <p:cNvPr id="35" name="object 35"/>
            <p:cNvSpPr/>
            <p:nvPr/>
          </p:nvSpPr>
          <p:spPr>
            <a:xfrm>
              <a:off x="7130795" y="4142232"/>
              <a:ext cx="990600" cy="472440"/>
            </a:xfrm>
            <a:custGeom>
              <a:avLst/>
              <a:gdLst/>
              <a:ahLst/>
              <a:cxnLst/>
              <a:rect l="l" t="t" r="r" b="b"/>
              <a:pathLst>
                <a:path w="990600" h="472439">
                  <a:moveTo>
                    <a:pt x="0" y="80391"/>
                  </a:moveTo>
                  <a:lnTo>
                    <a:pt x="852804" y="80391"/>
                  </a:lnTo>
                  <a:lnTo>
                    <a:pt x="852804" y="394589"/>
                  </a:lnTo>
                  <a:lnTo>
                    <a:pt x="788924" y="395605"/>
                  </a:lnTo>
                  <a:lnTo>
                    <a:pt x="731393" y="398272"/>
                  </a:lnTo>
                  <a:lnTo>
                    <a:pt x="679323" y="402463"/>
                  </a:lnTo>
                  <a:lnTo>
                    <a:pt x="632205" y="407797"/>
                  </a:lnTo>
                  <a:lnTo>
                    <a:pt x="589279" y="414147"/>
                  </a:lnTo>
                  <a:lnTo>
                    <a:pt x="549528" y="421259"/>
                  </a:lnTo>
                  <a:lnTo>
                    <a:pt x="477393" y="436372"/>
                  </a:lnTo>
                  <a:lnTo>
                    <a:pt x="443229" y="443865"/>
                  </a:lnTo>
                  <a:lnTo>
                    <a:pt x="409575" y="450977"/>
                  </a:lnTo>
                  <a:lnTo>
                    <a:pt x="340359" y="463169"/>
                  </a:lnTo>
                  <a:lnTo>
                    <a:pt x="263651" y="470662"/>
                  </a:lnTo>
                  <a:lnTo>
                    <a:pt x="220599" y="471932"/>
                  </a:lnTo>
                  <a:lnTo>
                    <a:pt x="173481" y="471297"/>
                  </a:lnTo>
                  <a:lnTo>
                    <a:pt x="121538" y="468503"/>
                  </a:lnTo>
                  <a:lnTo>
                    <a:pt x="63880" y="463169"/>
                  </a:lnTo>
                  <a:lnTo>
                    <a:pt x="0" y="455041"/>
                  </a:lnTo>
                  <a:lnTo>
                    <a:pt x="0" y="80391"/>
                  </a:lnTo>
                  <a:close/>
                </a:path>
                <a:path w="990600" h="472439">
                  <a:moveTo>
                    <a:pt x="70230" y="80391"/>
                  </a:moveTo>
                  <a:lnTo>
                    <a:pt x="70230" y="39751"/>
                  </a:lnTo>
                  <a:lnTo>
                    <a:pt x="917194" y="39751"/>
                  </a:lnTo>
                  <a:lnTo>
                    <a:pt x="917194" y="355854"/>
                  </a:lnTo>
                  <a:lnTo>
                    <a:pt x="893572" y="356235"/>
                  </a:lnTo>
                  <a:lnTo>
                    <a:pt x="872998" y="356997"/>
                  </a:lnTo>
                  <a:lnTo>
                    <a:pt x="858393" y="357632"/>
                  </a:lnTo>
                  <a:lnTo>
                    <a:pt x="852804" y="358013"/>
                  </a:lnTo>
                </a:path>
                <a:path w="990600" h="472439">
                  <a:moveTo>
                    <a:pt x="136271" y="39751"/>
                  </a:moveTo>
                  <a:lnTo>
                    <a:pt x="136271" y="0"/>
                  </a:lnTo>
                  <a:lnTo>
                    <a:pt x="990600" y="0"/>
                  </a:lnTo>
                  <a:lnTo>
                    <a:pt x="990600" y="315087"/>
                  </a:lnTo>
                  <a:lnTo>
                    <a:pt x="963676" y="315341"/>
                  </a:lnTo>
                  <a:lnTo>
                    <a:pt x="940053" y="315976"/>
                  </a:lnTo>
                  <a:lnTo>
                    <a:pt x="923544" y="316484"/>
                  </a:lnTo>
                  <a:lnTo>
                    <a:pt x="917194" y="316738"/>
                  </a:lnTo>
                </a:path>
              </a:pathLst>
            </a:custGeom>
            <a:ln w="9523">
              <a:solidFill>
                <a:srgbClr val="444676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6" name="object 36"/>
          <p:cNvSpPr txBox="1"/>
          <p:nvPr/>
        </p:nvSpPr>
        <p:spPr>
          <a:xfrm>
            <a:off x="1340611" y="1580210"/>
            <a:ext cx="184150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Calibri" panose="020F0502020204030204"/>
                <a:cs typeface="Calibri" panose="020F0502020204030204"/>
              </a:rPr>
              <a:t>X</a:t>
            </a:r>
            <a:endParaRPr sz="2400">
              <a:latin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1613535" marR="5080" indent="-1187450">
              <a:lnSpc>
                <a:spcPts val="4750"/>
              </a:lnSpc>
              <a:spcBef>
                <a:spcPts val="700"/>
              </a:spcBef>
            </a:pPr>
            <a:r>
              <a:rPr sz="4400" b="1" spc="-15" dirty="0">
                <a:solidFill>
                  <a:srgbClr val="2E5496"/>
                </a:solidFill>
                <a:latin typeface="Calibri" panose="020F0502020204030204"/>
                <a:cs typeface="Calibri" panose="020F0502020204030204"/>
              </a:rPr>
              <a:t>most</a:t>
            </a:r>
            <a:r>
              <a:rPr sz="4400" b="1" spc="-50" dirty="0">
                <a:solidFill>
                  <a:srgbClr val="2E5496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4400" b="1" spc="-10" dirty="0">
                <a:solidFill>
                  <a:srgbClr val="2E5496"/>
                </a:solidFill>
                <a:latin typeface="Calibri" panose="020F0502020204030204"/>
                <a:cs typeface="Calibri" panose="020F0502020204030204"/>
              </a:rPr>
              <a:t>important</a:t>
            </a:r>
            <a:r>
              <a:rPr sz="4400" b="1" spc="-50" dirty="0">
                <a:solidFill>
                  <a:srgbClr val="2E5496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4400" b="1" dirty="0">
                <a:solidFill>
                  <a:srgbClr val="2E5496"/>
                </a:solidFill>
                <a:latin typeface="Calibri" panose="020F0502020204030204"/>
                <a:cs typeface="Calibri" panose="020F0502020204030204"/>
              </a:rPr>
              <a:t>unsupervised </a:t>
            </a:r>
            <a:r>
              <a:rPr sz="4400" b="1" spc="-980" dirty="0">
                <a:solidFill>
                  <a:srgbClr val="2E5496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4400" b="1" dirty="0">
                <a:solidFill>
                  <a:srgbClr val="2E5496"/>
                </a:solidFill>
                <a:latin typeface="Calibri" panose="020F0502020204030204"/>
                <a:cs typeface="Calibri" panose="020F0502020204030204"/>
              </a:rPr>
              <a:t>learning</a:t>
            </a:r>
            <a:r>
              <a:rPr sz="4400" b="1" spc="-20" dirty="0">
                <a:solidFill>
                  <a:srgbClr val="2E5496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4400" b="1" spc="-5" dirty="0">
                <a:solidFill>
                  <a:srgbClr val="2E5496"/>
                </a:solidFill>
                <a:latin typeface="Calibri" panose="020F0502020204030204"/>
                <a:cs typeface="Calibri" panose="020F0502020204030204"/>
              </a:rPr>
              <a:t>algorithms</a:t>
            </a:r>
            <a:endParaRPr sz="44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222044" y="1748383"/>
            <a:ext cx="4798695" cy="4659630"/>
          </a:xfrm>
          <a:prstGeom prst="rect">
            <a:avLst/>
          </a:prstGeom>
        </p:spPr>
        <p:txBody>
          <a:bodyPr vert="horz" wrap="square" lIns="0" tIns="628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95"/>
              </a:spcBef>
            </a:pPr>
            <a:r>
              <a:rPr sz="1700" b="1" spc="-1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Clustering</a:t>
            </a:r>
            <a:endParaRPr sz="1700">
              <a:latin typeface="Calibri" panose="020F0502020204030204"/>
              <a:cs typeface="Calibri" panose="020F0502020204030204"/>
            </a:endParaRPr>
          </a:p>
          <a:p>
            <a:pPr marL="184785" indent="-172720">
              <a:lnSpc>
                <a:spcPct val="100000"/>
              </a:lnSpc>
              <a:spcBef>
                <a:spcPts val="395"/>
              </a:spcBef>
              <a:buFont typeface="Arial MT"/>
              <a:buChar char="•"/>
              <a:tabLst>
                <a:tab pos="185420" algn="l"/>
              </a:tabLst>
            </a:pPr>
            <a:r>
              <a:rPr sz="1700" dirty="0">
                <a:latin typeface="Calibri" panose="020F0502020204030204"/>
                <a:cs typeface="Calibri" panose="020F0502020204030204"/>
              </a:rPr>
              <a:t>K-Means</a:t>
            </a:r>
            <a:endParaRPr sz="1700">
              <a:latin typeface="Calibri" panose="020F0502020204030204"/>
              <a:cs typeface="Calibri" panose="020F0502020204030204"/>
            </a:endParaRPr>
          </a:p>
          <a:p>
            <a:pPr marL="184785" indent="-172720">
              <a:lnSpc>
                <a:spcPct val="100000"/>
              </a:lnSpc>
              <a:spcBef>
                <a:spcPts val="385"/>
              </a:spcBef>
              <a:buFont typeface="Arial MT"/>
              <a:buChar char="•"/>
              <a:tabLst>
                <a:tab pos="185420" algn="l"/>
              </a:tabLst>
            </a:pPr>
            <a:r>
              <a:rPr sz="1700" spc="-5" dirty="0">
                <a:latin typeface="Calibri" panose="020F0502020204030204"/>
                <a:cs typeface="Calibri" panose="020F0502020204030204"/>
              </a:rPr>
              <a:t>DBSCAN</a:t>
            </a:r>
            <a:endParaRPr sz="1700">
              <a:latin typeface="Calibri" panose="020F0502020204030204"/>
              <a:cs typeface="Calibri" panose="020F0502020204030204"/>
            </a:endParaRPr>
          </a:p>
          <a:p>
            <a:pPr marL="184785" indent="-172720">
              <a:lnSpc>
                <a:spcPct val="100000"/>
              </a:lnSpc>
              <a:spcBef>
                <a:spcPts val="400"/>
              </a:spcBef>
              <a:buFont typeface="Arial MT"/>
              <a:buChar char="•"/>
              <a:tabLst>
                <a:tab pos="185420" algn="l"/>
              </a:tabLst>
            </a:pPr>
            <a:r>
              <a:rPr sz="1700" spc="-5" dirty="0">
                <a:latin typeface="Calibri" panose="020F0502020204030204"/>
                <a:cs typeface="Calibri" panose="020F0502020204030204"/>
              </a:rPr>
              <a:t>Hierarchical</a:t>
            </a:r>
            <a:r>
              <a:rPr sz="1700" spc="-70" dirty="0">
                <a:latin typeface="Calibri" panose="020F0502020204030204"/>
                <a:cs typeface="Calibri" panose="020F0502020204030204"/>
              </a:rPr>
              <a:t> </a:t>
            </a:r>
            <a:r>
              <a:rPr sz="1700" spc="-5" dirty="0">
                <a:latin typeface="Calibri" panose="020F0502020204030204"/>
                <a:cs typeface="Calibri" panose="020F0502020204030204"/>
              </a:rPr>
              <a:t>Cluster</a:t>
            </a:r>
            <a:r>
              <a:rPr sz="1700" spc="-40" dirty="0">
                <a:latin typeface="Calibri" panose="020F0502020204030204"/>
                <a:cs typeface="Calibri" panose="020F0502020204030204"/>
              </a:rPr>
              <a:t> </a:t>
            </a:r>
            <a:r>
              <a:rPr sz="1700" dirty="0">
                <a:latin typeface="Calibri" panose="020F0502020204030204"/>
                <a:cs typeface="Calibri" panose="020F0502020204030204"/>
              </a:rPr>
              <a:t>Analysis</a:t>
            </a:r>
            <a:r>
              <a:rPr sz="1700" spc="-55" dirty="0">
                <a:latin typeface="Calibri" panose="020F0502020204030204"/>
                <a:cs typeface="Calibri" panose="020F0502020204030204"/>
              </a:rPr>
              <a:t> </a:t>
            </a:r>
            <a:r>
              <a:rPr sz="1700" spc="-5" dirty="0">
                <a:latin typeface="Calibri" panose="020F0502020204030204"/>
                <a:cs typeface="Calibri" panose="020F0502020204030204"/>
              </a:rPr>
              <a:t>(HCA)</a:t>
            </a:r>
            <a:endParaRPr sz="1700">
              <a:latin typeface="Calibri" panose="020F0502020204030204"/>
              <a:cs typeface="Calibri" panose="020F0502020204030204"/>
            </a:endParaRPr>
          </a:p>
          <a:p>
            <a:pPr marL="12700">
              <a:lnSpc>
                <a:spcPct val="100000"/>
              </a:lnSpc>
              <a:spcBef>
                <a:spcPts val="395"/>
              </a:spcBef>
            </a:pPr>
            <a:r>
              <a:rPr sz="1700" b="1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Anomaly</a:t>
            </a:r>
            <a:r>
              <a:rPr sz="1700" b="1" spc="-3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700" b="1" spc="-1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detection</a:t>
            </a:r>
            <a:r>
              <a:rPr sz="1700" b="1" spc="-1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700" b="1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and</a:t>
            </a:r>
            <a:r>
              <a:rPr sz="1700" b="1" spc="-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 novelty</a:t>
            </a:r>
            <a:r>
              <a:rPr sz="1700" b="1" spc="-2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700" b="1" spc="-1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detection</a:t>
            </a:r>
            <a:endParaRPr sz="1700">
              <a:latin typeface="Calibri" panose="020F0502020204030204"/>
              <a:cs typeface="Calibri" panose="020F0502020204030204"/>
            </a:endParaRPr>
          </a:p>
          <a:p>
            <a:pPr marL="184785" indent="-172720">
              <a:lnSpc>
                <a:spcPct val="100000"/>
              </a:lnSpc>
              <a:spcBef>
                <a:spcPts val="385"/>
              </a:spcBef>
              <a:buFont typeface="Arial MT"/>
              <a:buChar char="•"/>
              <a:tabLst>
                <a:tab pos="185420" algn="l"/>
              </a:tabLst>
            </a:pPr>
            <a:r>
              <a:rPr sz="1700" dirty="0">
                <a:latin typeface="Calibri" panose="020F0502020204030204"/>
                <a:cs typeface="Calibri" panose="020F0502020204030204"/>
              </a:rPr>
              <a:t>One-class</a:t>
            </a:r>
            <a:r>
              <a:rPr sz="1700" spc="-70" dirty="0">
                <a:latin typeface="Calibri" panose="020F0502020204030204"/>
                <a:cs typeface="Calibri" panose="020F0502020204030204"/>
              </a:rPr>
              <a:t> </a:t>
            </a:r>
            <a:r>
              <a:rPr sz="1700" spc="-5" dirty="0">
                <a:latin typeface="Calibri" panose="020F0502020204030204"/>
                <a:cs typeface="Calibri" panose="020F0502020204030204"/>
              </a:rPr>
              <a:t>SVM</a:t>
            </a:r>
            <a:endParaRPr sz="1700">
              <a:latin typeface="Calibri" panose="020F0502020204030204"/>
              <a:cs typeface="Calibri" panose="020F0502020204030204"/>
            </a:endParaRPr>
          </a:p>
          <a:p>
            <a:pPr marL="184785" indent="-172720">
              <a:lnSpc>
                <a:spcPct val="100000"/>
              </a:lnSpc>
              <a:spcBef>
                <a:spcPts val="395"/>
              </a:spcBef>
              <a:buFont typeface="Arial MT"/>
              <a:buChar char="•"/>
              <a:tabLst>
                <a:tab pos="185420" algn="l"/>
              </a:tabLst>
            </a:pPr>
            <a:r>
              <a:rPr sz="1700" spc="-5" dirty="0">
                <a:latin typeface="Calibri" panose="020F0502020204030204"/>
                <a:cs typeface="Calibri" panose="020F0502020204030204"/>
              </a:rPr>
              <a:t>Isolation</a:t>
            </a:r>
            <a:r>
              <a:rPr sz="1700" spc="-35" dirty="0">
                <a:latin typeface="Calibri" panose="020F0502020204030204"/>
                <a:cs typeface="Calibri" panose="020F0502020204030204"/>
              </a:rPr>
              <a:t> </a:t>
            </a:r>
            <a:r>
              <a:rPr sz="1700" spc="-15" dirty="0">
                <a:latin typeface="Calibri" panose="020F0502020204030204"/>
                <a:cs typeface="Calibri" panose="020F0502020204030204"/>
              </a:rPr>
              <a:t>Forest</a:t>
            </a:r>
            <a:endParaRPr sz="1700">
              <a:latin typeface="Calibri" panose="020F0502020204030204"/>
              <a:cs typeface="Calibri" panose="020F0502020204030204"/>
            </a:endParaRPr>
          </a:p>
          <a:p>
            <a:pPr marL="12700">
              <a:lnSpc>
                <a:spcPct val="100000"/>
              </a:lnSpc>
              <a:spcBef>
                <a:spcPts val="395"/>
              </a:spcBef>
            </a:pPr>
            <a:r>
              <a:rPr sz="1700" b="1" spc="-1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Visualization</a:t>
            </a:r>
            <a:r>
              <a:rPr sz="1700" b="1" spc="-5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700" b="1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and</a:t>
            </a:r>
            <a:r>
              <a:rPr sz="1700" b="1" spc="-2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700" b="1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dimensionality</a:t>
            </a:r>
            <a:r>
              <a:rPr sz="1700" b="1" spc="-5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700" b="1" spc="-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reduction</a:t>
            </a:r>
            <a:endParaRPr sz="1700">
              <a:latin typeface="Calibri" panose="020F0502020204030204"/>
              <a:cs typeface="Calibri" panose="020F0502020204030204"/>
            </a:endParaRPr>
          </a:p>
          <a:p>
            <a:pPr marL="184785" indent="-172720">
              <a:lnSpc>
                <a:spcPct val="100000"/>
              </a:lnSpc>
              <a:spcBef>
                <a:spcPts val="385"/>
              </a:spcBef>
              <a:buFont typeface="Arial MT"/>
              <a:buChar char="•"/>
              <a:tabLst>
                <a:tab pos="185420" algn="l"/>
              </a:tabLst>
            </a:pPr>
            <a:r>
              <a:rPr sz="1700" spc="-5" dirty="0">
                <a:latin typeface="Calibri" panose="020F0502020204030204"/>
                <a:cs typeface="Calibri" panose="020F0502020204030204"/>
              </a:rPr>
              <a:t>Principal</a:t>
            </a:r>
            <a:r>
              <a:rPr sz="1700" spc="-40" dirty="0">
                <a:latin typeface="Calibri" panose="020F0502020204030204"/>
                <a:cs typeface="Calibri" panose="020F0502020204030204"/>
              </a:rPr>
              <a:t> </a:t>
            </a:r>
            <a:r>
              <a:rPr sz="1700" dirty="0">
                <a:latin typeface="Calibri" panose="020F0502020204030204"/>
                <a:cs typeface="Calibri" panose="020F0502020204030204"/>
              </a:rPr>
              <a:t>Component</a:t>
            </a:r>
            <a:r>
              <a:rPr sz="1700" spc="-45" dirty="0">
                <a:latin typeface="Calibri" panose="020F0502020204030204"/>
                <a:cs typeface="Calibri" panose="020F0502020204030204"/>
              </a:rPr>
              <a:t> </a:t>
            </a:r>
            <a:r>
              <a:rPr sz="1700" dirty="0">
                <a:latin typeface="Calibri" panose="020F0502020204030204"/>
                <a:cs typeface="Calibri" panose="020F0502020204030204"/>
              </a:rPr>
              <a:t>Analysis</a:t>
            </a:r>
            <a:r>
              <a:rPr sz="1700" spc="-10" dirty="0">
                <a:latin typeface="Calibri" panose="020F0502020204030204"/>
                <a:cs typeface="Calibri" panose="020F0502020204030204"/>
              </a:rPr>
              <a:t> </a:t>
            </a:r>
            <a:r>
              <a:rPr sz="1700" spc="-5" dirty="0">
                <a:latin typeface="Calibri" panose="020F0502020204030204"/>
                <a:cs typeface="Calibri" panose="020F0502020204030204"/>
              </a:rPr>
              <a:t>(PCA)</a:t>
            </a:r>
            <a:endParaRPr sz="1700">
              <a:latin typeface="Calibri" panose="020F0502020204030204"/>
              <a:cs typeface="Calibri" panose="020F0502020204030204"/>
            </a:endParaRPr>
          </a:p>
          <a:p>
            <a:pPr marL="184785" indent="-172720">
              <a:lnSpc>
                <a:spcPct val="100000"/>
              </a:lnSpc>
              <a:spcBef>
                <a:spcPts val="395"/>
              </a:spcBef>
              <a:buFont typeface="Arial MT"/>
              <a:buChar char="•"/>
              <a:tabLst>
                <a:tab pos="185420" algn="l"/>
              </a:tabLst>
            </a:pPr>
            <a:r>
              <a:rPr sz="1700" spc="-5" dirty="0">
                <a:latin typeface="Calibri" panose="020F0502020204030204"/>
                <a:cs typeface="Calibri" panose="020F0502020204030204"/>
              </a:rPr>
              <a:t>Kernel</a:t>
            </a:r>
            <a:r>
              <a:rPr sz="1700" spc="-55" dirty="0">
                <a:latin typeface="Calibri" panose="020F0502020204030204"/>
                <a:cs typeface="Calibri" panose="020F0502020204030204"/>
              </a:rPr>
              <a:t> </a:t>
            </a:r>
            <a:r>
              <a:rPr sz="1700" dirty="0">
                <a:latin typeface="Calibri" panose="020F0502020204030204"/>
                <a:cs typeface="Calibri" panose="020F0502020204030204"/>
              </a:rPr>
              <a:t>PCA</a:t>
            </a:r>
            <a:endParaRPr sz="1700">
              <a:latin typeface="Calibri" panose="020F0502020204030204"/>
              <a:cs typeface="Calibri" panose="020F0502020204030204"/>
            </a:endParaRPr>
          </a:p>
          <a:p>
            <a:pPr marL="184785" indent="-172720">
              <a:lnSpc>
                <a:spcPct val="100000"/>
              </a:lnSpc>
              <a:spcBef>
                <a:spcPts val="400"/>
              </a:spcBef>
              <a:buFont typeface="Arial MT"/>
              <a:buChar char="•"/>
              <a:tabLst>
                <a:tab pos="185420" algn="l"/>
              </a:tabLst>
            </a:pPr>
            <a:r>
              <a:rPr sz="1700" spc="-5" dirty="0">
                <a:latin typeface="Calibri" panose="020F0502020204030204"/>
                <a:cs typeface="Calibri" panose="020F0502020204030204"/>
              </a:rPr>
              <a:t>Locally-Linear</a:t>
            </a:r>
            <a:r>
              <a:rPr sz="1700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sz="1700" spc="-5" dirty="0">
                <a:latin typeface="Calibri" panose="020F0502020204030204"/>
                <a:cs typeface="Calibri" panose="020F0502020204030204"/>
              </a:rPr>
              <a:t>Embedding</a:t>
            </a:r>
            <a:r>
              <a:rPr sz="1700" spc="-40" dirty="0">
                <a:latin typeface="Calibri" panose="020F0502020204030204"/>
                <a:cs typeface="Calibri" panose="020F0502020204030204"/>
              </a:rPr>
              <a:t> </a:t>
            </a:r>
            <a:r>
              <a:rPr sz="1700" spc="-5" dirty="0">
                <a:latin typeface="Calibri" panose="020F0502020204030204"/>
                <a:cs typeface="Calibri" panose="020F0502020204030204"/>
              </a:rPr>
              <a:t>(LLE)</a:t>
            </a:r>
            <a:endParaRPr sz="1700">
              <a:latin typeface="Calibri" panose="020F0502020204030204"/>
              <a:cs typeface="Calibri" panose="020F0502020204030204"/>
            </a:endParaRPr>
          </a:p>
          <a:p>
            <a:pPr marL="184785" indent="-172720">
              <a:lnSpc>
                <a:spcPct val="100000"/>
              </a:lnSpc>
              <a:spcBef>
                <a:spcPts val="380"/>
              </a:spcBef>
              <a:buFont typeface="Arial MT"/>
              <a:buChar char="•"/>
              <a:tabLst>
                <a:tab pos="185420" algn="l"/>
              </a:tabLst>
            </a:pPr>
            <a:r>
              <a:rPr sz="1700" spc="-5" dirty="0">
                <a:latin typeface="Calibri" panose="020F0502020204030204"/>
                <a:cs typeface="Calibri" panose="020F0502020204030204"/>
              </a:rPr>
              <a:t>t-distributed</a:t>
            </a:r>
            <a:r>
              <a:rPr sz="1700" spc="-45" dirty="0">
                <a:latin typeface="Calibri" panose="020F0502020204030204"/>
                <a:cs typeface="Calibri" panose="020F0502020204030204"/>
              </a:rPr>
              <a:t> </a:t>
            </a:r>
            <a:r>
              <a:rPr sz="1700" spc="-5" dirty="0">
                <a:latin typeface="Calibri" panose="020F0502020204030204"/>
                <a:cs typeface="Calibri" panose="020F0502020204030204"/>
              </a:rPr>
              <a:t>Stochastic</a:t>
            </a:r>
            <a:r>
              <a:rPr sz="1700" spc="-20" dirty="0">
                <a:latin typeface="Calibri" panose="020F0502020204030204"/>
                <a:cs typeface="Calibri" panose="020F0502020204030204"/>
              </a:rPr>
              <a:t> </a:t>
            </a:r>
            <a:r>
              <a:rPr sz="1700" dirty="0">
                <a:latin typeface="Calibri" panose="020F0502020204030204"/>
                <a:cs typeface="Calibri" panose="020F0502020204030204"/>
              </a:rPr>
              <a:t>Neighbor</a:t>
            </a:r>
            <a:r>
              <a:rPr sz="1700" spc="-40" dirty="0">
                <a:latin typeface="Calibri" panose="020F0502020204030204"/>
                <a:cs typeface="Calibri" panose="020F0502020204030204"/>
              </a:rPr>
              <a:t> </a:t>
            </a:r>
            <a:r>
              <a:rPr sz="1700" dirty="0">
                <a:latin typeface="Calibri" panose="020F0502020204030204"/>
                <a:cs typeface="Calibri" panose="020F0502020204030204"/>
              </a:rPr>
              <a:t>Embedding</a:t>
            </a:r>
            <a:r>
              <a:rPr sz="1700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sz="1700" spc="-5" dirty="0">
                <a:latin typeface="Calibri" panose="020F0502020204030204"/>
                <a:cs typeface="Calibri" panose="020F0502020204030204"/>
              </a:rPr>
              <a:t>(t-SNE)</a:t>
            </a:r>
            <a:endParaRPr sz="1700">
              <a:latin typeface="Calibri" panose="020F0502020204030204"/>
              <a:cs typeface="Calibri" panose="020F0502020204030204"/>
            </a:endParaRPr>
          </a:p>
          <a:p>
            <a:pPr marL="12700">
              <a:lnSpc>
                <a:spcPct val="100000"/>
              </a:lnSpc>
              <a:spcBef>
                <a:spcPts val="400"/>
              </a:spcBef>
            </a:pPr>
            <a:r>
              <a:rPr sz="1700" b="1" spc="-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Association</a:t>
            </a:r>
            <a:r>
              <a:rPr sz="1700" b="1" spc="-4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700" b="1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rule</a:t>
            </a:r>
            <a:r>
              <a:rPr sz="1700" b="1" spc="-3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700" b="1" spc="-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learning</a:t>
            </a:r>
            <a:endParaRPr sz="1700">
              <a:latin typeface="Calibri" panose="020F0502020204030204"/>
              <a:cs typeface="Calibri" panose="020F0502020204030204"/>
            </a:endParaRPr>
          </a:p>
          <a:p>
            <a:pPr marL="184785" indent="-172720">
              <a:lnSpc>
                <a:spcPct val="100000"/>
              </a:lnSpc>
              <a:spcBef>
                <a:spcPts val="395"/>
              </a:spcBef>
              <a:buFont typeface="Arial MT"/>
              <a:buChar char="•"/>
              <a:tabLst>
                <a:tab pos="185420" algn="l"/>
              </a:tabLst>
            </a:pPr>
            <a:r>
              <a:rPr sz="1700" dirty="0">
                <a:latin typeface="Calibri" panose="020F0502020204030204"/>
                <a:cs typeface="Calibri" panose="020F0502020204030204"/>
              </a:rPr>
              <a:t>Apriori</a:t>
            </a:r>
            <a:endParaRPr sz="1700">
              <a:latin typeface="Calibri" panose="020F0502020204030204"/>
              <a:cs typeface="Calibri" panose="020F0502020204030204"/>
            </a:endParaRPr>
          </a:p>
          <a:p>
            <a:pPr marL="184785" indent="-172720">
              <a:lnSpc>
                <a:spcPct val="100000"/>
              </a:lnSpc>
              <a:spcBef>
                <a:spcPts val="385"/>
              </a:spcBef>
              <a:buFont typeface="Arial MT"/>
              <a:buChar char="•"/>
              <a:tabLst>
                <a:tab pos="185420" algn="l"/>
              </a:tabLst>
            </a:pPr>
            <a:r>
              <a:rPr sz="1700" spc="-10" dirty="0">
                <a:latin typeface="Calibri" panose="020F0502020204030204"/>
                <a:cs typeface="Calibri" panose="020F0502020204030204"/>
              </a:rPr>
              <a:t>Eclat</a:t>
            </a:r>
            <a:endParaRPr sz="1700">
              <a:latin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1324610" marR="5080" indent="-60960">
              <a:lnSpc>
                <a:spcPts val="4750"/>
              </a:lnSpc>
              <a:spcBef>
                <a:spcPts val="700"/>
              </a:spcBef>
            </a:pPr>
            <a:r>
              <a:rPr sz="4400" b="1" dirty="0">
                <a:solidFill>
                  <a:srgbClr val="2E5496"/>
                </a:solidFill>
                <a:latin typeface="Calibri" panose="020F0502020204030204"/>
                <a:cs typeface="Calibri" panose="020F0502020204030204"/>
              </a:rPr>
              <a:t>Unsupervised</a:t>
            </a:r>
            <a:r>
              <a:rPr sz="4400" b="1" spc="-80" dirty="0">
                <a:solidFill>
                  <a:srgbClr val="2E5496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4400" b="1" dirty="0">
                <a:solidFill>
                  <a:srgbClr val="2E5496"/>
                </a:solidFill>
                <a:latin typeface="Calibri" panose="020F0502020204030204"/>
                <a:cs typeface="Calibri" panose="020F0502020204030204"/>
              </a:rPr>
              <a:t>learning </a:t>
            </a:r>
            <a:r>
              <a:rPr sz="4400" b="1" spc="-975" dirty="0">
                <a:solidFill>
                  <a:srgbClr val="2E5496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4400" b="1" spc="-5" dirty="0">
                <a:solidFill>
                  <a:srgbClr val="2E5496"/>
                </a:solidFill>
                <a:latin typeface="Calibri" panose="020F0502020204030204"/>
                <a:cs typeface="Calibri" panose="020F0502020204030204"/>
              </a:rPr>
              <a:t>algorithms:</a:t>
            </a:r>
            <a:r>
              <a:rPr sz="4400" b="1" spc="-70" dirty="0">
                <a:solidFill>
                  <a:srgbClr val="2E5496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4400" b="1" spc="-15" dirty="0">
                <a:solidFill>
                  <a:srgbClr val="2E5496"/>
                </a:solidFill>
                <a:latin typeface="Calibri" panose="020F0502020204030204"/>
                <a:cs typeface="Calibri" panose="020F0502020204030204"/>
              </a:rPr>
              <a:t>Clustering</a:t>
            </a:r>
            <a:endParaRPr sz="44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07542" y="1741677"/>
            <a:ext cx="7559675" cy="3312160"/>
          </a:xfrm>
          <a:prstGeom prst="rect">
            <a:avLst/>
          </a:prstGeom>
        </p:spPr>
        <p:txBody>
          <a:bodyPr vert="horz" wrap="square" lIns="0" tIns="81280" rIns="0" bIns="0" rtlCol="0">
            <a:spAutoFit/>
          </a:bodyPr>
          <a:lstStyle/>
          <a:p>
            <a:pPr marL="184785" indent="-172720" algn="just">
              <a:lnSpc>
                <a:spcPct val="100000"/>
              </a:lnSpc>
              <a:spcBef>
                <a:spcPts val="640"/>
              </a:spcBef>
              <a:buFont typeface="Arial MT"/>
              <a:buChar char="•"/>
              <a:tabLst>
                <a:tab pos="185420" algn="l"/>
              </a:tabLst>
            </a:pPr>
            <a:r>
              <a:rPr sz="2100" spc="-10" dirty="0">
                <a:latin typeface="Calibri" panose="020F0502020204030204"/>
                <a:cs typeface="Calibri" panose="020F0502020204030204"/>
              </a:rPr>
              <a:t>Example</a:t>
            </a:r>
            <a:r>
              <a:rPr sz="2100" spc="10" dirty="0">
                <a:latin typeface="Calibri" panose="020F0502020204030204"/>
                <a:cs typeface="Calibri" panose="020F0502020204030204"/>
              </a:rPr>
              <a:t> </a:t>
            </a:r>
            <a:r>
              <a:rPr sz="2100" dirty="0">
                <a:latin typeface="Calibri" panose="020F0502020204030204"/>
                <a:cs typeface="Calibri" panose="020F0502020204030204"/>
              </a:rPr>
              <a:t>-</a:t>
            </a:r>
            <a:r>
              <a:rPr sz="2100" spc="-15" dirty="0">
                <a:latin typeface="Calibri" panose="020F0502020204030204"/>
                <a:cs typeface="Calibri" panose="020F0502020204030204"/>
              </a:rPr>
              <a:t> you</a:t>
            </a:r>
            <a:r>
              <a:rPr sz="2100" spc="-5" dirty="0">
                <a:latin typeface="Calibri" panose="020F0502020204030204"/>
                <a:cs typeface="Calibri" panose="020F0502020204030204"/>
              </a:rPr>
              <a:t> </a:t>
            </a:r>
            <a:r>
              <a:rPr sz="2100" spc="-15" dirty="0">
                <a:latin typeface="Calibri" panose="020F0502020204030204"/>
                <a:cs typeface="Calibri" panose="020F0502020204030204"/>
              </a:rPr>
              <a:t>have</a:t>
            </a:r>
            <a:r>
              <a:rPr sz="2100" dirty="0">
                <a:latin typeface="Calibri" panose="020F0502020204030204"/>
                <a:cs typeface="Calibri" panose="020F0502020204030204"/>
              </a:rPr>
              <a:t> a</a:t>
            </a:r>
            <a:r>
              <a:rPr sz="2100" spc="-5" dirty="0">
                <a:latin typeface="Calibri" panose="020F0502020204030204"/>
                <a:cs typeface="Calibri" panose="020F0502020204030204"/>
              </a:rPr>
              <a:t> lot</a:t>
            </a:r>
            <a:r>
              <a:rPr sz="2100" spc="5" dirty="0">
                <a:latin typeface="Calibri" panose="020F0502020204030204"/>
                <a:cs typeface="Calibri" panose="020F0502020204030204"/>
              </a:rPr>
              <a:t> </a:t>
            </a:r>
            <a:r>
              <a:rPr sz="2100" spc="-5" dirty="0">
                <a:latin typeface="Calibri" panose="020F0502020204030204"/>
                <a:cs typeface="Calibri" panose="020F0502020204030204"/>
              </a:rPr>
              <a:t>of</a:t>
            </a:r>
            <a:r>
              <a:rPr sz="2100" spc="10" dirty="0">
                <a:latin typeface="Calibri" panose="020F0502020204030204"/>
                <a:cs typeface="Calibri" panose="020F0502020204030204"/>
              </a:rPr>
              <a:t> </a:t>
            </a:r>
            <a:r>
              <a:rPr sz="2100" spc="-15" dirty="0">
                <a:latin typeface="Calibri" panose="020F0502020204030204"/>
                <a:cs typeface="Calibri" panose="020F0502020204030204"/>
              </a:rPr>
              <a:t>data</a:t>
            </a:r>
            <a:r>
              <a:rPr sz="2100" spc="-30" dirty="0">
                <a:latin typeface="Calibri" panose="020F0502020204030204"/>
                <a:cs typeface="Calibri" panose="020F0502020204030204"/>
              </a:rPr>
              <a:t> </a:t>
            </a:r>
            <a:r>
              <a:rPr sz="2100" dirty="0">
                <a:latin typeface="Calibri" panose="020F0502020204030204"/>
                <a:cs typeface="Calibri" panose="020F0502020204030204"/>
              </a:rPr>
              <a:t>about</a:t>
            </a:r>
            <a:r>
              <a:rPr sz="2100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sz="2100" spc="-10" dirty="0">
                <a:latin typeface="Calibri" panose="020F0502020204030204"/>
                <a:cs typeface="Calibri" panose="020F0502020204030204"/>
              </a:rPr>
              <a:t>your</a:t>
            </a:r>
            <a:r>
              <a:rPr sz="2100" spc="10" dirty="0">
                <a:latin typeface="Calibri" panose="020F0502020204030204"/>
                <a:cs typeface="Calibri" panose="020F0502020204030204"/>
              </a:rPr>
              <a:t> </a:t>
            </a:r>
            <a:r>
              <a:rPr sz="2100" spc="-15" dirty="0">
                <a:latin typeface="Calibri" panose="020F0502020204030204"/>
                <a:cs typeface="Calibri" panose="020F0502020204030204"/>
              </a:rPr>
              <a:t>blog’s</a:t>
            </a:r>
            <a:r>
              <a:rPr sz="2100" spc="20" dirty="0">
                <a:latin typeface="Calibri" panose="020F0502020204030204"/>
                <a:cs typeface="Calibri" panose="020F0502020204030204"/>
              </a:rPr>
              <a:t> </a:t>
            </a:r>
            <a:r>
              <a:rPr sz="2100" spc="-15" dirty="0">
                <a:latin typeface="Calibri" panose="020F0502020204030204"/>
                <a:cs typeface="Calibri" panose="020F0502020204030204"/>
              </a:rPr>
              <a:t>visitors.</a:t>
            </a:r>
            <a:endParaRPr sz="2100">
              <a:latin typeface="Calibri" panose="020F0502020204030204"/>
              <a:cs typeface="Calibri" panose="020F0502020204030204"/>
            </a:endParaRPr>
          </a:p>
          <a:p>
            <a:pPr marL="184785" marR="186055" indent="-172720" algn="just">
              <a:lnSpc>
                <a:spcPct val="90000"/>
              </a:lnSpc>
              <a:spcBef>
                <a:spcPts val="790"/>
              </a:spcBef>
              <a:buFont typeface="Arial MT"/>
              <a:buChar char="•"/>
              <a:tabLst>
                <a:tab pos="185420" algn="l"/>
              </a:tabLst>
            </a:pPr>
            <a:r>
              <a:rPr sz="2100" spc="-10" dirty="0">
                <a:latin typeface="Calibri" panose="020F0502020204030204"/>
                <a:cs typeface="Calibri" panose="020F0502020204030204"/>
              </a:rPr>
              <a:t>Clustering</a:t>
            </a:r>
            <a:r>
              <a:rPr sz="2100" spc="10" dirty="0">
                <a:latin typeface="Calibri" panose="020F0502020204030204"/>
                <a:cs typeface="Calibri" panose="020F0502020204030204"/>
              </a:rPr>
              <a:t> </a:t>
            </a:r>
            <a:r>
              <a:rPr sz="2100" spc="-5" dirty="0">
                <a:latin typeface="Calibri" panose="020F0502020204030204"/>
                <a:cs typeface="Calibri" panose="020F0502020204030204"/>
              </a:rPr>
              <a:t>algorithm</a:t>
            </a:r>
            <a:r>
              <a:rPr sz="2100" spc="5" dirty="0">
                <a:latin typeface="Calibri" panose="020F0502020204030204"/>
                <a:cs typeface="Calibri" panose="020F0502020204030204"/>
              </a:rPr>
              <a:t> </a:t>
            </a:r>
            <a:r>
              <a:rPr sz="2100" dirty="0">
                <a:latin typeface="Calibri" panose="020F0502020204030204"/>
                <a:cs typeface="Calibri" panose="020F0502020204030204"/>
              </a:rPr>
              <a:t>tries</a:t>
            </a:r>
            <a:r>
              <a:rPr sz="2100" spc="15" dirty="0">
                <a:latin typeface="Calibri" panose="020F0502020204030204"/>
                <a:cs typeface="Calibri" panose="020F0502020204030204"/>
              </a:rPr>
              <a:t> </a:t>
            </a:r>
            <a:r>
              <a:rPr sz="2100" spc="-10" dirty="0">
                <a:latin typeface="Calibri" panose="020F0502020204030204"/>
                <a:cs typeface="Calibri" panose="020F0502020204030204"/>
              </a:rPr>
              <a:t>to</a:t>
            </a:r>
            <a:r>
              <a:rPr sz="2100" spc="-5" dirty="0">
                <a:latin typeface="Calibri" panose="020F0502020204030204"/>
                <a:cs typeface="Calibri" panose="020F0502020204030204"/>
              </a:rPr>
              <a:t> </a:t>
            </a:r>
            <a:r>
              <a:rPr sz="2100" spc="-10" dirty="0">
                <a:latin typeface="Calibri" panose="020F0502020204030204"/>
                <a:cs typeface="Calibri" panose="020F0502020204030204"/>
              </a:rPr>
              <a:t>detect</a:t>
            </a:r>
            <a:r>
              <a:rPr sz="2100" dirty="0">
                <a:latin typeface="Calibri" panose="020F0502020204030204"/>
                <a:cs typeface="Calibri" panose="020F0502020204030204"/>
              </a:rPr>
              <a:t> </a:t>
            </a:r>
            <a:r>
              <a:rPr sz="2100" spc="-15" dirty="0">
                <a:latin typeface="Calibri" panose="020F0502020204030204"/>
                <a:cs typeface="Calibri" panose="020F0502020204030204"/>
              </a:rPr>
              <a:t>groups</a:t>
            </a:r>
            <a:r>
              <a:rPr sz="2100" dirty="0">
                <a:latin typeface="Calibri" panose="020F0502020204030204"/>
                <a:cs typeface="Calibri" panose="020F0502020204030204"/>
              </a:rPr>
              <a:t> </a:t>
            </a:r>
            <a:r>
              <a:rPr sz="2100" spc="-5" dirty="0">
                <a:latin typeface="Calibri" panose="020F0502020204030204"/>
                <a:cs typeface="Calibri" panose="020F0502020204030204"/>
              </a:rPr>
              <a:t>of</a:t>
            </a:r>
            <a:r>
              <a:rPr sz="2100" spc="-10" dirty="0">
                <a:latin typeface="Calibri" panose="020F0502020204030204"/>
                <a:cs typeface="Calibri" panose="020F0502020204030204"/>
              </a:rPr>
              <a:t> </a:t>
            </a:r>
            <a:r>
              <a:rPr sz="2100" spc="-5" dirty="0">
                <a:latin typeface="Calibri" panose="020F0502020204030204"/>
                <a:cs typeface="Calibri" panose="020F0502020204030204"/>
              </a:rPr>
              <a:t>similar</a:t>
            </a:r>
            <a:r>
              <a:rPr sz="2100" spc="25" dirty="0">
                <a:latin typeface="Calibri" panose="020F0502020204030204"/>
                <a:cs typeface="Calibri" panose="020F0502020204030204"/>
              </a:rPr>
              <a:t> </a:t>
            </a:r>
            <a:r>
              <a:rPr sz="2100" spc="-10" dirty="0">
                <a:latin typeface="Calibri" panose="020F0502020204030204"/>
                <a:cs typeface="Calibri" panose="020F0502020204030204"/>
              </a:rPr>
              <a:t>visitors.</a:t>
            </a:r>
            <a:r>
              <a:rPr sz="2100" spc="30" dirty="0">
                <a:latin typeface="Calibri" panose="020F0502020204030204"/>
                <a:cs typeface="Calibri" panose="020F0502020204030204"/>
              </a:rPr>
              <a:t> </a:t>
            </a:r>
            <a:r>
              <a:rPr sz="2100" spc="-30" dirty="0">
                <a:latin typeface="Calibri" panose="020F0502020204030204"/>
                <a:cs typeface="Calibri" panose="020F0502020204030204"/>
              </a:rPr>
              <a:t>At</a:t>
            </a:r>
            <a:r>
              <a:rPr sz="2100" dirty="0">
                <a:latin typeface="Calibri" panose="020F0502020204030204"/>
                <a:cs typeface="Calibri" panose="020F0502020204030204"/>
              </a:rPr>
              <a:t> </a:t>
            </a:r>
            <a:r>
              <a:rPr sz="2100" spc="-5" dirty="0">
                <a:latin typeface="Calibri" panose="020F0502020204030204"/>
                <a:cs typeface="Calibri" panose="020F0502020204030204"/>
              </a:rPr>
              <a:t>no </a:t>
            </a:r>
            <a:r>
              <a:rPr sz="2100" spc="-459" dirty="0">
                <a:latin typeface="Calibri" panose="020F0502020204030204"/>
                <a:cs typeface="Calibri" panose="020F0502020204030204"/>
              </a:rPr>
              <a:t> </a:t>
            </a:r>
            <a:r>
              <a:rPr sz="2100" spc="-10" dirty="0">
                <a:latin typeface="Calibri" panose="020F0502020204030204"/>
                <a:cs typeface="Calibri" panose="020F0502020204030204"/>
              </a:rPr>
              <a:t>point</a:t>
            </a:r>
            <a:r>
              <a:rPr sz="2100" spc="5" dirty="0">
                <a:latin typeface="Calibri" panose="020F0502020204030204"/>
                <a:cs typeface="Calibri" panose="020F0502020204030204"/>
              </a:rPr>
              <a:t> </a:t>
            </a:r>
            <a:r>
              <a:rPr sz="2100" spc="-5" dirty="0">
                <a:latin typeface="Calibri" panose="020F0502020204030204"/>
                <a:cs typeface="Calibri" panose="020F0502020204030204"/>
              </a:rPr>
              <a:t>do</a:t>
            </a:r>
            <a:r>
              <a:rPr sz="2100" dirty="0">
                <a:latin typeface="Calibri" panose="020F0502020204030204"/>
                <a:cs typeface="Calibri" panose="020F0502020204030204"/>
              </a:rPr>
              <a:t> </a:t>
            </a:r>
            <a:r>
              <a:rPr sz="2100" spc="-15" dirty="0">
                <a:latin typeface="Calibri" panose="020F0502020204030204"/>
                <a:cs typeface="Calibri" panose="020F0502020204030204"/>
              </a:rPr>
              <a:t>you</a:t>
            </a:r>
            <a:r>
              <a:rPr sz="2100" spc="-5" dirty="0">
                <a:latin typeface="Calibri" panose="020F0502020204030204"/>
                <a:cs typeface="Calibri" panose="020F0502020204030204"/>
              </a:rPr>
              <a:t> </a:t>
            </a:r>
            <a:r>
              <a:rPr sz="2100" spc="-10" dirty="0">
                <a:latin typeface="Calibri" panose="020F0502020204030204"/>
                <a:cs typeface="Calibri" panose="020F0502020204030204"/>
              </a:rPr>
              <a:t>tell</a:t>
            </a:r>
            <a:r>
              <a:rPr sz="2100" spc="15" dirty="0">
                <a:latin typeface="Calibri" panose="020F0502020204030204"/>
                <a:cs typeface="Calibri" panose="020F0502020204030204"/>
              </a:rPr>
              <a:t> </a:t>
            </a:r>
            <a:r>
              <a:rPr sz="2100" dirty="0">
                <a:latin typeface="Calibri" panose="020F0502020204030204"/>
                <a:cs typeface="Calibri" panose="020F0502020204030204"/>
              </a:rPr>
              <a:t>the </a:t>
            </a:r>
            <a:r>
              <a:rPr sz="2100" spc="-5" dirty="0">
                <a:latin typeface="Calibri" panose="020F0502020204030204"/>
                <a:cs typeface="Calibri" panose="020F0502020204030204"/>
              </a:rPr>
              <a:t>algorithm</a:t>
            </a:r>
            <a:r>
              <a:rPr sz="2100" spc="10" dirty="0">
                <a:latin typeface="Calibri" panose="020F0502020204030204"/>
                <a:cs typeface="Calibri" panose="020F0502020204030204"/>
              </a:rPr>
              <a:t> </a:t>
            </a:r>
            <a:r>
              <a:rPr sz="2100" spc="-5" dirty="0">
                <a:latin typeface="Calibri" panose="020F0502020204030204"/>
                <a:cs typeface="Calibri" panose="020F0502020204030204"/>
              </a:rPr>
              <a:t>which</a:t>
            </a:r>
            <a:r>
              <a:rPr sz="2100" spc="-10" dirty="0">
                <a:latin typeface="Calibri" panose="020F0502020204030204"/>
                <a:cs typeface="Calibri" panose="020F0502020204030204"/>
              </a:rPr>
              <a:t> group</a:t>
            </a:r>
            <a:r>
              <a:rPr sz="2100" spc="10" dirty="0">
                <a:latin typeface="Calibri" panose="020F0502020204030204"/>
                <a:cs typeface="Calibri" panose="020F0502020204030204"/>
              </a:rPr>
              <a:t> </a:t>
            </a:r>
            <a:r>
              <a:rPr sz="2100" dirty="0">
                <a:latin typeface="Calibri" panose="020F0502020204030204"/>
                <a:cs typeface="Calibri" panose="020F0502020204030204"/>
              </a:rPr>
              <a:t>a </a:t>
            </a:r>
            <a:r>
              <a:rPr sz="2100" spc="-10" dirty="0">
                <a:latin typeface="Calibri" panose="020F0502020204030204"/>
                <a:cs typeface="Calibri" panose="020F0502020204030204"/>
              </a:rPr>
              <a:t>visitor</a:t>
            </a:r>
            <a:r>
              <a:rPr sz="2100" spc="25" dirty="0">
                <a:latin typeface="Calibri" panose="020F0502020204030204"/>
                <a:cs typeface="Calibri" panose="020F0502020204030204"/>
              </a:rPr>
              <a:t> </a:t>
            </a:r>
            <a:r>
              <a:rPr sz="2100" spc="-10" dirty="0">
                <a:latin typeface="Calibri" panose="020F0502020204030204"/>
                <a:cs typeface="Calibri" panose="020F0502020204030204"/>
              </a:rPr>
              <a:t>belongs</a:t>
            </a:r>
            <a:r>
              <a:rPr sz="2100" spc="25" dirty="0">
                <a:latin typeface="Calibri" panose="020F0502020204030204"/>
                <a:cs typeface="Calibri" panose="020F0502020204030204"/>
              </a:rPr>
              <a:t> </a:t>
            </a:r>
            <a:r>
              <a:rPr sz="2100" spc="-10" dirty="0">
                <a:latin typeface="Calibri" panose="020F0502020204030204"/>
                <a:cs typeface="Calibri" panose="020F0502020204030204"/>
              </a:rPr>
              <a:t>to:</a:t>
            </a:r>
            <a:r>
              <a:rPr sz="2100" spc="-5" dirty="0">
                <a:latin typeface="Calibri" panose="020F0502020204030204"/>
                <a:cs typeface="Calibri" panose="020F0502020204030204"/>
              </a:rPr>
              <a:t> </a:t>
            </a:r>
            <a:r>
              <a:rPr sz="2100" dirty="0">
                <a:latin typeface="Calibri" panose="020F0502020204030204"/>
                <a:cs typeface="Calibri" panose="020F0502020204030204"/>
              </a:rPr>
              <a:t>it </a:t>
            </a:r>
            <a:r>
              <a:rPr sz="2100" spc="5" dirty="0">
                <a:latin typeface="Calibri" panose="020F0502020204030204"/>
                <a:cs typeface="Calibri" panose="020F0502020204030204"/>
              </a:rPr>
              <a:t> </a:t>
            </a:r>
            <a:r>
              <a:rPr sz="2100" spc="-5" dirty="0">
                <a:latin typeface="Calibri" panose="020F0502020204030204"/>
                <a:cs typeface="Calibri" panose="020F0502020204030204"/>
              </a:rPr>
              <a:t>finds</a:t>
            </a:r>
            <a:r>
              <a:rPr sz="2100" spc="-10" dirty="0">
                <a:latin typeface="Calibri" panose="020F0502020204030204"/>
                <a:cs typeface="Calibri" panose="020F0502020204030204"/>
              </a:rPr>
              <a:t> </a:t>
            </a:r>
            <a:r>
              <a:rPr sz="2100" spc="-5" dirty="0">
                <a:latin typeface="Calibri" panose="020F0502020204030204"/>
                <a:cs typeface="Calibri" panose="020F0502020204030204"/>
              </a:rPr>
              <a:t>those</a:t>
            </a:r>
            <a:r>
              <a:rPr sz="2100" spc="10" dirty="0">
                <a:latin typeface="Calibri" panose="020F0502020204030204"/>
                <a:cs typeface="Calibri" panose="020F0502020204030204"/>
              </a:rPr>
              <a:t> </a:t>
            </a:r>
            <a:r>
              <a:rPr sz="2100" spc="-10" dirty="0">
                <a:latin typeface="Calibri" panose="020F0502020204030204"/>
                <a:cs typeface="Calibri" panose="020F0502020204030204"/>
              </a:rPr>
              <a:t>connections</a:t>
            </a:r>
            <a:r>
              <a:rPr sz="2100" spc="5" dirty="0">
                <a:latin typeface="Calibri" panose="020F0502020204030204"/>
                <a:cs typeface="Calibri" panose="020F0502020204030204"/>
              </a:rPr>
              <a:t> </a:t>
            </a:r>
            <a:r>
              <a:rPr sz="2100" dirty="0">
                <a:latin typeface="Calibri" panose="020F0502020204030204"/>
                <a:cs typeface="Calibri" panose="020F0502020204030204"/>
              </a:rPr>
              <a:t>without </a:t>
            </a:r>
            <a:r>
              <a:rPr sz="2100" spc="-10" dirty="0">
                <a:latin typeface="Calibri" panose="020F0502020204030204"/>
                <a:cs typeface="Calibri" panose="020F0502020204030204"/>
              </a:rPr>
              <a:t>your</a:t>
            </a:r>
            <a:r>
              <a:rPr sz="2100" spc="-5" dirty="0">
                <a:latin typeface="Calibri" panose="020F0502020204030204"/>
                <a:cs typeface="Calibri" panose="020F0502020204030204"/>
              </a:rPr>
              <a:t> help.</a:t>
            </a:r>
            <a:endParaRPr sz="2100">
              <a:latin typeface="Calibri" panose="020F0502020204030204"/>
              <a:cs typeface="Calibri" panose="020F0502020204030204"/>
            </a:endParaRPr>
          </a:p>
          <a:p>
            <a:pPr marL="184785" marR="5080" indent="-172720" algn="just">
              <a:lnSpc>
                <a:spcPts val="2270"/>
              </a:lnSpc>
              <a:spcBef>
                <a:spcPts val="835"/>
              </a:spcBef>
              <a:buFont typeface="Arial MT"/>
              <a:buChar char="•"/>
              <a:tabLst>
                <a:tab pos="185420" algn="l"/>
              </a:tabLst>
            </a:pPr>
            <a:r>
              <a:rPr sz="2100" spc="-15" dirty="0">
                <a:latin typeface="Calibri" panose="020F0502020204030204"/>
                <a:cs typeface="Calibri" panose="020F0502020204030204"/>
              </a:rPr>
              <a:t>For </a:t>
            </a:r>
            <a:r>
              <a:rPr sz="2100" spc="-10" dirty="0">
                <a:latin typeface="Calibri" panose="020F0502020204030204"/>
                <a:cs typeface="Calibri" panose="020F0502020204030204"/>
              </a:rPr>
              <a:t>example, </a:t>
            </a:r>
            <a:r>
              <a:rPr sz="2100" dirty="0">
                <a:latin typeface="Calibri" panose="020F0502020204030204"/>
                <a:cs typeface="Calibri" panose="020F0502020204030204"/>
              </a:rPr>
              <a:t>it </a:t>
            </a:r>
            <a:r>
              <a:rPr sz="2100" spc="-10" dirty="0">
                <a:latin typeface="Calibri" panose="020F0502020204030204"/>
                <a:cs typeface="Calibri" panose="020F0502020204030204"/>
              </a:rPr>
              <a:t>might </a:t>
            </a:r>
            <a:r>
              <a:rPr sz="2100" spc="-5" dirty="0">
                <a:latin typeface="Calibri" panose="020F0502020204030204"/>
                <a:cs typeface="Calibri" panose="020F0502020204030204"/>
              </a:rPr>
              <a:t>notice that </a:t>
            </a:r>
            <a:r>
              <a:rPr sz="210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40% </a:t>
            </a:r>
            <a:r>
              <a:rPr sz="2100" spc="-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of </a:t>
            </a:r>
            <a:r>
              <a:rPr sz="2100" spc="-1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your </a:t>
            </a:r>
            <a:r>
              <a:rPr sz="2100" spc="-1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visitors </a:t>
            </a:r>
            <a:r>
              <a:rPr sz="2100" spc="-1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are </a:t>
            </a:r>
            <a:r>
              <a:rPr sz="210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males who </a:t>
            </a:r>
            <a:r>
              <a:rPr sz="2100" spc="-459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100" spc="-1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love </a:t>
            </a:r>
            <a:r>
              <a:rPr sz="2100" spc="-1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comic books </a:t>
            </a:r>
            <a:r>
              <a:rPr sz="210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and </a:t>
            </a:r>
            <a:r>
              <a:rPr sz="2100" spc="-1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generally read </a:t>
            </a:r>
            <a:r>
              <a:rPr sz="2100" spc="-1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your </a:t>
            </a:r>
            <a:r>
              <a:rPr sz="2100" spc="-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blog </a:t>
            </a:r>
            <a:r>
              <a:rPr sz="210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in the </a:t>
            </a:r>
            <a:r>
              <a:rPr sz="2100" spc="-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evening</a:t>
            </a:r>
            <a:r>
              <a:rPr sz="2100" spc="-5" dirty="0">
                <a:latin typeface="Calibri" panose="020F0502020204030204"/>
                <a:cs typeface="Calibri" panose="020F0502020204030204"/>
              </a:rPr>
              <a:t>, </a:t>
            </a:r>
            <a:r>
              <a:rPr sz="2100" dirty="0">
                <a:latin typeface="Calibri" panose="020F0502020204030204"/>
                <a:cs typeface="Calibri" panose="020F0502020204030204"/>
              </a:rPr>
              <a:t>while </a:t>
            </a:r>
            <a:r>
              <a:rPr sz="2100" spc="5" dirty="0">
                <a:latin typeface="Calibri" panose="020F0502020204030204"/>
                <a:cs typeface="Calibri" panose="020F0502020204030204"/>
              </a:rPr>
              <a:t> </a:t>
            </a:r>
            <a:r>
              <a:rPr sz="210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20% </a:t>
            </a:r>
            <a:r>
              <a:rPr sz="2100" spc="-1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are</a:t>
            </a:r>
            <a:r>
              <a:rPr sz="2100" spc="-1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 young</a:t>
            </a:r>
            <a:r>
              <a:rPr sz="2100" spc="-1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100" spc="-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science</a:t>
            </a:r>
            <a:r>
              <a:rPr sz="2100" spc="2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100" spc="-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fiction</a:t>
            </a:r>
            <a:r>
              <a:rPr sz="210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100" spc="-1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lovers</a:t>
            </a:r>
            <a:r>
              <a:rPr sz="2100" spc="4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10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who</a:t>
            </a:r>
            <a:r>
              <a:rPr sz="2100" spc="-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 visit</a:t>
            </a:r>
            <a:r>
              <a:rPr sz="2100" spc="1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100" spc="-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during</a:t>
            </a:r>
            <a:r>
              <a:rPr sz="2100" spc="-1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10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the</a:t>
            </a:r>
            <a:r>
              <a:rPr sz="2100" spc="-1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100" spc="-1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weekends</a:t>
            </a:r>
            <a:r>
              <a:rPr sz="2100" spc="-10" dirty="0">
                <a:latin typeface="Calibri" panose="020F0502020204030204"/>
                <a:cs typeface="Calibri" panose="020F0502020204030204"/>
              </a:rPr>
              <a:t>.</a:t>
            </a:r>
            <a:endParaRPr sz="2100">
              <a:latin typeface="Calibri" panose="020F0502020204030204"/>
              <a:cs typeface="Calibri" panose="020F0502020204030204"/>
            </a:endParaRPr>
          </a:p>
          <a:p>
            <a:pPr marL="184785" marR="51435" indent="-172720" algn="just">
              <a:lnSpc>
                <a:spcPts val="2270"/>
              </a:lnSpc>
              <a:spcBef>
                <a:spcPts val="800"/>
              </a:spcBef>
              <a:buFont typeface="Arial MT"/>
              <a:buChar char="•"/>
              <a:tabLst>
                <a:tab pos="185420" algn="l"/>
              </a:tabLst>
            </a:pPr>
            <a:r>
              <a:rPr sz="2100" dirty="0">
                <a:latin typeface="Calibri" panose="020F0502020204030204"/>
                <a:cs typeface="Calibri" panose="020F0502020204030204"/>
              </a:rPr>
              <a:t>If</a:t>
            </a:r>
            <a:r>
              <a:rPr sz="2100" spc="-10" dirty="0">
                <a:latin typeface="Calibri" panose="020F0502020204030204"/>
                <a:cs typeface="Calibri" panose="020F0502020204030204"/>
              </a:rPr>
              <a:t> </a:t>
            </a:r>
            <a:r>
              <a:rPr sz="2100" spc="-15" dirty="0">
                <a:latin typeface="Calibri" panose="020F0502020204030204"/>
                <a:cs typeface="Calibri" panose="020F0502020204030204"/>
              </a:rPr>
              <a:t>you</a:t>
            </a:r>
            <a:r>
              <a:rPr sz="2100" spc="15" dirty="0">
                <a:latin typeface="Calibri" panose="020F0502020204030204"/>
                <a:cs typeface="Calibri" panose="020F0502020204030204"/>
              </a:rPr>
              <a:t> </a:t>
            </a:r>
            <a:r>
              <a:rPr sz="2100" spc="-5" dirty="0">
                <a:latin typeface="Calibri" panose="020F0502020204030204"/>
                <a:cs typeface="Calibri" panose="020F0502020204030204"/>
              </a:rPr>
              <a:t>use</a:t>
            </a:r>
            <a:r>
              <a:rPr sz="2100" dirty="0">
                <a:latin typeface="Calibri" panose="020F0502020204030204"/>
                <a:cs typeface="Calibri" panose="020F0502020204030204"/>
              </a:rPr>
              <a:t> a </a:t>
            </a:r>
            <a:r>
              <a:rPr sz="2100" spc="-15" dirty="0">
                <a:latin typeface="Calibri" panose="020F0502020204030204"/>
                <a:cs typeface="Calibri" panose="020F0502020204030204"/>
              </a:rPr>
              <a:t>hierarchical</a:t>
            </a:r>
            <a:r>
              <a:rPr sz="2100" spc="15" dirty="0">
                <a:latin typeface="Calibri" panose="020F0502020204030204"/>
                <a:cs typeface="Calibri" panose="020F0502020204030204"/>
              </a:rPr>
              <a:t> </a:t>
            </a:r>
            <a:r>
              <a:rPr sz="2100" spc="-10" dirty="0">
                <a:latin typeface="Calibri" panose="020F0502020204030204"/>
                <a:cs typeface="Calibri" panose="020F0502020204030204"/>
              </a:rPr>
              <a:t>clustering</a:t>
            </a:r>
            <a:r>
              <a:rPr sz="2100" spc="25" dirty="0">
                <a:latin typeface="Calibri" panose="020F0502020204030204"/>
                <a:cs typeface="Calibri" panose="020F0502020204030204"/>
              </a:rPr>
              <a:t> </a:t>
            </a:r>
            <a:r>
              <a:rPr sz="2100" spc="-5" dirty="0">
                <a:latin typeface="Calibri" panose="020F0502020204030204"/>
                <a:cs typeface="Calibri" panose="020F0502020204030204"/>
              </a:rPr>
              <a:t>algorithm,</a:t>
            </a:r>
            <a:r>
              <a:rPr sz="2100" spc="10" dirty="0">
                <a:latin typeface="Calibri" panose="020F0502020204030204"/>
                <a:cs typeface="Calibri" panose="020F0502020204030204"/>
              </a:rPr>
              <a:t> </a:t>
            </a:r>
            <a:r>
              <a:rPr sz="2100" dirty="0">
                <a:latin typeface="Calibri" panose="020F0502020204030204"/>
                <a:cs typeface="Calibri" panose="020F0502020204030204"/>
              </a:rPr>
              <a:t>it</a:t>
            </a:r>
            <a:r>
              <a:rPr sz="2100" spc="5" dirty="0">
                <a:latin typeface="Calibri" panose="020F0502020204030204"/>
                <a:cs typeface="Calibri" panose="020F0502020204030204"/>
              </a:rPr>
              <a:t> </a:t>
            </a:r>
            <a:r>
              <a:rPr sz="2100" spc="-15" dirty="0">
                <a:latin typeface="Calibri" panose="020F0502020204030204"/>
                <a:cs typeface="Calibri" panose="020F0502020204030204"/>
              </a:rPr>
              <a:t>may </a:t>
            </a:r>
            <a:r>
              <a:rPr sz="2100" dirty="0">
                <a:latin typeface="Calibri" panose="020F0502020204030204"/>
                <a:cs typeface="Calibri" panose="020F0502020204030204"/>
              </a:rPr>
              <a:t>also</a:t>
            </a:r>
            <a:r>
              <a:rPr sz="2100" spc="10" dirty="0">
                <a:latin typeface="Calibri" panose="020F0502020204030204"/>
                <a:cs typeface="Calibri" panose="020F0502020204030204"/>
              </a:rPr>
              <a:t> </a:t>
            </a:r>
            <a:r>
              <a:rPr sz="2100" spc="-10" dirty="0">
                <a:latin typeface="Calibri" panose="020F0502020204030204"/>
                <a:cs typeface="Calibri" panose="020F0502020204030204"/>
              </a:rPr>
              <a:t>subdivide </a:t>
            </a:r>
            <a:r>
              <a:rPr sz="2100" spc="-5" dirty="0">
                <a:latin typeface="Calibri" panose="020F0502020204030204"/>
                <a:cs typeface="Calibri" panose="020F0502020204030204"/>
              </a:rPr>
              <a:t> </a:t>
            </a:r>
            <a:r>
              <a:rPr sz="2100" dirty="0">
                <a:latin typeface="Calibri" panose="020F0502020204030204"/>
                <a:cs typeface="Calibri" panose="020F0502020204030204"/>
              </a:rPr>
              <a:t>each </a:t>
            </a:r>
            <a:r>
              <a:rPr sz="2100" spc="-15" dirty="0">
                <a:latin typeface="Calibri" panose="020F0502020204030204"/>
                <a:cs typeface="Calibri" panose="020F0502020204030204"/>
              </a:rPr>
              <a:t>group</a:t>
            </a:r>
            <a:r>
              <a:rPr sz="2100" spc="10" dirty="0">
                <a:latin typeface="Calibri" panose="020F0502020204030204"/>
                <a:cs typeface="Calibri" panose="020F0502020204030204"/>
              </a:rPr>
              <a:t> </a:t>
            </a:r>
            <a:r>
              <a:rPr sz="2100" spc="-15" dirty="0">
                <a:latin typeface="Calibri" panose="020F0502020204030204"/>
                <a:cs typeface="Calibri" panose="020F0502020204030204"/>
              </a:rPr>
              <a:t>into</a:t>
            </a:r>
            <a:r>
              <a:rPr sz="2100" spc="-5" dirty="0">
                <a:latin typeface="Calibri" panose="020F0502020204030204"/>
                <a:cs typeface="Calibri" panose="020F0502020204030204"/>
              </a:rPr>
              <a:t> smaller</a:t>
            </a:r>
            <a:r>
              <a:rPr sz="2100" spc="20" dirty="0">
                <a:latin typeface="Calibri" panose="020F0502020204030204"/>
                <a:cs typeface="Calibri" panose="020F0502020204030204"/>
              </a:rPr>
              <a:t> </a:t>
            </a:r>
            <a:r>
              <a:rPr sz="2100" spc="-15" dirty="0">
                <a:latin typeface="Calibri" panose="020F0502020204030204"/>
                <a:cs typeface="Calibri" panose="020F0502020204030204"/>
              </a:rPr>
              <a:t>groups.</a:t>
            </a:r>
            <a:r>
              <a:rPr sz="2100" spc="5" dirty="0">
                <a:latin typeface="Calibri" panose="020F0502020204030204"/>
                <a:cs typeface="Calibri" panose="020F0502020204030204"/>
              </a:rPr>
              <a:t> </a:t>
            </a:r>
            <a:r>
              <a:rPr sz="2100" spc="-5" dirty="0">
                <a:latin typeface="Calibri" panose="020F0502020204030204"/>
                <a:cs typeface="Calibri" panose="020F0502020204030204"/>
              </a:rPr>
              <a:t>This</a:t>
            </a:r>
            <a:r>
              <a:rPr sz="2100" spc="5" dirty="0">
                <a:latin typeface="Calibri" panose="020F0502020204030204"/>
                <a:cs typeface="Calibri" panose="020F0502020204030204"/>
              </a:rPr>
              <a:t> </a:t>
            </a:r>
            <a:r>
              <a:rPr sz="2100" spc="-15" dirty="0">
                <a:latin typeface="Calibri" panose="020F0502020204030204"/>
                <a:cs typeface="Calibri" panose="020F0502020204030204"/>
              </a:rPr>
              <a:t>may</a:t>
            </a:r>
            <a:r>
              <a:rPr sz="2100" spc="-20" dirty="0">
                <a:latin typeface="Calibri" panose="020F0502020204030204"/>
                <a:cs typeface="Calibri" panose="020F0502020204030204"/>
              </a:rPr>
              <a:t> </a:t>
            </a:r>
            <a:r>
              <a:rPr sz="2100" spc="-5" dirty="0">
                <a:latin typeface="Calibri" panose="020F0502020204030204"/>
                <a:cs typeface="Calibri" panose="020F0502020204030204"/>
              </a:rPr>
              <a:t>help </a:t>
            </a:r>
            <a:r>
              <a:rPr sz="2100" spc="-10" dirty="0">
                <a:latin typeface="Calibri" panose="020F0502020204030204"/>
                <a:cs typeface="Calibri" panose="020F0502020204030204"/>
              </a:rPr>
              <a:t>you</a:t>
            </a:r>
            <a:r>
              <a:rPr sz="2100" spc="-5" dirty="0">
                <a:latin typeface="Calibri" panose="020F0502020204030204"/>
                <a:cs typeface="Calibri" panose="020F0502020204030204"/>
              </a:rPr>
              <a:t> </a:t>
            </a:r>
            <a:r>
              <a:rPr sz="2100" spc="-15" dirty="0">
                <a:latin typeface="Calibri" panose="020F0502020204030204"/>
                <a:cs typeface="Calibri" panose="020F0502020204030204"/>
              </a:rPr>
              <a:t>target </a:t>
            </a:r>
            <a:r>
              <a:rPr sz="2100" spc="-10" dirty="0">
                <a:latin typeface="Calibri" panose="020F0502020204030204"/>
                <a:cs typeface="Calibri" panose="020F0502020204030204"/>
              </a:rPr>
              <a:t>your</a:t>
            </a:r>
            <a:r>
              <a:rPr sz="2100" spc="10" dirty="0">
                <a:latin typeface="Calibri" panose="020F0502020204030204"/>
                <a:cs typeface="Calibri" panose="020F0502020204030204"/>
              </a:rPr>
              <a:t> </a:t>
            </a:r>
            <a:r>
              <a:rPr sz="2100" spc="-10" dirty="0">
                <a:latin typeface="Calibri" panose="020F0502020204030204"/>
                <a:cs typeface="Calibri" panose="020F0502020204030204"/>
              </a:rPr>
              <a:t>posts </a:t>
            </a:r>
            <a:r>
              <a:rPr sz="2100" spc="-455" dirty="0">
                <a:latin typeface="Calibri" panose="020F0502020204030204"/>
                <a:cs typeface="Calibri" panose="020F0502020204030204"/>
              </a:rPr>
              <a:t> </a:t>
            </a:r>
            <a:r>
              <a:rPr sz="2100" spc="-20" dirty="0">
                <a:latin typeface="Calibri" panose="020F0502020204030204"/>
                <a:cs typeface="Calibri" panose="020F0502020204030204"/>
              </a:rPr>
              <a:t>for</a:t>
            </a:r>
            <a:r>
              <a:rPr sz="2100" spc="5" dirty="0">
                <a:latin typeface="Calibri" panose="020F0502020204030204"/>
                <a:cs typeface="Calibri" panose="020F0502020204030204"/>
              </a:rPr>
              <a:t> </a:t>
            </a:r>
            <a:r>
              <a:rPr sz="2100" dirty="0">
                <a:latin typeface="Calibri" panose="020F0502020204030204"/>
                <a:cs typeface="Calibri" panose="020F0502020204030204"/>
              </a:rPr>
              <a:t>each </a:t>
            </a:r>
            <a:r>
              <a:rPr sz="2100" spc="-15" dirty="0">
                <a:latin typeface="Calibri" panose="020F0502020204030204"/>
                <a:cs typeface="Calibri" panose="020F0502020204030204"/>
              </a:rPr>
              <a:t>group.</a:t>
            </a:r>
            <a:endParaRPr sz="2100">
              <a:latin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685800" y="2133700"/>
            <a:ext cx="7766953" cy="3756531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209545" y="609676"/>
            <a:ext cx="472440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b="1" spc="-15" dirty="0">
                <a:solidFill>
                  <a:srgbClr val="2E5496"/>
                </a:solidFill>
                <a:latin typeface="Calibri" panose="020F0502020204030204"/>
                <a:cs typeface="Calibri" panose="020F0502020204030204"/>
              </a:rPr>
              <a:t>Clustering</a:t>
            </a:r>
            <a:r>
              <a:rPr sz="4400" b="1" spc="-75" dirty="0">
                <a:solidFill>
                  <a:srgbClr val="2E5496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4400" b="1" spc="-10" dirty="0">
                <a:solidFill>
                  <a:srgbClr val="2E5496"/>
                </a:solidFill>
                <a:latin typeface="Calibri" panose="020F0502020204030204"/>
                <a:cs typeface="Calibri" panose="020F0502020204030204"/>
              </a:rPr>
              <a:t>algorithm</a:t>
            </a:r>
            <a:endParaRPr sz="4400">
              <a:latin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0" rIns="0" bIns="0" rtlCol="0">
            <a:spAutoFit/>
          </a:bodyPr>
          <a:lstStyle/>
          <a:p>
            <a:pPr marL="1334135" marR="5080" indent="-1090295">
              <a:lnSpc>
                <a:spcPts val="4320"/>
              </a:lnSpc>
              <a:spcBef>
                <a:spcPts val="640"/>
              </a:spcBef>
            </a:pPr>
            <a:r>
              <a:rPr sz="4000" b="1" dirty="0">
                <a:solidFill>
                  <a:srgbClr val="2E5496"/>
                </a:solidFill>
                <a:latin typeface="Calibri" panose="020F0502020204030204"/>
                <a:cs typeface="Calibri" panose="020F0502020204030204"/>
              </a:rPr>
              <a:t>Unsupervised</a:t>
            </a:r>
            <a:r>
              <a:rPr sz="4000" b="1" spc="15" dirty="0">
                <a:solidFill>
                  <a:srgbClr val="2E5496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4000" b="1" spc="-5" dirty="0">
                <a:solidFill>
                  <a:srgbClr val="2E5496"/>
                </a:solidFill>
                <a:latin typeface="Calibri" panose="020F0502020204030204"/>
                <a:cs typeface="Calibri" panose="020F0502020204030204"/>
              </a:rPr>
              <a:t>learning</a:t>
            </a:r>
            <a:r>
              <a:rPr sz="4000" b="1" spc="20" dirty="0">
                <a:solidFill>
                  <a:srgbClr val="2E5496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4000" b="1" spc="-10" dirty="0">
                <a:solidFill>
                  <a:srgbClr val="2E5496"/>
                </a:solidFill>
                <a:latin typeface="Calibri" panose="020F0502020204030204"/>
                <a:cs typeface="Calibri" panose="020F0502020204030204"/>
              </a:rPr>
              <a:t>algorithms: </a:t>
            </a:r>
            <a:r>
              <a:rPr sz="4000" b="1" spc="-890" dirty="0">
                <a:solidFill>
                  <a:srgbClr val="2E5496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4000" b="1" spc="-15" dirty="0">
                <a:solidFill>
                  <a:srgbClr val="2E5496"/>
                </a:solidFill>
                <a:latin typeface="Calibri" panose="020F0502020204030204"/>
                <a:cs typeface="Calibri" panose="020F0502020204030204"/>
              </a:rPr>
              <a:t>Visualization</a:t>
            </a:r>
            <a:r>
              <a:rPr sz="4000" b="1" spc="25" dirty="0">
                <a:solidFill>
                  <a:srgbClr val="2E5496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4000" b="1" spc="-10" dirty="0">
                <a:solidFill>
                  <a:srgbClr val="2E5496"/>
                </a:solidFill>
                <a:latin typeface="Calibri" panose="020F0502020204030204"/>
                <a:cs typeface="Calibri" panose="020F0502020204030204"/>
              </a:rPr>
              <a:t>algorithms</a:t>
            </a:r>
            <a:endParaRPr sz="40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07542" y="1802638"/>
            <a:ext cx="7527290" cy="3127375"/>
          </a:xfrm>
          <a:prstGeom prst="rect">
            <a:avLst/>
          </a:prstGeom>
        </p:spPr>
        <p:txBody>
          <a:bodyPr vert="horz" wrap="square" lIns="0" tIns="48895" rIns="0" bIns="0" rtlCol="0">
            <a:spAutoFit/>
          </a:bodyPr>
          <a:lstStyle/>
          <a:p>
            <a:pPr marL="184785" marR="327660" indent="-172720" algn="just">
              <a:lnSpc>
                <a:spcPct val="90000"/>
              </a:lnSpc>
              <a:spcBef>
                <a:spcPts val="385"/>
              </a:spcBef>
              <a:buFont typeface="Arial MT"/>
              <a:buChar char="•"/>
              <a:tabLst>
                <a:tab pos="185420" algn="l"/>
              </a:tabLst>
            </a:pPr>
            <a:r>
              <a:rPr sz="2400" b="1" spc="-1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Visualization</a:t>
            </a:r>
            <a:r>
              <a:rPr sz="2400" b="1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400" b="1" spc="-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algorithms </a:t>
            </a:r>
            <a:r>
              <a:rPr sz="2400" spc="-15" dirty="0">
                <a:latin typeface="Calibri" panose="020F0502020204030204"/>
                <a:cs typeface="Calibri" panose="020F0502020204030204"/>
              </a:rPr>
              <a:t>are</a:t>
            </a:r>
            <a:r>
              <a:rPr sz="2400" spc="-5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dirty="0">
                <a:latin typeface="Calibri" panose="020F0502020204030204"/>
                <a:cs typeface="Calibri" panose="020F0502020204030204"/>
              </a:rPr>
              <a:t>also</a:t>
            </a:r>
            <a:r>
              <a:rPr sz="2400" spc="-5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spc="-10" dirty="0">
                <a:latin typeface="Calibri" panose="020F0502020204030204"/>
                <a:cs typeface="Calibri" panose="020F0502020204030204"/>
              </a:rPr>
              <a:t>good examples</a:t>
            </a:r>
            <a:r>
              <a:rPr sz="2400" spc="-20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spc="-5" dirty="0">
                <a:latin typeface="Calibri" panose="020F0502020204030204"/>
                <a:cs typeface="Calibri" panose="020F0502020204030204"/>
              </a:rPr>
              <a:t>of </a:t>
            </a:r>
            <a:r>
              <a:rPr sz="2400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spc="-5" dirty="0">
                <a:latin typeface="Calibri" panose="020F0502020204030204"/>
                <a:cs typeface="Calibri" panose="020F0502020204030204"/>
              </a:rPr>
              <a:t>unsupervised </a:t>
            </a:r>
            <a:r>
              <a:rPr sz="2400" dirty="0">
                <a:latin typeface="Calibri" panose="020F0502020204030204"/>
                <a:cs typeface="Calibri" panose="020F0502020204030204"/>
              </a:rPr>
              <a:t>learning </a:t>
            </a:r>
            <a:r>
              <a:rPr sz="2400" spc="-5" dirty="0">
                <a:latin typeface="Calibri" panose="020F0502020204030204"/>
                <a:cs typeface="Calibri" panose="020F0502020204030204"/>
              </a:rPr>
              <a:t>algorithms: </a:t>
            </a:r>
            <a:r>
              <a:rPr sz="2400" spc="-10" dirty="0">
                <a:latin typeface="Calibri" panose="020F0502020204030204"/>
                <a:cs typeface="Calibri" panose="020F0502020204030204"/>
              </a:rPr>
              <a:t>you </a:t>
            </a:r>
            <a:r>
              <a:rPr sz="2400" spc="-15" dirty="0">
                <a:latin typeface="Calibri" panose="020F0502020204030204"/>
                <a:cs typeface="Calibri" panose="020F0502020204030204"/>
              </a:rPr>
              <a:t>feed </a:t>
            </a:r>
            <a:r>
              <a:rPr sz="2400" dirty="0">
                <a:latin typeface="Calibri" panose="020F0502020204030204"/>
                <a:cs typeface="Calibri" panose="020F0502020204030204"/>
              </a:rPr>
              <a:t>them a lot </a:t>
            </a:r>
            <a:r>
              <a:rPr sz="2400" spc="-10" dirty="0">
                <a:latin typeface="Calibri" panose="020F0502020204030204"/>
                <a:cs typeface="Calibri" panose="020F0502020204030204"/>
              </a:rPr>
              <a:t>of </a:t>
            </a:r>
            <a:r>
              <a:rPr sz="2400" spc="-530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spc="-15" dirty="0">
                <a:latin typeface="Calibri" panose="020F0502020204030204"/>
                <a:cs typeface="Calibri" panose="020F0502020204030204"/>
              </a:rPr>
              <a:t>complex </a:t>
            </a:r>
            <a:r>
              <a:rPr sz="2400" dirty="0">
                <a:latin typeface="Calibri" panose="020F0502020204030204"/>
                <a:cs typeface="Calibri" panose="020F0502020204030204"/>
              </a:rPr>
              <a:t>and </a:t>
            </a:r>
            <a:r>
              <a:rPr sz="2400" spc="-5" dirty="0">
                <a:latin typeface="Calibri" panose="020F0502020204030204"/>
                <a:cs typeface="Calibri" panose="020F0502020204030204"/>
              </a:rPr>
              <a:t>unlabeled </a:t>
            </a:r>
            <a:r>
              <a:rPr sz="2400" spc="-10" dirty="0">
                <a:latin typeface="Calibri" panose="020F0502020204030204"/>
                <a:cs typeface="Calibri" panose="020F0502020204030204"/>
              </a:rPr>
              <a:t>data, </a:t>
            </a:r>
            <a:r>
              <a:rPr sz="2400" dirty="0">
                <a:latin typeface="Calibri" panose="020F0502020204030204"/>
                <a:cs typeface="Calibri" panose="020F0502020204030204"/>
              </a:rPr>
              <a:t>and </a:t>
            </a:r>
            <a:r>
              <a:rPr sz="2400" spc="-5" dirty="0">
                <a:latin typeface="Calibri" panose="020F0502020204030204"/>
                <a:cs typeface="Calibri" panose="020F0502020204030204"/>
              </a:rPr>
              <a:t>they output </a:t>
            </a:r>
            <a:r>
              <a:rPr sz="2400" dirty="0">
                <a:latin typeface="Calibri" panose="020F0502020204030204"/>
                <a:cs typeface="Calibri" panose="020F0502020204030204"/>
              </a:rPr>
              <a:t>a 2D </a:t>
            </a:r>
            <a:r>
              <a:rPr sz="2400" spc="-10" dirty="0">
                <a:latin typeface="Calibri" panose="020F0502020204030204"/>
                <a:cs typeface="Calibri" panose="020F0502020204030204"/>
              </a:rPr>
              <a:t>or </a:t>
            </a:r>
            <a:r>
              <a:rPr sz="2400" spc="-5" dirty="0">
                <a:latin typeface="Calibri" panose="020F0502020204030204"/>
                <a:cs typeface="Calibri" panose="020F0502020204030204"/>
              </a:rPr>
              <a:t>3D </a:t>
            </a:r>
            <a:r>
              <a:rPr sz="2400" spc="-530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spc="-10" dirty="0">
                <a:latin typeface="Calibri" panose="020F0502020204030204"/>
                <a:cs typeface="Calibri" panose="020F0502020204030204"/>
              </a:rPr>
              <a:t>representation</a:t>
            </a:r>
            <a:r>
              <a:rPr sz="2400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spc="-5" dirty="0">
                <a:latin typeface="Calibri" panose="020F0502020204030204"/>
                <a:cs typeface="Calibri" panose="020F0502020204030204"/>
              </a:rPr>
              <a:t>of</a:t>
            </a:r>
            <a:r>
              <a:rPr sz="2400" spc="-10" dirty="0">
                <a:latin typeface="Calibri" panose="020F0502020204030204"/>
                <a:cs typeface="Calibri" panose="020F0502020204030204"/>
              </a:rPr>
              <a:t> your</a:t>
            </a:r>
            <a:r>
              <a:rPr sz="2400" spc="-5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spc="-15" dirty="0">
                <a:latin typeface="Calibri" panose="020F0502020204030204"/>
                <a:cs typeface="Calibri" panose="020F0502020204030204"/>
              </a:rPr>
              <a:t>data </a:t>
            </a:r>
            <a:r>
              <a:rPr sz="2400" spc="-10" dirty="0">
                <a:latin typeface="Calibri" panose="020F0502020204030204"/>
                <a:cs typeface="Calibri" panose="020F0502020204030204"/>
              </a:rPr>
              <a:t>that</a:t>
            </a:r>
            <a:r>
              <a:rPr sz="2400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spc="-10" dirty="0">
                <a:latin typeface="Calibri" panose="020F0502020204030204"/>
                <a:cs typeface="Calibri" panose="020F0502020204030204"/>
              </a:rPr>
              <a:t>can</a:t>
            </a:r>
            <a:r>
              <a:rPr sz="2400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spc="-5" dirty="0">
                <a:latin typeface="Calibri" panose="020F0502020204030204"/>
                <a:cs typeface="Calibri" panose="020F0502020204030204"/>
              </a:rPr>
              <a:t>easily be </a:t>
            </a:r>
            <a:r>
              <a:rPr sz="2400" spc="-15" dirty="0">
                <a:latin typeface="Calibri" panose="020F0502020204030204"/>
                <a:cs typeface="Calibri" panose="020F0502020204030204"/>
              </a:rPr>
              <a:t>plotted</a:t>
            </a:r>
            <a:endParaRPr sz="2400">
              <a:latin typeface="Calibri" panose="020F0502020204030204"/>
              <a:cs typeface="Calibri" panose="020F0502020204030204"/>
            </a:endParaRPr>
          </a:p>
          <a:p>
            <a:pPr marL="184785" marR="5080" indent="-172720" algn="just">
              <a:lnSpc>
                <a:spcPct val="90000"/>
              </a:lnSpc>
              <a:spcBef>
                <a:spcPts val="805"/>
              </a:spcBef>
              <a:buFont typeface="Arial MT"/>
              <a:buChar char="•"/>
              <a:tabLst>
                <a:tab pos="185420" algn="l"/>
              </a:tabLst>
            </a:pPr>
            <a:r>
              <a:rPr sz="2400" spc="-5" dirty="0">
                <a:latin typeface="Calibri" panose="020F0502020204030204"/>
                <a:cs typeface="Calibri" panose="020F0502020204030204"/>
              </a:rPr>
              <a:t>These algorithms </a:t>
            </a:r>
            <a:r>
              <a:rPr sz="2400" dirty="0">
                <a:latin typeface="Calibri" panose="020F0502020204030204"/>
                <a:cs typeface="Calibri" panose="020F0502020204030204"/>
              </a:rPr>
              <a:t>try </a:t>
            </a:r>
            <a:r>
              <a:rPr sz="2400" spc="-15" dirty="0">
                <a:latin typeface="Calibri" panose="020F0502020204030204"/>
                <a:cs typeface="Calibri" panose="020F0502020204030204"/>
              </a:rPr>
              <a:t>to </a:t>
            </a:r>
            <a:r>
              <a:rPr sz="2400" spc="-10" dirty="0">
                <a:latin typeface="Calibri" panose="020F0502020204030204"/>
                <a:cs typeface="Calibri" panose="020F0502020204030204"/>
              </a:rPr>
              <a:t>preserve </a:t>
            </a:r>
            <a:r>
              <a:rPr sz="2400" dirty="0">
                <a:latin typeface="Calibri" panose="020F0502020204030204"/>
                <a:cs typeface="Calibri" panose="020F0502020204030204"/>
              </a:rPr>
              <a:t>as much </a:t>
            </a:r>
            <a:r>
              <a:rPr sz="2400" spc="-10" dirty="0">
                <a:latin typeface="Calibri" panose="020F0502020204030204"/>
                <a:cs typeface="Calibri" panose="020F0502020204030204"/>
              </a:rPr>
              <a:t>structure </a:t>
            </a:r>
            <a:r>
              <a:rPr sz="2400" dirty="0">
                <a:latin typeface="Calibri" panose="020F0502020204030204"/>
                <a:cs typeface="Calibri" panose="020F0502020204030204"/>
              </a:rPr>
              <a:t>as </a:t>
            </a:r>
            <a:r>
              <a:rPr sz="2400" spc="-5" dirty="0">
                <a:latin typeface="Calibri" panose="020F0502020204030204"/>
                <a:cs typeface="Calibri" panose="020F0502020204030204"/>
              </a:rPr>
              <a:t>they </a:t>
            </a:r>
            <a:r>
              <a:rPr sz="2400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spc="-10" dirty="0">
                <a:latin typeface="Calibri" panose="020F0502020204030204"/>
                <a:cs typeface="Calibri" panose="020F0502020204030204"/>
              </a:rPr>
              <a:t>can </a:t>
            </a:r>
            <a:r>
              <a:rPr sz="2400" dirty="0">
                <a:latin typeface="Calibri" panose="020F0502020204030204"/>
                <a:cs typeface="Calibri" panose="020F0502020204030204"/>
              </a:rPr>
              <a:t>(e.g., trying </a:t>
            </a:r>
            <a:r>
              <a:rPr sz="2400" spc="-15" dirty="0">
                <a:latin typeface="Calibri" panose="020F0502020204030204"/>
                <a:cs typeface="Calibri" panose="020F0502020204030204"/>
              </a:rPr>
              <a:t>to </a:t>
            </a:r>
            <a:r>
              <a:rPr sz="2400" spc="-20" dirty="0">
                <a:latin typeface="Calibri" panose="020F0502020204030204"/>
                <a:cs typeface="Calibri" panose="020F0502020204030204"/>
              </a:rPr>
              <a:t>keep </a:t>
            </a:r>
            <a:r>
              <a:rPr sz="2400" spc="-15" dirty="0">
                <a:latin typeface="Calibri" panose="020F0502020204030204"/>
                <a:cs typeface="Calibri" panose="020F0502020204030204"/>
              </a:rPr>
              <a:t>separate </a:t>
            </a:r>
            <a:r>
              <a:rPr sz="2400" spc="-10" dirty="0">
                <a:latin typeface="Calibri" panose="020F0502020204030204"/>
                <a:cs typeface="Calibri" panose="020F0502020204030204"/>
              </a:rPr>
              <a:t>clusters </a:t>
            </a:r>
            <a:r>
              <a:rPr sz="2400" dirty="0">
                <a:latin typeface="Calibri" panose="020F0502020204030204"/>
                <a:cs typeface="Calibri" panose="020F0502020204030204"/>
              </a:rPr>
              <a:t>in the input </a:t>
            </a:r>
            <a:r>
              <a:rPr sz="2400" spc="-5" dirty="0">
                <a:latin typeface="Calibri" panose="020F0502020204030204"/>
                <a:cs typeface="Calibri" panose="020F0502020204030204"/>
              </a:rPr>
              <a:t>space </a:t>
            </a:r>
            <a:r>
              <a:rPr sz="2400" spc="-530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spc="-15" dirty="0">
                <a:latin typeface="Calibri" panose="020F0502020204030204"/>
                <a:cs typeface="Calibri" panose="020F0502020204030204"/>
              </a:rPr>
              <a:t>from </a:t>
            </a:r>
            <a:r>
              <a:rPr sz="2400" spc="-5" dirty="0">
                <a:latin typeface="Calibri" panose="020F0502020204030204"/>
                <a:cs typeface="Calibri" panose="020F0502020204030204"/>
              </a:rPr>
              <a:t>overlapping </a:t>
            </a:r>
            <a:r>
              <a:rPr sz="2400" dirty="0">
                <a:latin typeface="Calibri" panose="020F0502020204030204"/>
                <a:cs typeface="Calibri" panose="020F0502020204030204"/>
              </a:rPr>
              <a:t>in the </a:t>
            </a:r>
            <a:r>
              <a:rPr sz="2400" spc="-10" dirty="0">
                <a:latin typeface="Calibri" panose="020F0502020204030204"/>
                <a:cs typeface="Calibri" panose="020F0502020204030204"/>
              </a:rPr>
              <a:t>visualization) </a:t>
            </a:r>
            <a:r>
              <a:rPr sz="2400" spc="-5" dirty="0">
                <a:latin typeface="Calibri" panose="020F0502020204030204"/>
                <a:cs typeface="Calibri" panose="020F0502020204030204"/>
              </a:rPr>
              <a:t>so </a:t>
            </a:r>
            <a:r>
              <a:rPr sz="2400" spc="-10" dirty="0">
                <a:latin typeface="Calibri" panose="020F0502020204030204"/>
                <a:cs typeface="Calibri" panose="020F0502020204030204"/>
              </a:rPr>
              <a:t>that you can </a:t>
            </a:r>
            <a:r>
              <a:rPr sz="2400" spc="-5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spc="-15" dirty="0">
                <a:latin typeface="Calibri" panose="020F0502020204030204"/>
                <a:cs typeface="Calibri" panose="020F0502020204030204"/>
              </a:rPr>
              <a:t>understand </a:t>
            </a:r>
            <a:r>
              <a:rPr sz="2400" spc="-10" dirty="0">
                <a:latin typeface="Calibri" panose="020F0502020204030204"/>
                <a:cs typeface="Calibri" panose="020F0502020204030204"/>
              </a:rPr>
              <a:t>how</a:t>
            </a:r>
            <a:r>
              <a:rPr sz="2400" spc="5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dirty="0">
                <a:latin typeface="Calibri" panose="020F0502020204030204"/>
                <a:cs typeface="Calibri" panose="020F0502020204030204"/>
              </a:rPr>
              <a:t>the</a:t>
            </a:r>
            <a:r>
              <a:rPr sz="2400" spc="5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spc="-15" dirty="0">
                <a:latin typeface="Calibri" panose="020F0502020204030204"/>
                <a:cs typeface="Calibri" panose="020F0502020204030204"/>
              </a:rPr>
              <a:t>data</a:t>
            </a:r>
            <a:r>
              <a:rPr sz="2400" spc="-10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dirty="0">
                <a:latin typeface="Calibri" panose="020F0502020204030204"/>
                <a:cs typeface="Calibri" panose="020F0502020204030204"/>
              </a:rPr>
              <a:t>is </a:t>
            </a:r>
            <a:r>
              <a:rPr sz="2400" spc="-20" dirty="0">
                <a:latin typeface="Calibri" panose="020F0502020204030204"/>
                <a:cs typeface="Calibri" panose="020F0502020204030204"/>
              </a:rPr>
              <a:t>organized</a:t>
            </a:r>
            <a:r>
              <a:rPr sz="2400" spc="5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dirty="0">
                <a:latin typeface="Calibri" panose="020F0502020204030204"/>
                <a:cs typeface="Calibri" panose="020F0502020204030204"/>
              </a:rPr>
              <a:t>and </a:t>
            </a:r>
            <a:r>
              <a:rPr sz="2400" spc="-5" dirty="0">
                <a:latin typeface="Calibri" panose="020F0502020204030204"/>
                <a:cs typeface="Calibri" panose="020F0502020204030204"/>
              </a:rPr>
              <a:t>perhaps identify </a:t>
            </a:r>
            <a:r>
              <a:rPr sz="2400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spc="-10" dirty="0">
                <a:latin typeface="Calibri" panose="020F0502020204030204"/>
                <a:cs typeface="Calibri" panose="020F0502020204030204"/>
              </a:rPr>
              <a:t>unsuspected</a:t>
            </a:r>
            <a:r>
              <a:rPr sz="2400" spc="-5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spc="-15" dirty="0">
                <a:latin typeface="Calibri" panose="020F0502020204030204"/>
                <a:cs typeface="Calibri" panose="020F0502020204030204"/>
              </a:rPr>
              <a:t>patterns.</a:t>
            </a:r>
            <a:endParaRPr sz="2400">
              <a:latin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862583" y="1633776"/>
            <a:ext cx="7399228" cy="4875227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778254" y="609676"/>
            <a:ext cx="558800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b="1" spc="-15" dirty="0">
                <a:solidFill>
                  <a:srgbClr val="2E5496"/>
                </a:solidFill>
                <a:latin typeface="Calibri" panose="020F0502020204030204"/>
                <a:cs typeface="Calibri" panose="020F0502020204030204"/>
              </a:rPr>
              <a:t>Visualization</a:t>
            </a:r>
            <a:r>
              <a:rPr sz="4400" b="1" spc="-60" dirty="0">
                <a:solidFill>
                  <a:srgbClr val="2E5496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4400" b="1" spc="-5" dirty="0">
                <a:solidFill>
                  <a:srgbClr val="2E5496"/>
                </a:solidFill>
                <a:latin typeface="Calibri" panose="020F0502020204030204"/>
                <a:cs typeface="Calibri" panose="020F0502020204030204"/>
              </a:rPr>
              <a:t>algorithms</a:t>
            </a:r>
            <a:endParaRPr sz="4400">
              <a:latin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0" rIns="0" bIns="0" rtlCol="0">
            <a:spAutoFit/>
          </a:bodyPr>
          <a:lstStyle/>
          <a:p>
            <a:pPr marL="1198245" marR="5080" indent="-954405">
              <a:lnSpc>
                <a:spcPts val="4320"/>
              </a:lnSpc>
              <a:spcBef>
                <a:spcPts val="640"/>
              </a:spcBef>
            </a:pPr>
            <a:r>
              <a:rPr sz="4000" b="1" dirty="0">
                <a:solidFill>
                  <a:srgbClr val="2E5496"/>
                </a:solidFill>
                <a:latin typeface="Calibri" panose="020F0502020204030204"/>
                <a:cs typeface="Calibri" panose="020F0502020204030204"/>
              </a:rPr>
              <a:t>Unsupervised</a:t>
            </a:r>
            <a:r>
              <a:rPr sz="4000" b="1" spc="15" dirty="0">
                <a:solidFill>
                  <a:srgbClr val="2E5496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4000" b="1" spc="-5" dirty="0">
                <a:solidFill>
                  <a:srgbClr val="2E5496"/>
                </a:solidFill>
                <a:latin typeface="Calibri" panose="020F0502020204030204"/>
                <a:cs typeface="Calibri" panose="020F0502020204030204"/>
              </a:rPr>
              <a:t>learning</a:t>
            </a:r>
            <a:r>
              <a:rPr sz="4000" b="1" spc="20" dirty="0">
                <a:solidFill>
                  <a:srgbClr val="2E5496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4000" b="1" spc="-10" dirty="0">
                <a:solidFill>
                  <a:srgbClr val="2E5496"/>
                </a:solidFill>
                <a:latin typeface="Calibri" panose="020F0502020204030204"/>
                <a:cs typeface="Calibri" panose="020F0502020204030204"/>
              </a:rPr>
              <a:t>algorithms: </a:t>
            </a:r>
            <a:r>
              <a:rPr sz="4000" b="1" spc="-890" dirty="0">
                <a:solidFill>
                  <a:srgbClr val="2E5496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4000" b="1" spc="-10" dirty="0">
                <a:solidFill>
                  <a:srgbClr val="2E5496"/>
                </a:solidFill>
                <a:latin typeface="Calibri" panose="020F0502020204030204"/>
                <a:cs typeface="Calibri" panose="020F0502020204030204"/>
              </a:rPr>
              <a:t>Dimensionality</a:t>
            </a:r>
            <a:r>
              <a:rPr sz="4000" b="1" spc="25" dirty="0">
                <a:solidFill>
                  <a:srgbClr val="2E5496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4000" b="1" spc="-15" dirty="0">
                <a:solidFill>
                  <a:srgbClr val="2E5496"/>
                </a:solidFill>
                <a:latin typeface="Calibri" panose="020F0502020204030204"/>
                <a:cs typeface="Calibri" panose="020F0502020204030204"/>
              </a:rPr>
              <a:t>reduction</a:t>
            </a:r>
            <a:endParaRPr sz="40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07542" y="1810258"/>
            <a:ext cx="7637780" cy="4107815"/>
          </a:xfrm>
          <a:prstGeom prst="rect">
            <a:avLst/>
          </a:prstGeom>
        </p:spPr>
        <p:txBody>
          <a:bodyPr vert="horz" wrap="square" lIns="0" tIns="48260" rIns="0" bIns="0" rtlCol="0">
            <a:spAutoFit/>
          </a:bodyPr>
          <a:lstStyle/>
          <a:p>
            <a:pPr marL="184785" marR="244475" indent="-172720" algn="just">
              <a:lnSpc>
                <a:spcPts val="2270"/>
              </a:lnSpc>
              <a:spcBef>
                <a:spcPts val="380"/>
              </a:spcBef>
              <a:buFont typeface="Arial MT"/>
              <a:buChar char="•"/>
              <a:tabLst>
                <a:tab pos="185420" algn="l"/>
              </a:tabLst>
            </a:pPr>
            <a:r>
              <a:rPr sz="2100" dirty="0">
                <a:latin typeface="Calibri" panose="020F0502020204030204"/>
                <a:cs typeface="Calibri" panose="020F0502020204030204"/>
              </a:rPr>
              <a:t>A</a:t>
            </a:r>
            <a:r>
              <a:rPr sz="2100" spc="-5" dirty="0">
                <a:latin typeface="Calibri" panose="020F0502020204030204"/>
                <a:cs typeface="Calibri" panose="020F0502020204030204"/>
              </a:rPr>
              <a:t> </a:t>
            </a:r>
            <a:r>
              <a:rPr sz="2100" spc="-15" dirty="0">
                <a:latin typeface="Calibri" panose="020F0502020204030204"/>
                <a:cs typeface="Calibri" panose="020F0502020204030204"/>
              </a:rPr>
              <a:t>related</a:t>
            </a:r>
            <a:r>
              <a:rPr sz="2100" dirty="0">
                <a:latin typeface="Calibri" panose="020F0502020204030204"/>
                <a:cs typeface="Calibri" panose="020F0502020204030204"/>
              </a:rPr>
              <a:t> </a:t>
            </a:r>
            <a:r>
              <a:rPr sz="2100" spc="-5" dirty="0">
                <a:latin typeface="Calibri" panose="020F0502020204030204"/>
                <a:cs typeface="Calibri" panose="020F0502020204030204"/>
              </a:rPr>
              <a:t>task</a:t>
            </a:r>
            <a:r>
              <a:rPr sz="2100" spc="-25" dirty="0">
                <a:latin typeface="Calibri" panose="020F0502020204030204"/>
                <a:cs typeface="Calibri" panose="020F0502020204030204"/>
              </a:rPr>
              <a:t> </a:t>
            </a:r>
            <a:r>
              <a:rPr sz="2100" dirty="0">
                <a:latin typeface="Calibri" panose="020F0502020204030204"/>
                <a:cs typeface="Calibri" panose="020F0502020204030204"/>
              </a:rPr>
              <a:t>is</a:t>
            </a:r>
            <a:r>
              <a:rPr sz="2100" spc="5" dirty="0">
                <a:latin typeface="Calibri" panose="020F0502020204030204"/>
                <a:cs typeface="Calibri" panose="020F0502020204030204"/>
              </a:rPr>
              <a:t> </a:t>
            </a:r>
            <a:r>
              <a:rPr sz="2100" spc="-5" dirty="0">
                <a:latin typeface="Calibri" panose="020F0502020204030204"/>
                <a:cs typeface="Calibri" panose="020F0502020204030204"/>
              </a:rPr>
              <a:t>dimensionality</a:t>
            </a:r>
            <a:r>
              <a:rPr sz="2100" spc="5" dirty="0">
                <a:latin typeface="Calibri" panose="020F0502020204030204"/>
                <a:cs typeface="Calibri" panose="020F0502020204030204"/>
              </a:rPr>
              <a:t> </a:t>
            </a:r>
            <a:r>
              <a:rPr sz="2100" spc="-5" dirty="0">
                <a:latin typeface="Calibri" panose="020F0502020204030204"/>
                <a:cs typeface="Calibri" panose="020F0502020204030204"/>
              </a:rPr>
              <a:t>reduction,</a:t>
            </a:r>
            <a:r>
              <a:rPr sz="2100" spc="5" dirty="0">
                <a:latin typeface="Calibri" panose="020F0502020204030204"/>
                <a:cs typeface="Calibri" panose="020F0502020204030204"/>
              </a:rPr>
              <a:t> </a:t>
            </a:r>
            <a:r>
              <a:rPr sz="2100" dirty="0">
                <a:latin typeface="Calibri" panose="020F0502020204030204"/>
                <a:cs typeface="Calibri" panose="020F0502020204030204"/>
              </a:rPr>
              <a:t>in which</a:t>
            </a:r>
            <a:r>
              <a:rPr sz="2100" spc="-5" dirty="0">
                <a:latin typeface="Calibri" panose="020F0502020204030204"/>
                <a:cs typeface="Calibri" panose="020F0502020204030204"/>
              </a:rPr>
              <a:t> </a:t>
            </a:r>
            <a:r>
              <a:rPr sz="2100" dirty="0">
                <a:latin typeface="Calibri" panose="020F0502020204030204"/>
                <a:cs typeface="Calibri" panose="020F0502020204030204"/>
              </a:rPr>
              <a:t>the</a:t>
            </a:r>
            <a:r>
              <a:rPr sz="2100" spc="-10" dirty="0">
                <a:latin typeface="Calibri" panose="020F0502020204030204"/>
                <a:cs typeface="Calibri" panose="020F0502020204030204"/>
              </a:rPr>
              <a:t> goal</a:t>
            </a:r>
            <a:r>
              <a:rPr sz="2100" spc="10" dirty="0">
                <a:latin typeface="Calibri" panose="020F0502020204030204"/>
                <a:cs typeface="Calibri" panose="020F0502020204030204"/>
              </a:rPr>
              <a:t> </a:t>
            </a:r>
            <a:r>
              <a:rPr sz="2100" dirty="0">
                <a:latin typeface="Calibri" panose="020F0502020204030204"/>
                <a:cs typeface="Calibri" panose="020F0502020204030204"/>
              </a:rPr>
              <a:t>is </a:t>
            </a:r>
            <a:r>
              <a:rPr sz="2100" spc="-10" dirty="0">
                <a:latin typeface="Calibri" panose="020F0502020204030204"/>
                <a:cs typeface="Calibri" panose="020F0502020204030204"/>
              </a:rPr>
              <a:t>to </a:t>
            </a:r>
            <a:r>
              <a:rPr sz="2100" spc="-5" dirty="0">
                <a:latin typeface="Calibri" panose="020F0502020204030204"/>
                <a:cs typeface="Calibri" panose="020F0502020204030204"/>
              </a:rPr>
              <a:t> simplify</a:t>
            </a:r>
            <a:r>
              <a:rPr sz="2100" spc="25" dirty="0">
                <a:latin typeface="Calibri" panose="020F0502020204030204"/>
                <a:cs typeface="Calibri" panose="020F0502020204030204"/>
              </a:rPr>
              <a:t> </a:t>
            </a:r>
            <a:r>
              <a:rPr sz="2100" dirty="0">
                <a:latin typeface="Calibri" panose="020F0502020204030204"/>
                <a:cs typeface="Calibri" panose="020F0502020204030204"/>
              </a:rPr>
              <a:t>the</a:t>
            </a:r>
            <a:r>
              <a:rPr sz="2100" spc="-5" dirty="0">
                <a:latin typeface="Calibri" panose="020F0502020204030204"/>
                <a:cs typeface="Calibri" panose="020F0502020204030204"/>
              </a:rPr>
              <a:t> </a:t>
            </a:r>
            <a:r>
              <a:rPr sz="2100" spc="-15" dirty="0">
                <a:latin typeface="Calibri" panose="020F0502020204030204"/>
                <a:cs typeface="Calibri" panose="020F0502020204030204"/>
              </a:rPr>
              <a:t>data</a:t>
            </a:r>
            <a:r>
              <a:rPr sz="2100" spc="-35" dirty="0">
                <a:latin typeface="Calibri" panose="020F0502020204030204"/>
                <a:cs typeface="Calibri" panose="020F0502020204030204"/>
              </a:rPr>
              <a:t> </a:t>
            </a:r>
            <a:r>
              <a:rPr sz="2100" dirty="0">
                <a:latin typeface="Calibri" panose="020F0502020204030204"/>
                <a:cs typeface="Calibri" panose="020F0502020204030204"/>
              </a:rPr>
              <a:t>without</a:t>
            </a:r>
            <a:r>
              <a:rPr sz="2100" spc="-5" dirty="0">
                <a:latin typeface="Calibri" panose="020F0502020204030204"/>
                <a:cs typeface="Calibri" panose="020F0502020204030204"/>
              </a:rPr>
              <a:t> losing</a:t>
            </a:r>
            <a:r>
              <a:rPr sz="2100" spc="15" dirty="0">
                <a:latin typeface="Calibri" panose="020F0502020204030204"/>
                <a:cs typeface="Calibri" panose="020F0502020204030204"/>
              </a:rPr>
              <a:t> </a:t>
            </a:r>
            <a:r>
              <a:rPr sz="2100" spc="-10" dirty="0">
                <a:latin typeface="Calibri" panose="020F0502020204030204"/>
                <a:cs typeface="Calibri" panose="020F0502020204030204"/>
              </a:rPr>
              <a:t>too</a:t>
            </a:r>
            <a:r>
              <a:rPr sz="2100" dirty="0">
                <a:latin typeface="Calibri" panose="020F0502020204030204"/>
                <a:cs typeface="Calibri" panose="020F0502020204030204"/>
              </a:rPr>
              <a:t> much</a:t>
            </a:r>
            <a:r>
              <a:rPr sz="2100" spc="-20" dirty="0">
                <a:latin typeface="Calibri" panose="020F0502020204030204"/>
                <a:cs typeface="Calibri" panose="020F0502020204030204"/>
              </a:rPr>
              <a:t> </a:t>
            </a:r>
            <a:r>
              <a:rPr sz="2100" spc="-10" dirty="0">
                <a:latin typeface="Calibri" panose="020F0502020204030204"/>
                <a:cs typeface="Calibri" panose="020F0502020204030204"/>
              </a:rPr>
              <a:t>information.</a:t>
            </a:r>
            <a:r>
              <a:rPr sz="2100" spc="5" dirty="0">
                <a:latin typeface="Calibri" panose="020F0502020204030204"/>
                <a:cs typeface="Calibri" panose="020F0502020204030204"/>
              </a:rPr>
              <a:t> </a:t>
            </a:r>
            <a:r>
              <a:rPr sz="2100" spc="-5" dirty="0">
                <a:latin typeface="Calibri" panose="020F0502020204030204"/>
                <a:cs typeface="Calibri" panose="020F0502020204030204"/>
              </a:rPr>
              <a:t>One</a:t>
            </a:r>
            <a:r>
              <a:rPr sz="2100" dirty="0">
                <a:latin typeface="Calibri" panose="020F0502020204030204"/>
                <a:cs typeface="Calibri" panose="020F0502020204030204"/>
              </a:rPr>
              <a:t> </a:t>
            </a:r>
            <a:r>
              <a:rPr sz="2100" spc="-20" dirty="0">
                <a:latin typeface="Calibri" panose="020F0502020204030204"/>
                <a:cs typeface="Calibri" panose="020F0502020204030204"/>
              </a:rPr>
              <a:t>way</a:t>
            </a:r>
            <a:r>
              <a:rPr sz="2100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sz="2100" spc="-10" dirty="0">
                <a:latin typeface="Calibri" panose="020F0502020204030204"/>
                <a:cs typeface="Calibri" panose="020F0502020204030204"/>
              </a:rPr>
              <a:t>to </a:t>
            </a:r>
            <a:r>
              <a:rPr sz="2100" spc="-459" dirty="0">
                <a:latin typeface="Calibri" panose="020F0502020204030204"/>
                <a:cs typeface="Calibri" panose="020F0502020204030204"/>
              </a:rPr>
              <a:t> </a:t>
            </a:r>
            <a:r>
              <a:rPr sz="2100" spc="-5" dirty="0">
                <a:latin typeface="Calibri" panose="020F0502020204030204"/>
                <a:cs typeface="Calibri" panose="020F0502020204030204"/>
              </a:rPr>
              <a:t>do </a:t>
            </a:r>
            <a:r>
              <a:rPr sz="2100" dirty="0">
                <a:latin typeface="Calibri" panose="020F0502020204030204"/>
                <a:cs typeface="Calibri" panose="020F0502020204030204"/>
              </a:rPr>
              <a:t>this is</a:t>
            </a:r>
            <a:r>
              <a:rPr sz="2100" spc="5" dirty="0">
                <a:latin typeface="Calibri" panose="020F0502020204030204"/>
                <a:cs typeface="Calibri" panose="020F0502020204030204"/>
              </a:rPr>
              <a:t> </a:t>
            </a:r>
            <a:r>
              <a:rPr sz="2100" spc="-15" dirty="0">
                <a:latin typeface="Calibri" panose="020F0502020204030204"/>
                <a:cs typeface="Calibri" panose="020F0502020204030204"/>
              </a:rPr>
              <a:t>to</a:t>
            </a:r>
            <a:r>
              <a:rPr sz="2100" spc="-5" dirty="0">
                <a:latin typeface="Calibri" panose="020F0502020204030204"/>
                <a:cs typeface="Calibri" panose="020F0502020204030204"/>
              </a:rPr>
              <a:t> </a:t>
            </a:r>
            <a:r>
              <a:rPr sz="2100" spc="-10" dirty="0">
                <a:latin typeface="Calibri" panose="020F0502020204030204"/>
                <a:cs typeface="Calibri" panose="020F0502020204030204"/>
              </a:rPr>
              <a:t>merge</a:t>
            </a:r>
            <a:r>
              <a:rPr sz="2100" dirty="0">
                <a:latin typeface="Calibri" panose="020F0502020204030204"/>
                <a:cs typeface="Calibri" panose="020F0502020204030204"/>
              </a:rPr>
              <a:t> </a:t>
            </a:r>
            <a:r>
              <a:rPr sz="2100" spc="-15" dirty="0">
                <a:latin typeface="Calibri" panose="020F0502020204030204"/>
                <a:cs typeface="Calibri" panose="020F0502020204030204"/>
              </a:rPr>
              <a:t>several</a:t>
            </a:r>
            <a:r>
              <a:rPr sz="2100" spc="35" dirty="0">
                <a:latin typeface="Calibri" panose="020F0502020204030204"/>
                <a:cs typeface="Calibri" panose="020F0502020204030204"/>
              </a:rPr>
              <a:t> </a:t>
            </a:r>
            <a:r>
              <a:rPr sz="2100" spc="-15" dirty="0">
                <a:latin typeface="Calibri" panose="020F0502020204030204"/>
                <a:cs typeface="Calibri" panose="020F0502020204030204"/>
              </a:rPr>
              <a:t>correlated</a:t>
            </a:r>
            <a:r>
              <a:rPr sz="2100" spc="10" dirty="0">
                <a:latin typeface="Calibri" panose="020F0502020204030204"/>
                <a:cs typeface="Calibri" panose="020F0502020204030204"/>
              </a:rPr>
              <a:t> </a:t>
            </a:r>
            <a:r>
              <a:rPr sz="2100" spc="-15" dirty="0">
                <a:latin typeface="Calibri" panose="020F0502020204030204"/>
                <a:cs typeface="Calibri" panose="020F0502020204030204"/>
              </a:rPr>
              <a:t>features into</a:t>
            </a:r>
            <a:r>
              <a:rPr sz="2100" spc="5" dirty="0">
                <a:latin typeface="Calibri" panose="020F0502020204030204"/>
                <a:cs typeface="Calibri" panose="020F0502020204030204"/>
              </a:rPr>
              <a:t> </a:t>
            </a:r>
            <a:r>
              <a:rPr sz="2100" spc="-5" dirty="0">
                <a:latin typeface="Calibri" panose="020F0502020204030204"/>
                <a:cs typeface="Calibri" panose="020F0502020204030204"/>
              </a:rPr>
              <a:t>one.</a:t>
            </a:r>
            <a:endParaRPr sz="2100">
              <a:latin typeface="Calibri" panose="020F0502020204030204"/>
              <a:cs typeface="Calibri" panose="020F0502020204030204"/>
            </a:endParaRPr>
          </a:p>
          <a:p>
            <a:pPr marL="184785" marR="40640" indent="-172720" algn="just">
              <a:lnSpc>
                <a:spcPts val="2270"/>
              </a:lnSpc>
              <a:spcBef>
                <a:spcPts val="790"/>
              </a:spcBef>
              <a:buFont typeface="Arial MT"/>
              <a:buChar char="•"/>
              <a:tabLst>
                <a:tab pos="185420" algn="l"/>
              </a:tabLst>
            </a:pPr>
            <a:r>
              <a:rPr sz="2100" spc="-15" dirty="0">
                <a:latin typeface="Calibri" panose="020F0502020204030204"/>
                <a:cs typeface="Calibri" panose="020F0502020204030204"/>
              </a:rPr>
              <a:t>For</a:t>
            </a:r>
            <a:r>
              <a:rPr sz="2100" spc="5" dirty="0">
                <a:latin typeface="Calibri" panose="020F0502020204030204"/>
                <a:cs typeface="Calibri" panose="020F0502020204030204"/>
              </a:rPr>
              <a:t> </a:t>
            </a:r>
            <a:r>
              <a:rPr sz="2100" spc="-10" dirty="0">
                <a:latin typeface="Calibri" panose="020F0502020204030204"/>
                <a:cs typeface="Calibri" panose="020F0502020204030204"/>
              </a:rPr>
              <a:t>example,</a:t>
            </a:r>
            <a:r>
              <a:rPr sz="2100" spc="5" dirty="0">
                <a:latin typeface="Calibri" panose="020F0502020204030204"/>
                <a:cs typeface="Calibri" panose="020F0502020204030204"/>
              </a:rPr>
              <a:t> </a:t>
            </a:r>
            <a:r>
              <a:rPr sz="2100" b="1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a </a:t>
            </a:r>
            <a:r>
              <a:rPr sz="2100" b="1" spc="-2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car’s</a:t>
            </a:r>
            <a:r>
              <a:rPr sz="2100" b="1" spc="1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100" b="1" spc="-1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mileage</a:t>
            </a:r>
            <a:r>
              <a:rPr sz="2100" b="1" spc="2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100" b="1" spc="-2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may</a:t>
            </a:r>
            <a:r>
              <a:rPr sz="2100" b="1" spc="1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100" b="1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be</a:t>
            </a:r>
            <a:r>
              <a:rPr sz="2100" b="1" spc="-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100" b="1" spc="-1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very</a:t>
            </a:r>
            <a:r>
              <a:rPr sz="2100" b="1" spc="1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100" b="1" spc="-1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correlated</a:t>
            </a:r>
            <a:r>
              <a:rPr sz="2100" b="1" spc="1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100" b="1" spc="-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with</a:t>
            </a:r>
            <a:r>
              <a:rPr sz="2100" b="1" spc="-1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100" b="1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its</a:t>
            </a:r>
            <a:r>
              <a:rPr sz="2100" b="1" spc="-1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100" b="1" spc="-1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age,</a:t>
            </a:r>
            <a:r>
              <a:rPr sz="2100" b="1" spc="4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100" spc="-5" dirty="0">
                <a:latin typeface="Calibri" panose="020F0502020204030204"/>
                <a:cs typeface="Calibri" panose="020F0502020204030204"/>
              </a:rPr>
              <a:t>so </a:t>
            </a:r>
            <a:r>
              <a:rPr sz="2100" spc="-459" dirty="0">
                <a:latin typeface="Calibri" panose="020F0502020204030204"/>
                <a:cs typeface="Calibri" panose="020F0502020204030204"/>
              </a:rPr>
              <a:t> </a:t>
            </a:r>
            <a:r>
              <a:rPr sz="2100" dirty="0">
                <a:latin typeface="Calibri" panose="020F0502020204030204"/>
                <a:cs typeface="Calibri" panose="020F0502020204030204"/>
              </a:rPr>
              <a:t>the</a:t>
            </a:r>
            <a:r>
              <a:rPr sz="2100" spc="-5" dirty="0">
                <a:latin typeface="Calibri" panose="020F0502020204030204"/>
                <a:cs typeface="Calibri" panose="020F0502020204030204"/>
              </a:rPr>
              <a:t> dimensionality</a:t>
            </a:r>
            <a:r>
              <a:rPr sz="2100" spc="25" dirty="0">
                <a:latin typeface="Calibri" panose="020F0502020204030204"/>
                <a:cs typeface="Calibri" panose="020F0502020204030204"/>
              </a:rPr>
              <a:t> </a:t>
            </a:r>
            <a:r>
              <a:rPr sz="2100" spc="-5" dirty="0">
                <a:latin typeface="Calibri" panose="020F0502020204030204"/>
                <a:cs typeface="Calibri" panose="020F0502020204030204"/>
              </a:rPr>
              <a:t>reduction algorithm</a:t>
            </a:r>
            <a:r>
              <a:rPr sz="2100" spc="5" dirty="0">
                <a:latin typeface="Calibri" panose="020F0502020204030204"/>
                <a:cs typeface="Calibri" panose="020F0502020204030204"/>
              </a:rPr>
              <a:t> </a:t>
            </a:r>
            <a:r>
              <a:rPr sz="2100" dirty="0">
                <a:latin typeface="Calibri" panose="020F0502020204030204"/>
                <a:cs typeface="Calibri" panose="020F0502020204030204"/>
              </a:rPr>
              <a:t>will</a:t>
            </a:r>
            <a:r>
              <a:rPr sz="2100" spc="15" dirty="0">
                <a:latin typeface="Calibri" panose="020F0502020204030204"/>
                <a:cs typeface="Calibri" panose="020F0502020204030204"/>
              </a:rPr>
              <a:t> </a:t>
            </a:r>
            <a:r>
              <a:rPr sz="2100" spc="-10" dirty="0">
                <a:latin typeface="Calibri" panose="020F0502020204030204"/>
                <a:cs typeface="Calibri" panose="020F0502020204030204"/>
              </a:rPr>
              <a:t>merge</a:t>
            </a:r>
            <a:r>
              <a:rPr sz="2100" dirty="0">
                <a:latin typeface="Calibri" panose="020F0502020204030204"/>
                <a:cs typeface="Calibri" panose="020F0502020204030204"/>
              </a:rPr>
              <a:t> </a:t>
            </a:r>
            <a:r>
              <a:rPr sz="2100" spc="-5" dirty="0">
                <a:latin typeface="Calibri" panose="020F0502020204030204"/>
                <a:cs typeface="Calibri" panose="020F0502020204030204"/>
              </a:rPr>
              <a:t>them </a:t>
            </a:r>
            <a:r>
              <a:rPr sz="2100" spc="-15" dirty="0">
                <a:latin typeface="Calibri" panose="020F0502020204030204"/>
                <a:cs typeface="Calibri" panose="020F0502020204030204"/>
              </a:rPr>
              <a:t>into</a:t>
            </a:r>
            <a:r>
              <a:rPr sz="2100" spc="-10" dirty="0">
                <a:latin typeface="Calibri" panose="020F0502020204030204"/>
                <a:cs typeface="Calibri" panose="020F0502020204030204"/>
              </a:rPr>
              <a:t> </a:t>
            </a:r>
            <a:r>
              <a:rPr sz="2100" spc="-5" dirty="0">
                <a:latin typeface="Calibri" panose="020F0502020204030204"/>
                <a:cs typeface="Calibri" panose="020F0502020204030204"/>
              </a:rPr>
              <a:t>one</a:t>
            </a:r>
            <a:endParaRPr sz="2100">
              <a:latin typeface="Calibri" panose="020F0502020204030204"/>
              <a:cs typeface="Calibri" panose="020F0502020204030204"/>
            </a:endParaRPr>
          </a:p>
          <a:p>
            <a:pPr marL="184785" algn="just">
              <a:lnSpc>
                <a:spcPts val="2105"/>
              </a:lnSpc>
            </a:pPr>
            <a:r>
              <a:rPr sz="2100" spc="-15" dirty="0">
                <a:latin typeface="Calibri" panose="020F0502020204030204"/>
                <a:cs typeface="Calibri" panose="020F0502020204030204"/>
              </a:rPr>
              <a:t>feature </a:t>
            </a:r>
            <a:r>
              <a:rPr sz="2100" spc="-5" dirty="0">
                <a:latin typeface="Calibri" panose="020F0502020204030204"/>
                <a:cs typeface="Calibri" panose="020F0502020204030204"/>
              </a:rPr>
              <a:t>that</a:t>
            </a:r>
            <a:r>
              <a:rPr sz="2100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sz="2100" spc="-10" dirty="0">
                <a:latin typeface="Calibri" panose="020F0502020204030204"/>
                <a:cs typeface="Calibri" panose="020F0502020204030204"/>
              </a:rPr>
              <a:t>represents</a:t>
            </a:r>
            <a:r>
              <a:rPr sz="2100" spc="25" dirty="0">
                <a:latin typeface="Calibri" panose="020F0502020204030204"/>
                <a:cs typeface="Calibri" panose="020F0502020204030204"/>
              </a:rPr>
              <a:t> </a:t>
            </a:r>
            <a:r>
              <a:rPr sz="2100" dirty="0">
                <a:latin typeface="Calibri" panose="020F0502020204030204"/>
                <a:cs typeface="Calibri" panose="020F0502020204030204"/>
              </a:rPr>
              <a:t>the </a:t>
            </a:r>
            <a:r>
              <a:rPr sz="2100" spc="-15" dirty="0">
                <a:latin typeface="Calibri" panose="020F0502020204030204"/>
                <a:cs typeface="Calibri" panose="020F0502020204030204"/>
              </a:rPr>
              <a:t>car’s </a:t>
            </a:r>
            <a:r>
              <a:rPr sz="2100" spc="-10" dirty="0">
                <a:latin typeface="Calibri" panose="020F0502020204030204"/>
                <a:cs typeface="Calibri" panose="020F0502020204030204"/>
              </a:rPr>
              <a:t>wear</a:t>
            </a:r>
            <a:r>
              <a:rPr sz="2100" spc="15" dirty="0">
                <a:latin typeface="Calibri" panose="020F0502020204030204"/>
                <a:cs typeface="Calibri" panose="020F0502020204030204"/>
              </a:rPr>
              <a:t> </a:t>
            </a:r>
            <a:r>
              <a:rPr sz="2100" dirty="0">
                <a:latin typeface="Calibri" panose="020F0502020204030204"/>
                <a:cs typeface="Calibri" panose="020F0502020204030204"/>
              </a:rPr>
              <a:t>and</a:t>
            </a:r>
            <a:r>
              <a:rPr sz="2100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sz="2100" spc="-50" dirty="0">
                <a:latin typeface="Calibri" panose="020F0502020204030204"/>
                <a:cs typeface="Calibri" panose="020F0502020204030204"/>
              </a:rPr>
              <a:t>tear.</a:t>
            </a:r>
            <a:r>
              <a:rPr sz="2100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sz="2100" spc="-5" dirty="0">
                <a:latin typeface="Calibri" panose="020F0502020204030204"/>
                <a:cs typeface="Calibri" panose="020F0502020204030204"/>
              </a:rPr>
              <a:t>This</a:t>
            </a:r>
            <a:r>
              <a:rPr sz="2100" spc="15" dirty="0">
                <a:latin typeface="Calibri" panose="020F0502020204030204"/>
                <a:cs typeface="Calibri" panose="020F0502020204030204"/>
              </a:rPr>
              <a:t> </a:t>
            </a:r>
            <a:r>
              <a:rPr sz="2100" dirty="0">
                <a:latin typeface="Calibri" panose="020F0502020204030204"/>
                <a:cs typeface="Calibri" panose="020F0502020204030204"/>
              </a:rPr>
              <a:t>is</a:t>
            </a:r>
            <a:r>
              <a:rPr sz="2100" spc="-10" dirty="0">
                <a:latin typeface="Calibri" panose="020F0502020204030204"/>
                <a:cs typeface="Calibri" panose="020F0502020204030204"/>
              </a:rPr>
              <a:t> </a:t>
            </a:r>
            <a:r>
              <a:rPr sz="2100" spc="-5" dirty="0">
                <a:latin typeface="Calibri" panose="020F0502020204030204"/>
                <a:cs typeface="Calibri" panose="020F0502020204030204"/>
              </a:rPr>
              <a:t>called </a:t>
            </a:r>
            <a:r>
              <a:rPr sz="2100" spc="-15" dirty="0">
                <a:latin typeface="Calibri" panose="020F0502020204030204"/>
                <a:cs typeface="Calibri" panose="020F0502020204030204"/>
              </a:rPr>
              <a:t>feature</a:t>
            </a:r>
            <a:endParaRPr sz="2100">
              <a:latin typeface="Calibri" panose="020F0502020204030204"/>
              <a:cs typeface="Calibri" panose="020F0502020204030204"/>
            </a:endParaRPr>
          </a:p>
          <a:p>
            <a:pPr marL="184785" algn="just">
              <a:lnSpc>
                <a:spcPts val="2395"/>
              </a:lnSpc>
            </a:pPr>
            <a:r>
              <a:rPr sz="2100" spc="-10" dirty="0">
                <a:latin typeface="Calibri" panose="020F0502020204030204"/>
                <a:cs typeface="Calibri" panose="020F0502020204030204"/>
              </a:rPr>
              <a:t>extraction.</a:t>
            </a:r>
            <a:endParaRPr sz="2100">
              <a:latin typeface="Calibri" panose="020F0502020204030204"/>
              <a:cs typeface="Calibri" panose="020F0502020204030204"/>
            </a:endParaRPr>
          </a:p>
          <a:p>
            <a:pPr marL="184785" marR="5080" indent="-172720" algn="just">
              <a:lnSpc>
                <a:spcPts val="2270"/>
              </a:lnSpc>
              <a:spcBef>
                <a:spcPts val="840"/>
              </a:spcBef>
              <a:buFont typeface="Arial MT"/>
              <a:buChar char="•"/>
              <a:tabLst>
                <a:tab pos="185420" algn="l"/>
              </a:tabLst>
            </a:pPr>
            <a:r>
              <a:rPr sz="2100" dirty="0">
                <a:latin typeface="Calibri" panose="020F0502020204030204"/>
                <a:cs typeface="Calibri" panose="020F0502020204030204"/>
              </a:rPr>
              <a:t>It</a:t>
            </a:r>
            <a:r>
              <a:rPr sz="2100" spc="-5" dirty="0">
                <a:latin typeface="Calibri" panose="020F0502020204030204"/>
                <a:cs typeface="Calibri" panose="020F0502020204030204"/>
              </a:rPr>
              <a:t> is</a:t>
            </a:r>
            <a:r>
              <a:rPr sz="2100" spc="5" dirty="0">
                <a:latin typeface="Calibri" panose="020F0502020204030204"/>
                <a:cs typeface="Calibri" panose="020F0502020204030204"/>
              </a:rPr>
              <a:t> </a:t>
            </a:r>
            <a:r>
              <a:rPr sz="2100" spc="-10" dirty="0">
                <a:latin typeface="Calibri" panose="020F0502020204030204"/>
                <a:cs typeface="Calibri" panose="020F0502020204030204"/>
              </a:rPr>
              <a:t>often</a:t>
            </a:r>
            <a:r>
              <a:rPr sz="2100" dirty="0">
                <a:latin typeface="Calibri" panose="020F0502020204030204"/>
                <a:cs typeface="Calibri" panose="020F0502020204030204"/>
              </a:rPr>
              <a:t> a</a:t>
            </a:r>
            <a:r>
              <a:rPr sz="2100" spc="-5" dirty="0">
                <a:latin typeface="Calibri" panose="020F0502020204030204"/>
                <a:cs typeface="Calibri" panose="020F0502020204030204"/>
              </a:rPr>
              <a:t> </a:t>
            </a:r>
            <a:r>
              <a:rPr sz="2100" spc="-10" dirty="0">
                <a:latin typeface="Calibri" panose="020F0502020204030204"/>
                <a:cs typeface="Calibri" panose="020F0502020204030204"/>
              </a:rPr>
              <a:t>good </a:t>
            </a:r>
            <a:r>
              <a:rPr sz="2100" dirty="0">
                <a:latin typeface="Calibri" panose="020F0502020204030204"/>
                <a:cs typeface="Calibri" panose="020F0502020204030204"/>
              </a:rPr>
              <a:t>idea </a:t>
            </a:r>
            <a:r>
              <a:rPr sz="2100" spc="-10" dirty="0">
                <a:latin typeface="Calibri" panose="020F0502020204030204"/>
                <a:cs typeface="Calibri" panose="020F0502020204030204"/>
              </a:rPr>
              <a:t>to</a:t>
            </a:r>
            <a:r>
              <a:rPr sz="2100" spc="-5" dirty="0">
                <a:latin typeface="Calibri" panose="020F0502020204030204"/>
                <a:cs typeface="Calibri" panose="020F0502020204030204"/>
              </a:rPr>
              <a:t> </a:t>
            </a:r>
            <a:r>
              <a:rPr sz="2100" dirty="0">
                <a:latin typeface="Calibri" panose="020F0502020204030204"/>
                <a:cs typeface="Calibri" panose="020F0502020204030204"/>
              </a:rPr>
              <a:t>try</a:t>
            </a:r>
            <a:r>
              <a:rPr sz="2100" spc="-10" dirty="0">
                <a:latin typeface="Calibri" panose="020F0502020204030204"/>
                <a:cs typeface="Calibri" panose="020F0502020204030204"/>
              </a:rPr>
              <a:t> to</a:t>
            </a:r>
            <a:r>
              <a:rPr sz="2100" spc="-5" dirty="0">
                <a:latin typeface="Calibri" panose="020F0502020204030204"/>
                <a:cs typeface="Calibri" panose="020F0502020204030204"/>
              </a:rPr>
              <a:t> reduce </a:t>
            </a:r>
            <a:r>
              <a:rPr sz="2100" dirty="0">
                <a:latin typeface="Calibri" panose="020F0502020204030204"/>
                <a:cs typeface="Calibri" panose="020F0502020204030204"/>
              </a:rPr>
              <a:t>the</a:t>
            </a:r>
            <a:r>
              <a:rPr sz="2100" spc="-10" dirty="0">
                <a:latin typeface="Calibri" panose="020F0502020204030204"/>
                <a:cs typeface="Calibri" panose="020F0502020204030204"/>
              </a:rPr>
              <a:t> </a:t>
            </a:r>
            <a:r>
              <a:rPr sz="2100" spc="-5" dirty="0">
                <a:latin typeface="Calibri" panose="020F0502020204030204"/>
                <a:cs typeface="Calibri" panose="020F0502020204030204"/>
              </a:rPr>
              <a:t>dimension</a:t>
            </a:r>
            <a:r>
              <a:rPr sz="2100" spc="20" dirty="0">
                <a:latin typeface="Calibri" panose="020F0502020204030204"/>
                <a:cs typeface="Calibri" panose="020F0502020204030204"/>
              </a:rPr>
              <a:t> </a:t>
            </a:r>
            <a:r>
              <a:rPr sz="2100" spc="-5" dirty="0">
                <a:latin typeface="Calibri" panose="020F0502020204030204"/>
                <a:cs typeface="Calibri" panose="020F0502020204030204"/>
              </a:rPr>
              <a:t>of</a:t>
            </a:r>
            <a:r>
              <a:rPr sz="2100" spc="-10" dirty="0">
                <a:latin typeface="Calibri" panose="020F0502020204030204"/>
                <a:cs typeface="Calibri" panose="020F0502020204030204"/>
              </a:rPr>
              <a:t> your</a:t>
            </a:r>
            <a:r>
              <a:rPr sz="2100" spc="10" dirty="0">
                <a:latin typeface="Calibri" panose="020F0502020204030204"/>
                <a:cs typeface="Calibri" panose="020F0502020204030204"/>
              </a:rPr>
              <a:t> </a:t>
            </a:r>
            <a:r>
              <a:rPr sz="2100" spc="-10" dirty="0">
                <a:latin typeface="Calibri" panose="020F0502020204030204"/>
                <a:cs typeface="Calibri" panose="020F0502020204030204"/>
              </a:rPr>
              <a:t>training </a:t>
            </a:r>
            <a:r>
              <a:rPr sz="2100" spc="-459" dirty="0">
                <a:latin typeface="Calibri" panose="020F0502020204030204"/>
                <a:cs typeface="Calibri" panose="020F0502020204030204"/>
              </a:rPr>
              <a:t> </a:t>
            </a:r>
            <a:r>
              <a:rPr sz="2100" spc="-15" dirty="0">
                <a:latin typeface="Calibri" panose="020F0502020204030204"/>
                <a:cs typeface="Calibri" panose="020F0502020204030204"/>
              </a:rPr>
              <a:t>data</a:t>
            </a:r>
            <a:r>
              <a:rPr sz="2100" spc="-35" dirty="0">
                <a:latin typeface="Calibri" panose="020F0502020204030204"/>
                <a:cs typeface="Calibri" panose="020F0502020204030204"/>
              </a:rPr>
              <a:t> </a:t>
            </a:r>
            <a:r>
              <a:rPr sz="2100" spc="-5" dirty="0">
                <a:latin typeface="Calibri" panose="020F0502020204030204"/>
                <a:cs typeface="Calibri" panose="020F0502020204030204"/>
              </a:rPr>
              <a:t>using</a:t>
            </a:r>
            <a:r>
              <a:rPr sz="2100" spc="10" dirty="0">
                <a:latin typeface="Calibri" panose="020F0502020204030204"/>
                <a:cs typeface="Calibri" panose="020F0502020204030204"/>
              </a:rPr>
              <a:t> </a:t>
            </a:r>
            <a:r>
              <a:rPr sz="2100" dirty="0">
                <a:latin typeface="Calibri" panose="020F0502020204030204"/>
                <a:cs typeface="Calibri" panose="020F0502020204030204"/>
              </a:rPr>
              <a:t>a</a:t>
            </a:r>
            <a:r>
              <a:rPr sz="2100" spc="-5" dirty="0">
                <a:latin typeface="Calibri" panose="020F0502020204030204"/>
                <a:cs typeface="Calibri" panose="020F0502020204030204"/>
              </a:rPr>
              <a:t> dimensionality</a:t>
            </a:r>
            <a:r>
              <a:rPr sz="2100" spc="10" dirty="0">
                <a:latin typeface="Calibri" panose="020F0502020204030204"/>
                <a:cs typeface="Calibri" panose="020F0502020204030204"/>
              </a:rPr>
              <a:t> </a:t>
            </a:r>
            <a:r>
              <a:rPr sz="2100" spc="-5" dirty="0">
                <a:latin typeface="Calibri" panose="020F0502020204030204"/>
                <a:cs typeface="Calibri" panose="020F0502020204030204"/>
              </a:rPr>
              <a:t>reduction</a:t>
            </a:r>
            <a:r>
              <a:rPr sz="2100" spc="5" dirty="0">
                <a:latin typeface="Calibri" panose="020F0502020204030204"/>
                <a:cs typeface="Calibri" panose="020F0502020204030204"/>
              </a:rPr>
              <a:t> </a:t>
            </a:r>
            <a:r>
              <a:rPr sz="2100" spc="-5" dirty="0">
                <a:latin typeface="Calibri" panose="020F0502020204030204"/>
                <a:cs typeface="Calibri" panose="020F0502020204030204"/>
              </a:rPr>
              <a:t>algorithm</a:t>
            </a:r>
            <a:r>
              <a:rPr sz="2100" spc="5" dirty="0">
                <a:latin typeface="Calibri" panose="020F0502020204030204"/>
                <a:cs typeface="Calibri" panose="020F0502020204030204"/>
              </a:rPr>
              <a:t> </a:t>
            </a:r>
            <a:r>
              <a:rPr sz="2100" spc="-20" dirty="0">
                <a:latin typeface="Calibri" panose="020F0502020204030204"/>
                <a:cs typeface="Calibri" panose="020F0502020204030204"/>
              </a:rPr>
              <a:t>before</a:t>
            </a:r>
            <a:r>
              <a:rPr sz="2100" spc="20" dirty="0">
                <a:latin typeface="Calibri" panose="020F0502020204030204"/>
                <a:cs typeface="Calibri" panose="020F0502020204030204"/>
              </a:rPr>
              <a:t> </a:t>
            </a:r>
            <a:r>
              <a:rPr sz="2100" spc="-15" dirty="0">
                <a:latin typeface="Calibri" panose="020F0502020204030204"/>
                <a:cs typeface="Calibri" panose="020F0502020204030204"/>
              </a:rPr>
              <a:t>you</a:t>
            </a:r>
            <a:r>
              <a:rPr sz="2100" spc="-5" dirty="0">
                <a:latin typeface="Calibri" panose="020F0502020204030204"/>
                <a:cs typeface="Calibri" panose="020F0502020204030204"/>
              </a:rPr>
              <a:t> </a:t>
            </a:r>
            <a:r>
              <a:rPr sz="2100" spc="-15" dirty="0">
                <a:latin typeface="Calibri" panose="020F0502020204030204"/>
                <a:cs typeface="Calibri" panose="020F0502020204030204"/>
              </a:rPr>
              <a:t>feed</a:t>
            </a:r>
            <a:r>
              <a:rPr sz="2100" dirty="0">
                <a:latin typeface="Calibri" panose="020F0502020204030204"/>
                <a:cs typeface="Calibri" panose="020F0502020204030204"/>
              </a:rPr>
              <a:t> it</a:t>
            </a:r>
            <a:r>
              <a:rPr sz="2100" spc="10" dirty="0">
                <a:latin typeface="Calibri" panose="020F0502020204030204"/>
                <a:cs typeface="Calibri" panose="020F0502020204030204"/>
              </a:rPr>
              <a:t> </a:t>
            </a:r>
            <a:r>
              <a:rPr sz="2100" spc="-10" dirty="0">
                <a:latin typeface="Calibri" panose="020F0502020204030204"/>
                <a:cs typeface="Calibri" panose="020F0502020204030204"/>
              </a:rPr>
              <a:t>to </a:t>
            </a:r>
            <a:r>
              <a:rPr sz="2100" spc="-459" dirty="0">
                <a:latin typeface="Calibri" panose="020F0502020204030204"/>
                <a:cs typeface="Calibri" panose="020F0502020204030204"/>
              </a:rPr>
              <a:t> </a:t>
            </a:r>
            <a:r>
              <a:rPr sz="2100" dirty="0">
                <a:latin typeface="Calibri" panose="020F0502020204030204"/>
                <a:cs typeface="Calibri" panose="020F0502020204030204"/>
              </a:rPr>
              <a:t>another Machine Learning </a:t>
            </a:r>
            <a:r>
              <a:rPr sz="2100" spc="-5" dirty="0">
                <a:latin typeface="Calibri" panose="020F0502020204030204"/>
                <a:cs typeface="Calibri" panose="020F0502020204030204"/>
              </a:rPr>
              <a:t>algorithm (such </a:t>
            </a:r>
            <a:r>
              <a:rPr sz="2100" dirty="0">
                <a:latin typeface="Calibri" panose="020F0502020204030204"/>
                <a:cs typeface="Calibri" panose="020F0502020204030204"/>
              </a:rPr>
              <a:t>as a </a:t>
            </a:r>
            <a:r>
              <a:rPr sz="2100" spc="-5" dirty="0">
                <a:latin typeface="Calibri" panose="020F0502020204030204"/>
                <a:cs typeface="Calibri" panose="020F0502020204030204"/>
              </a:rPr>
              <a:t>supervised </a:t>
            </a:r>
            <a:r>
              <a:rPr sz="2100" dirty="0">
                <a:latin typeface="Calibri" panose="020F0502020204030204"/>
                <a:cs typeface="Calibri" panose="020F0502020204030204"/>
              </a:rPr>
              <a:t>learning </a:t>
            </a:r>
            <a:r>
              <a:rPr sz="2100" spc="5" dirty="0">
                <a:latin typeface="Calibri" panose="020F0502020204030204"/>
                <a:cs typeface="Calibri" panose="020F0502020204030204"/>
              </a:rPr>
              <a:t> </a:t>
            </a:r>
            <a:r>
              <a:rPr sz="2100" spc="-5" dirty="0">
                <a:latin typeface="Calibri" panose="020F0502020204030204"/>
                <a:cs typeface="Calibri" panose="020F0502020204030204"/>
              </a:rPr>
              <a:t>algorithm).</a:t>
            </a:r>
            <a:endParaRPr sz="2100">
              <a:latin typeface="Calibri" panose="020F0502020204030204"/>
              <a:cs typeface="Calibri" panose="020F0502020204030204"/>
            </a:endParaRPr>
          </a:p>
          <a:p>
            <a:pPr marL="184785" indent="-172720" algn="just">
              <a:lnSpc>
                <a:spcPts val="2395"/>
              </a:lnSpc>
              <a:spcBef>
                <a:spcPts val="510"/>
              </a:spcBef>
              <a:buFont typeface="Arial MT"/>
              <a:buChar char="•"/>
              <a:tabLst>
                <a:tab pos="185420" algn="l"/>
              </a:tabLst>
            </a:pPr>
            <a:r>
              <a:rPr sz="2100" dirty="0">
                <a:latin typeface="Calibri" panose="020F0502020204030204"/>
                <a:cs typeface="Calibri" panose="020F0502020204030204"/>
              </a:rPr>
              <a:t>It</a:t>
            </a:r>
            <a:r>
              <a:rPr sz="2100" spc="-5" dirty="0">
                <a:latin typeface="Calibri" panose="020F0502020204030204"/>
                <a:cs typeface="Calibri" panose="020F0502020204030204"/>
              </a:rPr>
              <a:t> will</a:t>
            </a:r>
            <a:r>
              <a:rPr sz="2100" spc="5" dirty="0">
                <a:latin typeface="Calibri" panose="020F0502020204030204"/>
                <a:cs typeface="Calibri" panose="020F0502020204030204"/>
              </a:rPr>
              <a:t> </a:t>
            </a:r>
            <a:r>
              <a:rPr sz="2100" dirty="0">
                <a:latin typeface="Calibri" panose="020F0502020204030204"/>
                <a:cs typeface="Calibri" panose="020F0502020204030204"/>
              </a:rPr>
              <a:t>run</a:t>
            </a:r>
            <a:r>
              <a:rPr sz="2100" spc="-10" dirty="0">
                <a:latin typeface="Calibri" panose="020F0502020204030204"/>
                <a:cs typeface="Calibri" panose="020F0502020204030204"/>
              </a:rPr>
              <a:t> </a:t>
            </a:r>
            <a:r>
              <a:rPr sz="2100" dirty="0">
                <a:latin typeface="Calibri" panose="020F0502020204030204"/>
                <a:cs typeface="Calibri" panose="020F0502020204030204"/>
              </a:rPr>
              <a:t>much</a:t>
            </a:r>
            <a:r>
              <a:rPr sz="2100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sz="2100" spc="-40" dirty="0">
                <a:latin typeface="Calibri" panose="020F0502020204030204"/>
                <a:cs typeface="Calibri" panose="020F0502020204030204"/>
              </a:rPr>
              <a:t>faster,</a:t>
            </a:r>
            <a:r>
              <a:rPr sz="2100" spc="5" dirty="0">
                <a:latin typeface="Calibri" panose="020F0502020204030204"/>
                <a:cs typeface="Calibri" panose="020F0502020204030204"/>
              </a:rPr>
              <a:t> </a:t>
            </a:r>
            <a:r>
              <a:rPr sz="2100" b="1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the</a:t>
            </a:r>
            <a:r>
              <a:rPr sz="2100" b="1" spc="-1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100" b="1" spc="-1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data</a:t>
            </a:r>
            <a:r>
              <a:rPr sz="2100" b="1" spc="-1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100" b="1" spc="-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will</a:t>
            </a:r>
            <a:r>
              <a:rPr sz="2100" b="1" spc="-2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100" b="1" spc="-2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take</a:t>
            </a:r>
            <a:r>
              <a:rPr sz="2100" b="1" spc="1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100" b="1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up</a:t>
            </a:r>
            <a:r>
              <a:rPr sz="2100" b="1" spc="-1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100" b="1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less</a:t>
            </a:r>
            <a:r>
              <a:rPr sz="2100" b="1" spc="-1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100" b="1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disk</a:t>
            </a:r>
            <a:r>
              <a:rPr sz="2100" b="1" spc="-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100" b="1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and</a:t>
            </a:r>
            <a:r>
              <a:rPr sz="2100" b="1" spc="-1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100" b="1" spc="-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memory</a:t>
            </a:r>
            <a:endParaRPr sz="2100">
              <a:latin typeface="Calibri" panose="020F0502020204030204"/>
              <a:cs typeface="Calibri" panose="020F0502020204030204"/>
            </a:endParaRPr>
          </a:p>
          <a:p>
            <a:pPr marL="184785" algn="just">
              <a:lnSpc>
                <a:spcPts val="2395"/>
              </a:lnSpc>
            </a:pPr>
            <a:r>
              <a:rPr sz="2100" b="1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space,</a:t>
            </a:r>
            <a:r>
              <a:rPr sz="2100" b="1" spc="-1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100" dirty="0">
                <a:latin typeface="Calibri" panose="020F0502020204030204"/>
                <a:cs typeface="Calibri" panose="020F0502020204030204"/>
              </a:rPr>
              <a:t>and</a:t>
            </a:r>
            <a:r>
              <a:rPr sz="2100" spc="-20" dirty="0">
                <a:latin typeface="Calibri" panose="020F0502020204030204"/>
                <a:cs typeface="Calibri" panose="020F0502020204030204"/>
              </a:rPr>
              <a:t> </a:t>
            </a:r>
            <a:r>
              <a:rPr sz="2100" dirty="0">
                <a:latin typeface="Calibri" panose="020F0502020204030204"/>
                <a:cs typeface="Calibri" panose="020F0502020204030204"/>
              </a:rPr>
              <a:t>in</a:t>
            </a:r>
            <a:r>
              <a:rPr sz="2100" spc="-5" dirty="0">
                <a:latin typeface="Calibri" panose="020F0502020204030204"/>
                <a:cs typeface="Calibri" panose="020F0502020204030204"/>
              </a:rPr>
              <a:t> some</a:t>
            </a:r>
            <a:r>
              <a:rPr sz="2100" spc="5" dirty="0">
                <a:latin typeface="Calibri" panose="020F0502020204030204"/>
                <a:cs typeface="Calibri" panose="020F0502020204030204"/>
              </a:rPr>
              <a:t> </a:t>
            </a:r>
            <a:r>
              <a:rPr sz="2100" spc="-5" dirty="0">
                <a:latin typeface="Calibri" panose="020F0502020204030204"/>
                <a:cs typeface="Calibri" panose="020F0502020204030204"/>
              </a:rPr>
              <a:t>cases </a:t>
            </a:r>
            <a:r>
              <a:rPr sz="2100" dirty="0">
                <a:latin typeface="Calibri" panose="020F0502020204030204"/>
                <a:cs typeface="Calibri" panose="020F0502020204030204"/>
              </a:rPr>
              <a:t>it</a:t>
            </a:r>
            <a:r>
              <a:rPr sz="2100" spc="-5" dirty="0">
                <a:latin typeface="Calibri" panose="020F0502020204030204"/>
                <a:cs typeface="Calibri" panose="020F0502020204030204"/>
              </a:rPr>
              <a:t> </a:t>
            </a:r>
            <a:r>
              <a:rPr sz="2100" spc="-15" dirty="0">
                <a:latin typeface="Calibri" panose="020F0502020204030204"/>
                <a:cs typeface="Calibri" panose="020F0502020204030204"/>
              </a:rPr>
              <a:t>may</a:t>
            </a:r>
            <a:r>
              <a:rPr sz="2100" spc="-25" dirty="0">
                <a:latin typeface="Calibri" panose="020F0502020204030204"/>
                <a:cs typeface="Calibri" panose="020F0502020204030204"/>
              </a:rPr>
              <a:t> </a:t>
            </a:r>
            <a:r>
              <a:rPr sz="2100" dirty="0">
                <a:latin typeface="Calibri" panose="020F0502020204030204"/>
                <a:cs typeface="Calibri" panose="020F0502020204030204"/>
              </a:rPr>
              <a:t>also</a:t>
            </a:r>
            <a:r>
              <a:rPr sz="2100" spc="-5" dirty="0">
                <a:latin typeface="Calibri" panose="020F0502020204030204"/>
                <a:cs typeface="Calibri" panose="020F0502020204030204"/>
              </a:rPr>
              <a:t> </a:t>
            </a:r>
            <a:r>
              <a:rPr sz="2100" spc="-15" dirty="0">
                <a:latin typeface="Calibri" panose="020F0502020204030204"/>
                <a:cs typeface="Calibri" panose="020F0502020204030204"/>
              </a:rPr>
              <a:t>perform</a:t>
            </a:r>
            <a:r>
              <a:rPr sz="2100" spc="15" dirty="0">
                <a:latin typeface="Calibri" panose="020F0502020204030204"/>
                <a:cs typeface="Calibri" panose="020F0502020204030204"/>
              </a:rPr>
              <a:t> </a:t>
            </a:r>
            <a:r>
              <a:rPr sz="2100" spc="-40" dirty="0">
                <a:latin typeface="Calibri" panose="020F0502020204030204"/>
                <a:cs typeface="Calibri" panose="020F0502020204030204"/>
              </a:rPr>
              <a:t>better.</a:t>
            </a:r>
            <a:endParaRPr sz="2100">
              <a:latin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09980" y="324103"/>
            <a:ext cx="7988934" cy="1300480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1818640" marR="5080" indent="-1806575">
              <a:lnSpc>
                <a:spcPts val="4750"/>
              </a:lnSpc>
              <a:spcBef>
                <a:spcPts val="700"/>
              </a:spcBef>
            </a:pPr>
            <a:r>
              <a:rPr sz="4400" b="1" dirty="0">
                <a:solidFill>
                  <a:srgbClr val="2E5496"/>
                </a:solidFill>
                <a:latin typeface="Calibri" panose="020F0502020204030204"/>
                <a:cs typeface="Calibri" panose="020F0502020204030204"/>
              </a:rPr>
              <a:t>Unsupervised learning </a:t>
            </a:r>
            <a:r>
              <a:rPr sz="4400" b="1" spc="-10" dirty="0">
                <a:solidFill>
                  <a:srgbClr val="2E5496"/>
                </a:solidFill>
                <a:latin typeface="Calibri" panose="020F0502020204030204"/>
                <a:cs typeface="Calibri" panose="020F0502020204030204"/>
              </a:rPr>
              <a:t>algorithms: </a:t>
            </a:r>
            <a:r>
              <a:rPr sz="4400" b="1" spc="-980" dirty="0">
                <a:solidFill>
                  <a:srgbClr val="2E5496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4400" b="1" dirty="0">
                <a:solidFill>
                  <a:srgbClr val="2E5496"/>
                </a:solidFill>
                <a:latin typeface="Calibri" panose="020F0502020204030204"/>
                <a:cs typeface="Calibri" panose="020F0502020204030204"/>
              </a:rPr>
              <a:t>anomaly</a:t>
            </a:r>
            <a:r>
              <a:rPr sz="4400" b="1" spc="-25" dirty="0">
                <a:solidFill>
                  <a:srgbClr val="2E5496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4400" b="1" spc="-15" dirty="0">
                <a:solidFill>
                  <a:srgbClr val="2E5496"/>
                </a:solidFill>
                <a:latin typeface="Calibri" panose="020F0502020204030204"/>
                <a:cs typeface="Calibri" panose="020F0502020204030204"/>
              </a:rPr>
              <a:t>detection</a:t>
            </a:r>
            <a:endParaRPr sz="44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07542" y="1802638"/>
            <a:ext cx="7708265" cy="2798445"/>
          </a:xfrm>
          <a:prstGeom prst="rect">
            <a:avLst/>
          </a:prstGeom>
        </p:spPr>
        <p:txBody>
          <a:bodyPr vert="horz" wrap="square" lIns="0" tIns="48895" rIns="0" bIns="0" rtlCol="0">
            <a:spAutoFit/>
          </a:bodyPr>
          <a:lstStyle/>
          <a:p>
            <a:pPr marL="184785" marR="400050" indent="-172720" algn="just">
              <a:lnSpc>
                <a:spcPct val="90000"/>
              </a:lnSpc>
              <a:spcBef>
                <a:spcPts val="385"/>
              </a:spcBef>
              <a:buFont typeface="Arial MT"/>
              <a:buChar char="•"/>
              <a:tabLst>
                <a:tab pos="185420" algn="l"/>
              </a:tabLst>
            </a:pPr>
            <a:r>
              <a:rPr sz="2400" spc="-20" dirty="0">
                <a:latin typeface="Calibri" panose="020F0502020204030204"/>
                <a:cs typeface="Calibri" panose="020F0502020204030204"/>
              </a:rPr>
              <a:t>for</a:t>
            </a:r>
            <a:r>
              <a:rPr sz="2400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spc="-10" dirty="0">
                <a:latin typeface="Calibri" panose="020F0502020204030204"/>
                <a:cs typeface="Calibri" panose="020F0502020204030204"/>
              </a:rPr>
              <a:t>example,</a:t>
            </a:r>
            <a:r>
              <a:rPr sz="2400" spc="-25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spc="-5" dirty="0">
                <a:latin typeface="Calibri" panose="020F0502020204030204"/>
                <a:cs typeface="Calibri" panose="020F0502020204030204"/>
              </a:rPr>
              <a:t>detecting</a:t>
            </a:r>
            <a:r>
              <a:rPr sz="2400" spc="-35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spc="-5" dirty="0">
                <a:latin typeface="Calibri" panose="020F0502020204030204"/>
                <a:cs typeface="Calibri" panose="020F0502020204030204"/>
              </a:rPr>
              <a:t>unusual credit</a:t>
            </a:r>
            <a:r>
              <a:rPr sz="2400" spc="-15" dirty="0">
                <a:latin typeface="Calibri" panose="020F0502020204030204"/>
                <a:cs typeface="Calibri" panose="020F0502020204030204"/>
              </a:rPr>
              <a:t> card</a:t>
            </a:r>
            <a:r>
              <a:rPr sz="2400" spc="-30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spc="-5" dirty="0">
                <a:latin typeface="Calibri" panose="020F0502020204030204"/>
                <a:cs typeface="Calibri" panose="020F0502020204030204"/>
              </a:rPr>
              <a:t>transactions</a:t>
            </a:r>
            <a:r>
              <a:rPr sz="2400" spc="-30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spc="-15" dirty="0">
                <a:latin typeface="Calibri" panose="020F0502020204030204"/>
                <a:cs typeface="Calibri" panose="020F0502020204030204"/>
              </a:rPr>
              <a:t>to </a:t>
            </a:r>
            <a:r>
              <a:rPr sz="2400" spc="-530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spc="-15" dirty="0">
                <a:latin typeface="Calibri" panose="020F0502020204030204"/>
                <a:cs typeface="Calibri" panose="020F0502020204030204"/>
              </a:rPr>
              <a:t>prevent </a:t>
            </a:r>
            <a:r>
              <a:rPr sz="2400" spc="-10" dirty="0">
                <a:latin typeface="Calibri" panose="020F0502020204030204"/>
                <a:cs typeface="Calibri" panose="020F0502020204030204"/>
              </a:rPr>
              <a:t>fraud, catching </a:t>
            </a:r>
            <a:r>
              <a:rPr sz="2400" spc="-5" dirty="0">
                <a:latin typeface="Calibri" panose="020F0502020204030204"/>
                <a:cs typeface="Calibri" panose="020F0502020204030204"/>
              </a:rPr>
              <a:t>manufacturing </a:t>
            </a:r>
            <a:r>
              <a:rPr sz="2400" spc="-15" dirty="0">
                <a:latin typeface="Calibri" panose="020F0502020204030204"/>
                <a:cs typeface="Calibri" panose="020F0502020204030204"/>
              </a:rPr>
              <a:t>defects, </a:t>
            </a:r>
            <a:r>
              <a:rPr sz="2400" spc="-10" dirty="0">
                <a:latin typeface="Calibri" panose="020F0502020204030204"/>
                <a:cs typeface="Calibri" panose="020F0502020204030204"/>
              </a:rPr>
              <a:t>or </a:t>
            </a:r>
            <a:r>
              <a:rPr sz="2400" spc="-5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spc="-10" dirty="0">
                <a:latin typeface="Calibri" panose="020F0502020204030204"/>
                <a:cs typeface="Calibri" panose="020F0502020204030204"/>
              </a:rPr>
              <a:t>automatically removing outliers </a:t>
            </a:r>
            <a:r>
              <a:rPr sz="2400" spc="-15" dirty="0">
                <a:latin typeface="Calibri" panose="020F0502020204030204"/>
                <a:cs typeface="Calibri" panose="020F0502020204030204"/>
              </a:rPr>
              <a:t>from </a:t>
            </a:r>
            <a:r>
              <a:rPr sz="2400" dirty="0">
                <a:latin typeface="Calibri" panose="020F0502020204030204"/>
                <a:cs typeface="Calibri" panose="020F0502020204030204"/>
              </a:rPr>
              <a:t>a </a:t>
            </a:r>
            <a:r>
              <a:rPr sz="2400" spc="-10" dirty="0">
                <a:latin typeface="Calibri" panose="020F0502020204030204"/>
                <a:cs typeface="Calibri" panose="020F0502020204030204"/>
              </a:rPr>
              <a:t>dataset </a:t>
            </a:r>
            <a:r>
              <a:rPr sz="2400" spc="-25" dirty="0">
                <a:latin typeface="Calibri" panose="020F0502020204030204"/>
                <a:cs typeface="Calibri" panose="020F0502020204030204"/>
              </a:rPr>
              <a:t>before </a:t>
            </a:r>
            <a:r>
              <a:rPr sz="2400" spc="-20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spc="-15" dirty="0">
                <a:latin typeface="Calibri" panose="020F0502020204030204"/>
                <a:cs typeface="Calibri" panose="020F0502020204030204"/>
              </a:rPr>
              <a:t>feeding</a:t>
            </a:r>
            <a:r>
              <a:rPr sz="2400" spc="-10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dirty="0">
                <a:latin typeface="Calibri" panose="020F0502020204030204"/>
                <a:cs typeface="Calibri" panose="020F0502020204030204"/>
              </a:rPr>
              <a:t>it</a:t>
            </a:r>
            <a:r>
              <a:rPr sz="2400" spc="-5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spc="-15" dirty="0">
                <a:latin typeface="Calibri" panose="020F0502020204030204"/>
                <a:cs typeface="Calibri" panose="020F0502020204030204"/>
              </a:rPr>
              <a:t>to</a:t>
            </a:r>
            <a:r>
              <a:rPr sz="2400" spc="-25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dirty="0">
                <a:latin typeface="Calibri" panose="020F0502020204030204"/>
                <a:cs typeface="Calibri" panose="020F0502020204030204"/>
              </a:rPr>
              <a:t>another</a:t>
            </a:r>
            <a:r>
              <a:rPr sz="2400" spc="-10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dirty="0">
                <a:latin typeface="Calibri" panose="020F0502020204030204"/>
                <a:cs typeface="Calibri" panose="020F0502020204030204"/>
              </a:rPr>
              <a:t>learning</a:t>
            </a:r>
            <a:r>
              <a:rPr sz="2400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spc="-5" dirty="0">
                <a:latin typeface="Calibri" panose="020F0502020204030204"/>
                <a:cs typeface="Calibri" panose="020F0502020204030204"/>
              </a:rPr>
              <a:t>algorithm.</a:t>
            </a:r>
            <a:endParaRPr sz="2400">
              <a:latin typeface="Calibri" panose="020F0502020204030204"/>
              <a:cs typeface="Calibri" panose="020F0502020204030204"/>
            </a:endParaRPr>
          </a:p>
          <a:p>
            <a:pPr marL="184785" marR="5080" indent="-172720" algn="just">
              <a:lnSpc>
                <a:spcPct val="90000"/>
              </a:lnSpc>
              <a:spcBef>
                <a:spcPts val="805"/>
              </a:spcBef>
              <a:buFont typeface="Arial MT"/>
              <a:buChar char="•"/>
              <a:tabLst>
                <a:tab pos="185420" algn="l"/>
              </a:tabLst>
            </a:pPr>
            <a:r>
              <a:rPr sz="2400" spc="-5" dirty="0">
                <a:latin typeface="Calibri" panose="020F0502020204030204"/>
                <a:cs typeface="Calibri" panose="020F0502020204030204"/>
              </a:rPr>
              <a:t>The</a:t>
            </a:r>
            <a:r>
              <a:rPr sz="2400" spc="50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spc="-25" dirty="0">
                <a:latin typeface="Calibri" panose="020F0502020204030204"/>
                <a:cs typeface="Calibri" panose="020F0502020204030204"/>
              </a:rPr>
              <a:t>system</a:t>
            </a:r>
            <a:r>
              <a:rPr sz="2400" spc="35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dirty="0">
                <a:latin typeface="Calibri" panose="020F0502020204030204"/>
                <a:cs typeface="Calibri" panose="020F0502020204030204"/>
              </a:rPr>
              <a:t>is</a:t>
            </a:r>
            <a:r>
              <a:rPr sz="2400" spc="35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spc="-10" dirty="0">
                <a:latin typeface="Calibri" panose="020F0502020204030204"/>
                <a:cs typeface="Calibri" panose="020F0502020204030204"/>
              </a:rPr>
              <a:t>shown</a:t>
            </a:r>
            <a:r>
              <a:rPr sz="2400" spc="50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spc="-5" dirty="0">
                <a:latin typeface="Calibri" panose="020F0502020204030204"/>
                <a:cs typeface="Calibri" panose="020F0502020204030204"/>
              </a:rPr>
              <a:t>mostly</a:t>
            </a:r>
            <a:r>
              <a:rPr sz="2400" spc="25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spc="-5" dirty="0">
                <a:latin typeface="Calibri" panose="020F0502020204030204"/>
                <a:cs typeface="Calibri" panose="020F0502020204030204"/>
              </a:rPr>
              <a:t>normal</a:t>
            </a:r>
            <a:r>
              <a:rPr sz="2400" spc="30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spc="-10" dirty="0">
                <a:latin typeface="Calibri" panose="020F0502020204030204"/>
                <a:cs typeface="Calibri" panose="020F0502020204030204"/>
              </a:rPr>
              <a:t>instances</a:t>
            </a:r>
            <a:r>
              <a:rPr sz="2400" spc="30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spc="-5" dirty="0">
                <a:latin typeface="Calibri" panose="020F0502020204030204"/>
                <a:cs typeface="Calibri" panose="020F0502020204030204"/>
              </a:rPr>
              <a:t>during </a:t>
            </a:r>
            <a:r>
              <a:rPr sz="2400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spc="-5" dirty="0">
                <a:latin typeface="Calibri" panose="020F0502020204030204"/>
                <a:cs typeface="Calibri" panose="020F0502020204030204"/>
              </a:rPr>
              <a:t>training, so </a:t>
            </a:r>
            <a:r>
              <a:rPr sz="2400" dirty="0">
                <a:latin typeface="Calibri" panose="020F0502020204030204"/>
                <a:cs typeface="Calibri" panose="020F0502020204030204"/>
              </a:rPr>
              <a:t>it learns </a:t>
            </a:r>
            <a:r>
              <a:rPr sz="2400" spc="-15" dirty="0">
                <a:latin typeface="Calibri" panose="020F0502020204030204"/>
                <a:cs typeface="Calibri" panose="020F0502020204030204"/>
              </a:rPr>
              <a:t>to recognize </a:t>
            </a:r>
            <a:r>
              <a:rPr sz="2400" dirty="0">
                <a:latin typeface="Calibri" panose="020F0502020204030204"/>
                <a:cs typeface="Calibri" panose="020F0502020204030204"/>
              </a:rPr>
              <a:t>them; and when it </a:t>
            </a:r>
            <a:r>
              <a:rPr sz="2400" spc="-5" dirty="0">
                <a:latin typeface="Calibri" panose="020F0502020204030204"/>
                <a:cs typeface="Calibri" panose="020F0502020204030204"/>
              </a:rPr>
              <a:t>sees </a:t>
            </a:r>
            <a:r>
              <a:rPr sz="2400" dirty="0">
                <a:latin typeface="Calibri" panose="020F0502020204030204"/>
                <a:cs typeface="Calibri" panose="020F0502020204030204"/>
              </a:rPr>
              <a:t>a </a:t>
            </a:r>
            <a:r>
              <a:rPr sz="2400" spc="5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spc="-10" dirty="0">
                <a:latin typeface="Calibri" panose="020F0502020204030204"/>
                <a:cs typeface="Calibri" panose="020F0502020204030204"/>
              </a:rPr>
              <a:t>new</a:t>
            </a:r>
            <a:r>
              <a:rPr sz="2400" spc="5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spc="-10" dirty="0">
                <a:latin typeface="Calibri" panose="020F0502020204030204"/>
                <a:cs typeface="Calibri" panose="020F0502020204030204"/>
              </a:rPr>
              <a:t>instance,</a:t>
            </a:r>
            <a:r>
              <a:rPr sz="2400" spc="-20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dirty="0">
                <a:latin typeface="Calibri" panose="020F0502020204030204"/>
                <a:cs typeface="Calibri" panose="020F0502020204030204"/>
              </a:rPr>
              <a:t>it</a:t>
            </a:r>
            <a:r>
              <a:rPr sz="2400" spc="-10" dirty="0">
                <a:latin typeface="Calibri" panose="020F0502020204030204"/>
                <a:cs typeface="Calibri" panose="020F0502020204030204"/>
              </a:rPr>
              <a:t> can</a:t>
            </a:r>
            <a:r>
              <a:rPr sz="2400" spc="5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spc="-10" dirty="0">
                <a:latin typeface="Calibri" panose="020F0502020204030204"/>
                <a:cs typeface="Calibri" panose="020F0502020204030204"/>
              </a:rPr>
              <a:t>tell</a:t>
            </a:r>
            <a:r>
              <a:rPr sz="2400" spc="-5" dirty="0">
                <a:latin typeface="Calibri" panose="020F0502020204030204"/>
                <a:cs typeface="Calibri" panose="020F0502020204030204"/>
              </a:rPr>
              <a:t> whether</a:t>
            </a:r>
            <a:r>
              <a:rPr sz="2400" spc="-10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dirty="0">
                <a:latin typeface="Calibri" panose="020F0502020204030204"/>
                <a:cs typeface="Calibri" panose="020F0502020204030204"/>
              </a:rPr>
              <a:t>it</a:t>
            </a:r>
            <a:r>
              <a:rPr sz="2400" spc="-10" dirty="0">
                <a:latin typeface="Calibri" panose="020F0502020204030204"/>
                <a:cs typeface="Calibri" panose="020F0502020204030204"/>
              </a:rPr>
              <a:t> looks</a:t>
            </a:r>
            <a:r>
              <a:rPr sz="2400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spc="-25" dirty="0">
                <a:latin typeface="Calibri" panose="020F0502020204030204"/>
                <a:cs typeface="Calibri" panose="020F0502020204030204"/>
              </a:rPr>
              <a:t>like</a:t>
            </a:r>
            <a:r>
              <a:rPr sz="2400" spc="-5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dirty="0">
                <a:latin typeface="Calibri" panose="020F0502020204030204"/>
                <a:cs typeface="Calibri" panose="020F0502020204030204"/>
              </a:rPr>
              <a:t>a</a:t>
            </a:r>
            <a:r>
              <a:rPr sz="2400" spc="10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spc="-5" dirty="0">
                <a:latin typeface="Calibri" panose="020F0502020204030204"/>
                <a:cs typeface="Calibri" panose="020F0502020204030204"/>
              </a:rPr>
              <a:t>normal one</a:t>
            </a:r>
            <a:r>
              <a:rPr sz="2400" spc="5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spc="-5" dirty="0">
                <a:latin typeface="Calibri" panose="020F0502020204030204"/>
                <a:cs typeface="Calibri" panose="020F0502020204030204"/>
              </a:rPr>
              <a:t>or </a:t>
            </a:r>
            <a:r>
              <a:rPr sz="2400" spc="-530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spc="-5" dirty="0">
                <a:latin typeface="Calibri" panose="020F0502020204030204"/>
                <a:cs typeface="Calibri" panose="020F0502020204030204"/>
              </a:rPr>
              <a:t>whether</a:t>
            </a:r>
            <a:r>
              <a:rPr sz="2400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dirty="0">
                <a:latin typeface="Calibri" panose="020F0502020204030204"/>
                <a:cs typeface="Calibri" panose="020F0502020204030204"/>
              </a:rPr>
              <a:t>it is</a:t>
            </a:r>
            <a:r>
              <a:rPr sz="2400" spc="-20" dirty="0">
                <a:latin typeface="Calibri" panose="020F0502020204030204"/>
                <a:cs typeface="Calibri" panose="020F0502020204030204"/>
              </a:rPr>
              <a:t> like</a:t>
            </a:r>
            <a:r>
              <a:rPr sz="2400" spc="-10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dirty="0">
                <a:latin typeface="Calibri" panose="020F0502020204030204"/>
                <a:cs typeface="Calibri" panose="020F0502020204030204"/>
              </a:rPr>
              <a:t>an</a:t>
            </a:r>
            <a:r>
              <a:rPr sz="2400" spc="-5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spc="-20" dirty="0">
                <a:latin typeface="Calibri" panose="020F0502020204030204"/>
                <a:cs typeface="Calibri" panose="020F0502020204030204"/>
              </a:rPr>
              <a:t>anomaly.</a:t>
            </a:r>
            <a:endParaRPr sz="2400">
              <a:latin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629412" y="2095601"/>
            <a:ext cx="7881172" cy="3811394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384805" y="609676"/>
            <a:ext cx="437007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b="1" spc="-5" dirty="0">
                <a:solidFill>
                  <a:srgbClr val="2E5496"/>
                </a:solidFill>
                <a:latin typeface="Calibri" panose="020F0502020204030204"/>
                <a:cs typeface="Calibri" panose="020F0502020204030204"/>
              </a:rPr>
              <a:t>anomaly</a:t>
            </a:r>
            <a:r>
              <a:rPr sz="4400" b="1" spc="-60" dirty="0">
                <a:solidFill>
                  <a:srgbClr val="2E5496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4400" b="1" spc="-15" dirty="0">
                <a:solidFill>
                  <a:srgbClr val="2E5496"/>
                </a:solidFill>
                <a:latin typeface="Calibri" panose="020F0502020204030204"/>
                <a:cs typeface="Calibri" panose="020F0502020204030204"/>
              </a:rPr>
              <a:t>detection</a:t>
            </a:r>
            <a:endParaRPr sz="4400">
              <a:latin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0" rIns="0" bIns="0" rtlCol="0">
            <a:spAutoFit/>
          </a:bodyPr>
          <a:lstStyle/>
          <a:p>
            <a:pPr marL="1289685" marR="5080" indent="-1045845">
              <a:lnSpc>
                <a:spcPts val="4320"/>
              </a:lnSpc>
              <a:spcBef>
                <a:spcPts val="640"/>
              </a:spcBef>
            </a:pPr>
            <a:r>
              <a:rPr sz="4000" b="1" dirty="0">
                <a:solidFill>
                  <a:srgbClr val="2E5496"/>
                </a:solidFill>
                <a:latin typeface="Calibri" panose="020F0502020204030204"/>
                <a:cs typeface="Calibri" panose="020F0502020204030204"/>
              </a:rPr>
              <a:t>Unsupervised</a:t>
            </a:r>
            <a:r>
              <a:rPr sz="4000" b="1" spc="15" dirty="0">
                <a:solidFill>
                  <a:srgbClr val="2E5496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4000" b="1" spc="-5" dirty="0">
                <a:solidFill>
                  <a:srgbClr val="2E5496"/>
                </a:solidFill>
                <a:latin typeface="Calibri" panose="020F0502020204030204"/>
                <a:cs typeface="Calibri" panose="020F0502020204030204"/>
              </a:rPr>
              <a:t>learning</a:t>
            </a:r>
            <a:r>
              <a:rPr sz="4000" b="1" spc="20" dirty="0">
                <a:solidFill>
                  <a:srgbClr val="2E5496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4000" b="1" spc="-10" dirty="0">
                <a:solidFill>
                  <a:srgbClr val="2E5496"/>
                </a:solidFill>
                <a:latin typeface="Calibri" panose="020F0502020204030204"/>
                <a:cs typeface="Calibri" panose="020F0502020204030204"/>
              </a:rPr>
              <a:t>algorithms: </a:t>
            </a:r>
            <a:r>
              <a:rPr sz="4000" b="1" spc="-890" dirty="0">
                <a:solidFill>
                  <a:srgbClr val="2E5496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4000" b="1" spc="-10" dirty="0">
                <a:solidFill>
                  <a:srgbClr val="2E5496"/>
                </a:solidFill>
                <a:latin typeface="Calibri" panose="020F0502020204030204"/>
                <a:cs typeface="Calibri" panose="020F0502020204030204"/>
              </a:rPr>
              <a:t>association</a:t>
            </a:r>
            <a:r>
              <a:rPr sz="4000" b="1" spc="25" dirty="0">
                <a:solidFill>
                  <a:srgbClr val="2E5496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4000" b="1" spc="-5" dirty="0">
                <a:solidFill>
                  <a:srgbClr val="2E5496"/>
                </a:solidFill>
                <a:latin typeface="Calibri" panose="020F0502020204030204"/>
                <a:cs typeface="Calibri" panose="020F0502020204030204"/>
              </a:rPr>
              <a:t>rule</a:t>
            </a:r>
            <a:r>
              <a:rPr sz="4000" b="1" spc="-10" dirty="0">
                <a:solidFill>
                  <a:srgbClr val="2E5496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4000" b="1" dirty="0">
                <a:solidFill>
                  <a:srgbClr val="2E5496"/>
                </a:solidFill>
                <a:latin typeface="Calibri" panose="020F0502020204030204"/>
                <a:cs typeface="Calibri" panose="020F0502020204030204"/>
              </a:rPr>
              <a:t>learning</a:t>
            </a:r>
            <a:endParaRPr sz="40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07542" y="1802638"/>
            <a:ext cx="7437755" cy="2139950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184785" marR="215900" indent="-172720">
              <a:lnSpc>
                <a:spcPts val="2590"/>
              </a:lnSpc>
              <a:spcBef>
                <a:spcPts val="425"/>
              </a:spcBef>
              <a:buFont typeface="Arial MT"/>
              <a:buChar char="•"/>
              <a:tabLst>
                <a:tab pos="185420" algn="l"/>
              </a:tabLst>
            </a:pPr>
            <a:r>
              <a:rPr sz="2400" spc="-5" dirty="0">
                <a:latin typeface="Calibri" panose="020F0502020204030204"/>
                <a:cs typeface="Calibri" panose="020F0502020204030204"/>
              </a:rPr>
              <a:t>The</a:t>
            </a:r>
            <a:r>
              <a:rPr sz="2400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spc="-10" dirty="0">
                <a:latin typeface="Calibri" panose="020F0502020204030204"/>
                <a:cs typeface="Calibri" panose="020F0502020204030204"/>
              </a:rPr>
              <a:t>goal</a:t>
            </a:r>
            <a:r>
              <a:rPr sz="2400" spc="-20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dirty="0">
                <a:latin typeface="Calibri" panose="020F0502020204030204"/>
                <a:cs typeface="Calibri" panose="020F0502020204030204"/>
              </a:rPr>
              <a:t>is </a:t>
            </a:r>
            <a:r>
              <a:rPr sz="2400" spc="-15" dirty="0">
                <a:latin typeface="Calibri" panose="020F0502020204030204"/>
                <a:cs typeface="Calibri" panose="020F0502020204030204"/>
              </a:rPr>
              <a:t>to</a:t>
            </a:r>
            <a:r>
              <a:rPr sz="2400" spc="-25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spc="-5" dirty="0">
                <a:latin typeface="Calibri" panose="020F0502020204030204"/>
                <a:cs typeface="Calibri" panose="020F0502020204030204"/>
              </a:rPr>
              <a:t>dig </a:t>
            </a:r>
            <a:r>
              <a:rPr sz="2400" spc="-15" dirty="0">
                <a:latin typeface="Calibri" panose="020F0502020204030204"/>
                <a:cs typeface="Calibri" panose="020F0502020204030204"/>
              </a:rPr>
              <a:t>into</a:t>
            </a:r>
            <a:r>
              <a:rPr sz="2400" spc="-10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spc="-15" dirty="0">
                <a:latin typeface="Calibri" panose="020F0502020204030204"/>
                <a:cs typeface="Calibri" panose="020F0502020204030204"/>
              </a:rPr>
              <a:t>large</a:t>
            </a:r>
            <a:r>
              <a:rPr sz="2400" spc="-10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spc="-5" dirty="0">
                <a:latin typeface="Calibri" panose="020F0502020204030204"/>
                <a:cs typeface="Calibri" panose="020F0502020204030204"/>
              </a:rPr>
              <a:t>amounts</a:t>
            </a:r>
            <a:r>
              <a:rPr sz="2400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spc="-10" dirty="0">
                <a:latin typeface="Calibri" panose="020F0502020204030204"/>
                <a:cs typeface="Calibri" panose="020F0502020204030204"/>
              </a:rPr>
              <a:t>of</a:t>
            </a:r>
            <a:r>
              <a:rPr sz="2400" spc="-5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spc="-15" dirty="0">
                <a:latin typeface="Calibri" panose="020F0502020204030204"/>
                <a:cs typeface="Calibri" panose="020F0502020204030204"/>
              </a:rPr>
              <a:t>data </a:t>
            </a:r>
            <a:r>
              <a:rPr sz="2400" dirty="0">
                <a:latin typeface="Calibri" panose="020F0502020204030204"/>
                <a:cs typeface="Calibri" panose="020F0502020204030204"/>
              </a:rPr>
              <a:t>and</a:t>
            </a:r>
            <a:r>
              <a:rPr sz="2400" spc="5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spc="-15" dirty="0">
                <a:latin typeface="Calibri" panose="020F0502020204030204"/>
                <a:cs typeface="Calibri" panose="020F0502020204030204"/>
              </a:rPr>
              <a:t>discover </a:t>
            </a:r>
            <a:r>
              <a:rPr sz="2400" spc="-530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spc="-10" dirty="0">
                <a:latin typeface="Calibri" panose="020F0502020204030204"/>
                <a:cs typeface="Calibri" panose="020F0502020204030204"/>
              </a:rPr>
              <a:t>interesting</a:t>
            </a:r>
            <a:r>
              <a:rPr sz="2400" spc="-25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spc="-10" dirty="0">
                <a:latin typeface="Calibri" panose="020F0502020204030204"/>
                <a:cs typeface="Calibri" panose="020F0502020204030204"/>
              </a:rPr>
              <a:t>relations between</a:t>
            </a:r>
            <a:r>
              <a:rPr sz="2400" spc="-5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spc="-10" dirty="0">
                <a:latin typeface="Calibri" panose="020F0502020204030204"/>
                <a:cs typeface="Calibri" panose="020F0502020204030204"/>
              </a:rPr>
              <a:t>attributes.</a:t>
            </a:r>
            <a:endParaRPr sz="2400">
              <a:latin typeface="Calibri" panose="020F0502020204030204"/>
              <a:cs typeface="Calibri" panose="020F0502020204030204"/>
            </a:endParaRPr>
          </a:p>
          <a:p>
            <a:pPr marL="184785" marR="5080" indent="-172720">
              <a:lnSpc>
                <a:spcPts val="2590"/>
              </a:lnSpc>
              <a:spcBef>
                <a:spcPts val="815"/>
              </a:spcBef>
              <a:buFont typeface="Arial MT"/>
              <a:buChar char="•"/>
              <a:tabLst>
                <a:tab pos="185420" algn="l"/>
              </a:tabLst>
            </a:pPr>
            <a:r>
              <a:rPr sz="2400" spc="-15" dirty="0">
                <a:latin typeface="Calibri" panose="020F0502020204030204"/>
                <a:cs typeface="Calibri" panose="020F0502020204030204"/>
              </a:rPr>
              <a:t>For example </a:t>
            </a:r>
            <a:r>
              <a:rPr sz="2400" dirty="0">
                <a:latin typeface="Calibri" panose="020F0502020204030204"/>
                <a:cs typeface="Calibri" panose="020F0502020204030204"/>
              </a:rPr>
              <a:t>Running an </a:t>
            </a:r>
            <a:r>
              <a:rPr sz="2400" spc="-5" dirty="0">
                <a:latin typeface="Calibri" panose="020F0502020204030204"/>
                <a:cs typeface="Calibri" panose="020F0502020204030204"/>
              </a:rPr>
              <a:t>association </a:t>
            </a:r>
            <a:r>
              <a:rPr sz="2400" dirty="0">
                <a:latin typeface="Calibri" panose="020F0502020204030204"/>
                <a:cs typeface="Calibri" panose="020F0502020204030204"/>
              </a:rPr>
              <a:t>rule </a:t>
            </a:r>
            <a:r>
              <a:rPr sz="2400" spc="-5" dirty="0">
                <a:latin typeface="Calibri" panose="020F0502020204030204"/>
                <a:cs typeface="Calibri" panose="020F0502020204030204"/>
              </a:rPr>
              <a:t>on </a:t>
            </a:r>
            <a:r>
              <a:rPr sz="2400" dirty="0">
                <a:latin typeface="Calibri" panose="020F0502020204030204"/>
                <a:cs typeface="Calibri" panose="020F0502020204030204"/>
              </a:rPr>
              <a:t>the </a:t>
            </a:r>
            <a:r>
              <a:rPr sz="2400" spc="-5" dirty="0">
                <a:latin typeface="Calibri" panose="020F0502020204030204"/>
                <a:cs typeface="Calibri" panose="020F0502020204030204"/>
              </a:rPr>
              <a:t>sales logs </a:t>
            </a:r>
            <a:r>
              <a:rPr sz="2400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spc="-15" dirty="0">
                <a:latin typeface="Calibri" panose="020F0502020204030204"/>
                <a:cs typeface="Calibri" panose="020F0502020204030204"/>
              </a:rPr>
              <a:t>may</a:t>
            </a:r>
            <a:r>
              <a:rPr sz="2400" spc="-10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spc="-15" dirty="0">
                <a:latin typeface="Calibri" panose="020F0502020204030204"/>
                <a:cs typeface="Calibri" panose="020F0502020204030204"/>
              </a:rPr>
              <a:t>reveal</a:t>
            </a:r>
            <a:r>
              <a:rPr sz="2400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spc="-10" dirty="0">
                <a:latin typeface="Calibri" panose="020F0502020204030204"/>
                <a:cs typeface="Calibri" panose="020F0502020204030204"/>
              </a:rPr>
              <a:t>that</a:t>
            </a:r>
            <a:r>
              <a:rPr sz="2400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spc="-5" dirty="0">
                <a:latin typeface="Calibri" panose="020F0502020204030204"/>
                <a:cs typeface="Calibri" panose="020F0502020204030204"/>
              </a:rPr>
              <a:t>people </a:t>
            </a:r>
            <a:r>
              <a:rPr sz="2400" dirty="0">
                <a:latin typeface="Calibri" panose="020F0502020204030204"/>
                <a:cs typeface="Calibri" panose="020F0502020204030204"/>
              </a:rPr>
              <a:t>who </a:t>
            </a:r>
            <a:r>
              <a:rPr sz="2400" spc="-10" dirty="0">
                <a:latin typeface="Calibri" panose="020F0502020204030204"/>
                <a:cs typeface="Calibri" panose="020F0502020204030204"/>
              </a:rPr>
              <a:t>purchase</a:t>
            </a:r>
            <a:r>
              <a:rPr sz="2400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spc="-5" dirty="0">
                <a:latin typeface="Calibri" panose="020F0502020204030204"/>
                <a:cs typeface="Calibri" panose="020F0502020204030204"/>
              </a:rPr>
              <a:t>barbecue</a:t>
            </a:r>
            <a:r>
              <a:rPr sz="2400" spc="5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spc="-5" dirty="0">
                <a:latin typeface="Calibri" panose="020F0502020204030204"/>
                <a:cs typeface="Calibri" panose="020F0502020204030204"/>
              </a:rPr>
              <a:t>sauce</a:t>
            </a:r>
            <a:r>
              <a:rPr sz="2400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dirty="0">
                <a:latin typeface="Calibri" panose="020F0502020204030204"/>
                <a:cs typeface="Calibri" panose="020F0502020204030204"/>
              </a:rPr>
              <a:t>and </a:t>
            </a:r>
            <a:r>
              <a:rPr sz="2400" spc="-530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spc="-15" dirty="0">
                <a:latin typeface="Calibri" panose="020F0502020204030204"/>
                <a:cs typeface="Calibri" panose="020F0502020204030204"/>
              </a:rPr>
              <a:t>potato </a:t>
            </a:r>
            <a:r>
              <a:rPr sz="2400" spc="-5" dirty="0">
                <a:latin typeface="Calibri" panose="020F0502020204030204"/>
                <a:cs typeface="Calibri" panose="020F0502020204030204"/>
              </a:rPr>
              <a:t>chips </a:t>
            </a:r>
            <a:r>
              <a:rPr sz="2400" dirty="0">
                <a:latin typeface="Calibri" panose="020F0502020204030204"/>
                <a:cs typeface="Calibri" panose="020F0502020204030204"/>
              </a:rPr>
              <a:t>also </a:t>
            </a:r>
            <a:r>
              <a:rPr sz="2400" spc="-10" dirty="0">
                <a:latin typeface="Calibri" panose="020F0502020204030204"/>
                <a:cs typeface="Calibri" panose="020F0502020204030204"/>
              </a:rPr>
              <a:t>tend </a:t>
            </a:r>
            <a:r>
              <a:rPr sz="2400" spc="-15" dirty="0">
                <a:latin typeface="Calibri" panose="020F0502020204030204"/>
                <a:cs typeface="Calibri" panose="020F0502020204030204"/>
              </a:rPr>
              <a:t>to </a:t>
            </a:r>
            <a:r>
              <a:rPr sz="2400" spc="-5" dirty="0">
                <a:latin typeface="Calibri" panose="020F0502020204030204"/>
                <a:cs typeface="Calibri" panose="020F0502020204030204"/>
              </a:rPr>
              <a:t>buy </a:t>
            </a:r>
            <a:r>
              <a:rPr sz="2400" spc="-10" dirty="0">
                <a:latin typeface="Calibri" panose="020F0502020204030204"/>
                <a:cs typeface="Calibri" panose="020F0502020204030204"/>
              </a:rPr>
              <a:t>steak. </a:t>
            </a:r>
            <a:r>
              <a:rPr sz="2400" spc="-5" dirty="0">
                <a:latin typeface="Calibri" panose="020F0502020204030204"/>
                <a:cs typeface="Calibri" panose="020F0502020204030204"/>
              </a:rPr>
              <a:t>Thus, </a:t>
            </a:r>
            <a:r>
              <a:rPr sz="2400" spc="-10" dirty="0">
                <a:latin typeface="Calibri" panose="020F0502020204030204"/>
                <a:cs typeface="Calibri" panose="020F0502020204030204"/>
              </a:rPr>
              <a:t>you </a:t>
            </a:r>
            <a:r>
              <a:rPr sz="2400" spc="-15" dirty="0">
                <a:latin typeface="Calibri" panose="020F0502020204030204"/>
                <a:cs typeface="Calibri" panose="020F0502020204030204"/>
              </a:rPr>
              <a:t>may want to </a:t>
            </a:r>
            <a:r>
              <a:rPr sz="2400" spc="-530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spc="-5" dirty="0">
                <a:latin typeface="Calibri" panose="020F0502020204030204"/>
                <a:cs typeface="Calibri" panose="020F0502020204030204"/>
              </a:rPr>
              <a:t>place</a:t>
            </a:r>
            <a:r>
              <a:rPr sz="2400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dirty="0">
                <a:latin typeface="Calibri" panose="020F0502020204030204"/>
                <a:cs typeface="Calibri" panose="020F0502020204030204"/>
              </a:rPr>
              <a:t>these </a:t>
            </a:r>
            <a:r>
              <a:rPr sz="2400" spc="-10" dirty="0">
                <a:latin typeface="Calibri" panose="020F0502020204030204"/>
                <a:cs typeface="Calibri" panose="020F0502020204030204"/>
              </a:rPr>
              <a:t>items</a:t>
            </a:r>
            <a:r>
              <a:rPr sz="2400" spc="-20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dirty="0">
                <a:latin typeface="Calibri" panose="020F0502020204030204"/>
                <a:cs typeface="Calibri" panose="020F0502020204030204"/>
              </a:rPr>
              <a:t>close</a:t>
            </a:r>
            <a:r>
              <a:rPr sz="2400" spc="-5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spc="-15" dirty="0">
                <a:latin typeface="Calibri" panose="020F0502020204030204"/>
                <a:cs typeface="Calibri" panose="020F0502020204030204"/>
              </a:rPr>
              <a:t>to</a:t>
            </a:r>
            <a:r>
              <a:rPr sz="2400" spc="-10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spc="-5" dirty="0">
                <a:latin typeface="Calibri" panose="020F0502020204030204"/>
                <a:cs typeface="Calibri" panose="020F0502020204030204"/>
              </a:rPr>
              <a:t>one </a:t>
            </a:r>
            <a:r>
              <a:rPr sz="2400" spc="-30" dirty="0">
                <a:latin typeface="Calibri" panose="020F0502020204030204"/>
                <a:cs typeface="Calibri" panose="020F0502020204030204"/>
              </a:rPr>
              <a:t>another.</a:t>
            </a:r>
            <a:endParaRPr sz="2400">
              <a:latin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409191" y="161670"/>
            <a:ext cx="5868670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00" b="1" dirty="0">
                <a:solidFill>
                  <a:srgbClr val="2E5496"/>
                </a:solidFill>
                <a:latin typeface="Calibri" panose="020F0502020204030204"/>
                <a:cs typeface="Calibri" panose="020F0502020204030204"/>
              </a:rPr>
              <a:t>Semi-supervised</a:t>
            </a:r>
            <a:r>
              <a:rPr sz="4400" b="1" spc="-105" dirty="0">
                <a:solidFill>
                  <a:srgbClr val="2E5496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4400" b="1" dirty="0">
                <a:solidFill>
                  <a:srgbClr val="2E5496"/>
                </a:solidFill>
                <a:latin typeface="Calibri" panose="020F0502020204030204"/>
                <a:cs typeface="Calibri" panose="020F0502020204030204"/>
              </a:rPr>
              <a:t>learning</a:t>
            </a:r>
            <a:endParaRPr sz="44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59740" y="1677670"/>
            <a:ext cx="4094479" cy="2469515"/>
          </a:xfrm>
          <a:prstGeom prst="rect">
            <a:avLst/>
          </a:prstGeom>
        </p:spPr>
        <p:txBody>
          <a:bodyPr vert="horz" wrap="square" lIns="0" tIns="48895" rIns="0" bIns="0" rtlCol="0">
            <a:spAutoFit/>
          </a:bodyPr>
          <a:lstStyle/>
          <a:p>
            <a:pPr marL="184785" marR="5080" indent="-172720">
              <a:lnSpc>
                <a:spcPct val="90000"/>
              </a:lnSpc>
              <a:spcBef>
                <a:spcPts val="385"/>
              </a:spcBef>
              <a:buFont typeface="Arial MT"/>
              <a:buChar char="•"/>
              <a:tabLst>
                <a:tab pos="185420" algn="l"/>
              </a:tabLst>
            </a:pPr>
            <a:r>
              <a:rPr sz="2400" spc="-5" dirty="0">
                <a:latin typeface="Calibri" panose="020F0502020204030204"/>
                <a:cs typeface="Calibri" panose="020F0502020204030204"/>
              </a:rPr>
              <a:t>Since </a:t>
            </a:r>
            <a:r>
              <a:rPr sz="2400" dirty="0">
                <a:latin typeface="Calibri" panose="020F0502020204030204"/>
                <a:cs typeface="Calibri" panose="020F0502020204030204"/>
              </a:rPr>
              <a:t>labeling </a:t>
            </a:r>
            <a:r>
              <a:rPr sz="2400" spc="-15" dirty="0">
                <a:latin typeface="Calibri" panose="020F0502020204030204"/>
                <a:cs typeface="Calibri" panose="020F0502020204030204"/>
              </a:rPr>
              <a:t>data </a:t>
            </a:r>
            <a:r>
              <a:rPr sz="2400" dirty="0">
                <a:latin typeface="Calibri" panose="020F0502020204030204"/>
                <a:cs typeface="Calibri" panose="020F0502020204030204"/>
              </a:rPr>
              <a:t>is </a:t>
            </a:r>
            <a:r>
              <a:rPr sz="2400" spc="-5" dirty="0">
                <a:latin typeface="Calibri" panose="020F0502020204030204"/>
                <a:cs typeface="Calibri" panose="020F0502020204030204"/>
              </a:rPr>
              <a:t>usually </a:t>
            </a:r>
            <a:r>
              <a:rPr sz="2400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spc="-5" dirty="0">
                <a:latin typeface="Calibri" panose="020F0502020204030204"/>
                <a:cs typeface="Calibri" panose="020F0502020204030204"/>
              </a:rPr>
              <a:t>time-consuming</a:t>
            </a:r>
            <a:r>
              <a:rPr sz="2400" spc="-45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dirty="0">
                <a:latin typeface="Calibri" panose="020F0502020204030204"/>
                <a:cs typeface="Calibri" panose="020F0502020204030204"/>
              </a:rPr>
              <a:t>and</a:t>
            </a:r>
            <a:r>
              <a:rPr sz="2400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spc="-35" dirty="0">
                <a:latin typeface="Calibri" panose="020F0502020204030204"/>
                <a:cs typeface="Calibri" panose="020F0502020204030204"/>
              </a:rPr>
              <a:t>costly,</a:t>
            </a:r>
            <a:r>
              <a:rPr sz="2400" spc="-40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spc="-10" dirty="0">
                <a:latin typeface="Calibri" panose="020F0502020204030204"/>
                <a:cs typeface="Calibri" panose="020F0502020204030204"/>
              </a:rPr>
              <a:t>you </a:t>
            </a:r>
            <a:r>
              <a:rPr sz="2400" spc="-530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dirty="0">
                <a:latin typeface="Calibri" panose="020F0502020204030204"/>
                <a:cs typeface="Calibri" panose="020F0502020204030204"/>
              </a:rPr>
              <a:t>will</a:t>
            </a:r>
            <a:r>
              <a:rPr sz="2400" spc="-20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spc="-10" dirty="0">
                <a:latin typeface="Calibri" panose="020F0502020204030204"/>
                <a:cs typeface="Calibri" panose="020F0502020204030204"/>
              </a:rPr>
              <a:t>often</a:t>
            </a:r>
            <a:r>
              <a:rPr sz="2400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spc="-20" dirty="0">
                <a:latin typeface="Calibri" panose="020F0502020204030204"/>
                <a:cs typeface="Calibri" panose="020F0502020204030204"/>
              </a:rPr>
              <a:t>have</a:t>
            </a:r>
            <a:r>
              <a:rPr sz="2400" spc="-5" dirty="0">
                <a:latin typeface="Calibri" panose="020F0502020204030204"/>
                <a:cs typeface="Calibri" panose="020F0502020204030204"/>
              </a:rPr>
              <a:t> plenty of </a:t>
            </a:r>
            <a:r>
              <a:rPr sz="2400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spc="-5" dirty="0">
                <a:latin typeface="Calibri" panose="020F0502020204030204"/>
                <a:cs typeface="Calibri" panose="020F0502020204030204"/>
              </a:rPr>
              <a:t>unlabeled instances, </a:t>
            </a:r>
            <a:r>
              <a:rPr sz="2400" dirty="0">
                <a:latin typeface="Calibri" panose="020F0502020204030204"/>
                <a:cs typeface="Calibri" panose="020F0502020204030204"/>
              </a:rPr>
              <a:t>and </a:t>
            </a:r>
            <a:r>
              <a:rPr sz="2400" spc="-25" dirty="0">
                <a:latin typeface="Calibri" panose="020F0502020204030204"/>
                <a:cs typeface="Calibri" panose="020F0502020204030204"/>
              </a:rPr>
              <a:t>few </a:t>
            </a:r>
            <a:r>
              <a:rPr sz="2400" spc="-20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dirty="0">
                <a:latin typeface="Calibri" panose="020F0502020204030204"/>
                <a:cs typeface="Calibri" panose="020F0502020204030204"/>
              </a:rPr>
              <a:t>labeled </a:t>
            </a:r>
            <a:r>
              <a:rPr sz="2400" spc="-5" dirty="0">
                <a:latin typeface="Calibri" panose="020F0502020204030204"/>
                <a:cs typeface="Calibri" panose="020F0502020204030204"/>
              </a:rPr>
              <a:t>instances.</a:t>
            </a:r>
            <a:endParaRPr sz="2400">
              <a:latin typeface="Calibri" panose="020F0502020204030204"/>
              <a:cs typeface="Calibri" panose="020F0502020204030204"/>
            </a:endParaRPr>
          </a:p>
          <a:p>
            <a:pPr marL="184785" indent="-172720">
              <a:lnSpc>
                <a:spcPts val="2735"/>
              </a:lnSpc>
              <a:spcBef>
                <a:spcPts val="520"/>
              </a:spcBef>
              <a:buFont typeface="Arial MT"/>
              <a:buChar char="•"/>
              <a:tabLst>
                <a:tab pos="185420" algn="l"/>
              </a:tabLst>
            </a:pPr>
            <a:r>
              <a:rPr sz="2400" spc="-5" dirty="0">
                <a:latin typeface="Calibri" panose="020F0502020204030204"/>
                <a:cs typeface="Calibri" panose="020F0502020204030204"/>
              </a:rPr>
              <a:t>Some</a:t>
            </a:r>
            <a:r>
              <a:rPr sz="2400" spc="-25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spc="-5" dirty="0">
                <a:latin typeface="Calibri" panose="020F0502020204030204"/>
                <a:cs typeface="Calibri" panose="020F0502020204030204"/>
              </a:rPr>
              <a:t>algorithms</a:t>
            </a:r>
            <a:r>
              <a:rPr sz="2400" spc="-45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spc="-10" dirty="0">
                <a:latin typeface="Calibri" panose="020F0502020204030204"/>
                <a:cs typeface="Calibri" panose="020F0502020204030204"/>
              </a:rPr>
              <a:t>can </a:t>
            </a:r>
            <a:r>
              <a:rPr sz="2400" spc="-5" dirty="0">
                <a:latin typeface="Calibri" panose="020F0502020204030204"/>
                <a:cs typeface="Calibri" panose="020F0502020204030204"/>
              </a:rPr>
              <a:t>deal</a:t>
            </a:r>
            <a:r>
              <a:rPr sz="2400" spc="-20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dirty="0">
                <a:latin typeface="Calibri" panose="020F0502020204030204"/>
                <a:cs typeface="Calibri" panose="020F0502020204030204"/>
              </a:rPr>
              <a:t>with</a:t>
            </a:r>
            <a:endParaRPr sz="2400">
              <a:latin typeface="Calibri" panose="020F0502020204030204"/>
              <a:cs typeface="Calibri" panose="020F0502020204030204"/>
            </a:endParaRPr>
          </a:p>
          <a:p>
            <a:pPr marL="184785">
              <a:lnSpc>
                <a:spcPts val="2735"/>
              </a:lnSpc>
            </a:pPr>
            <a:r>
              <a:rPr sz="2400" spc="-15" dirty="0">
                <a:latin typeface="Calibri" panose="020F0502020204030204"/>
                <a:cs typeface="Calibri" panose="020F0502020204030204"/>
              </a:rPr>
              <a:t>data</a:t>
            </a:r>
            <a:r>
              <a:rPr sz="2400" spc="-25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spc="-15" dirty="0">
                <a:latin typeface="Calibri" panose="020F0502020204030204"/>
                <a:cs typeface="Calibri" panose="020F0502020204030204"/>
              </a:rPr>
              <a:t>that’s</a:t>
            </a:r>
            <a:r>
              <a:rPr sz="2400" spc="-30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spc="-5" dirty="0">
                <a:latin typeface="Calibri" panose="020F0502020204030204"/>
                <a:cs typeface="Calibri" panose="020F0502020204030204"/>
              </a:rPr>
              <a:t>partially</a:t>
            </a:r>
            <a:r>
              <a:rPr sz="2400" spc="-35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dirty="0">
                <a:latin typeface="Calibri" panose="020F0502020204030204"/>
                <a:cs typeface="Calibri" panose="020F0502020204030204"/>
              </a:rPr>
              <a:t>labeled.</a:t>
            </a:r>
            <a:endParaRPr sz="2400">
              <a:latin typeface="Calibri" panose="020F0502020204030204"/>
              <a:cs typeface="Calibri" panose="020F0502020204030204"/>
            </a:endParaRPr>
          </a:p>
        </p:txBody>
      </p:sp>
      <p:pic>
        <p:nvPicPr>
          <p:cNvPr id="4" name="object 4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5300471" y="1024127"/>
            <a:ext cx="3457955" cy="5704332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07542" y="1737476"/>
            <a:ext cx="7717155" cy="3623945"/>
          </a:xfrm>
          <a:prstGeom prst="rect">
            <a:avLst/>
          </a:prstGeom>
        </p:spPr>
        <p:txBody>
          <a:bodyPr vert="horz" wrap="square" lIns="0" tIns="77470" rIns="0" bIns="0" rtlCol="0">
            <a:spAutoFit/>
          </a:bodyPr>
          <a:lstStyle/>
          <a:p>
            <a:pPr marL="184785" indent="-172720" algn="just">
              <a:lnSpc>
                <a:spcPct val="100000"/>
              </a:lnSpc>
              <a:spcBef>
                <a:spcPts val="610"/>
              </a:spcBef>
              <a:buFont typeface="Arial MT"/>
              <a:buChar char="•"/>
              <a:tabLst>
                <a:tab pos="185420" algn="l"/>
              </a:tabLst>
            </a:pPr>
            <a:r>
              <a:rPr sz="2400" spc="-5" dirty="0">
                <a:latin typeface="Calibri" panose="020F0502020204030204"/>
                <a:cs typeface="Calibri" panose="020F0502020204030204"/>
              </a:rPr>
              <a:t>G</a:t>
            </a:r>
            <a:r>
              <a:rPr sz="2400" spc="-5" dirty="0">
                <a:latin typeface="Calibri" panose="020F0502020204030204"/>
                <a:cs typeface="Calibri" panose="020F0502020204030204"/>
              </a:rPr>
              <a:t>oogle</a:t>
            </a:r>
            <a:r>
              <a:rPr sz="2400" spc="-10" dirty="0">
                <a:latin typeface="Calibri" panose="020F0502020204030204"/>
                <a:cs typeface="Calibri" panose="020F0502020204030204"/>
              </a:rPr>
              <a:t> Photos, </a:t>
            </a:r>
            <a:r>
              <a:rPr sz="2400" dirty="0">
                <a:latin typeface="Calibri" panose="020F0502020204030204"/>
                <a:cs typeface="Calibri" panose="020F0502020204030204"/>
              </a:rPr>
              <a:t>is</a:t>
            </a:r>
            <a:r>
              <a:rPr sz="2400" spc="-5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dirty="0">
                <a:latin typeface="Calibri" panose="020F0502020204030204"/>
                <a:cs typeface="Calibri" panose="020F0502020204030204"/>
              </a:rPr>
              <a:t>an</a:t>
            </a:r>
            <a:r>
              <a:rPr sz="2400" spc="-20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spc="-15" dirty="0">
                <a:latin typeface="Calibri" panose="020F0502020204030204"/>
                <a:cs typeface="Calibri" panose="020F0502020204030204"/>
              </a:rPr>
              <a:t>example </a:t>
            </a:r>
            <a:r>
              <a:rPr sz="2400" spc="-5" dirty="0">
                <a:latin typeface="Calibri" panose="020F0502020204030204"/>
                <a:cs typeface="Calibri" panose="020F0502020204030204"/>
              </a:rPr>
              <a:t>of</a:t>
            </a:r>
            <a:r>
              <a:rPr sz="2400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dirty="0">
                <a:latin typeface="Calibri" panose="020F0502020204030204"/>
                <a:cs typeface="Calibri" panose="020F0502020204030204"/>
              </a:rPr>
              <a:t>this.</a:t>
            </a:r>
            <a:endParaRPr sz="2400">
              <a:latin typeface="Calibri" panose="020F0502020204030204"/>
              <a:cs typeface="Calibri" panose="020F0502020204030204"/>
            </a:endParaRPr>
          </a:p>
          <a:p>
            <a:pPr marL="184785" marR="5080" indent="-172720" algn="just">
              <a:lnSpc>
                <a:spcPct val="90000"/>
              </a:lnSpc>
              <a:spcBef>
                <a:spcPts val="805"/>
              </a:spcBef>
              <a:buFont typeface="Arial MT"/>
              <a:buChar char="•"/>
              <a:tabLst>
                <a:tab pos="185420" algn="l"/>
                <a:tab pos="3433445" algn="l"/>
              </a:tabLst>
            </a:pPr>
            <a:r>
              <a:rPr sz="2400" spc="-5" dirty="0">
                <a:latin typeface="Calibri" panose="020F0502020204030204"/>
                <a:cs typeface="Calibri" panose="020F0502020204030204"/>
              </a:rPr>
              <a:t>Once </a:t>
            </a:r>
            <a:r>
              <a:rPr sz="2400" spc="-10" dirty="0">
                <a:latin typeface="Calibri" panose="020F0502020204030204"/>
                <a:cs typeface="Calibri" panose="020F0502020204030204"/>
              </a:rPr>
              <a:t>you </a:t>
            </a:r>
            <a:r>
              <a:rPr sz="2400" spc="-5" dirty="0">
                <a:latin typeface="Calibri" panose="020F0502020204030204"/>
                <a:cs typeface="Calibri" panose="020F0502020204030204"/>
              </a:rPr>
              <a:t>upload </a:t>
            </a:r>
            <a:r>
              <a:rPr sz="2400" dirty="0">
                <a:latin typeface="Calibri" panose="020F0502020204030204"/>
                <a:cs typeface="Calibri" panose="020F0502020204030204"/>
              </a:rPr>
              <a:t>all </a:t>
            </a:r>
            <a:r>
              <a:rPr sz="2400" spc="-15" dirty="0">
                <a:latin typeface="Calibri" panose="020F0502020204030204"/>
                <a:cs typeface="Calibri" panose="020F0502020204030204"/>
              </a:rPr>
              <a:t>your </a:t>
            </a:r>
            <a:r>
              <a:rPr sz="2400" spc="-10" dirty="0">
                <a:latin typeface="Calibri" panose="020F0502020204030204"/>
                <a:cs typeface="Calibri" panose="020F0502020204030204"/>
              </a:rPr>
              <a:t>family photos </a:t>
            </a:r>
            <a:r>
              <a:rPr sz="2400" spc="-15" dirty="0">
                <a:latin typeface="Calibri" panose="020F0502020204030204"/>
                <a:cs typeface="Calibri" panose="020F0502020204030204"/>
              </a:rPr>
              <a:t>to </a:t>
            </a:r>
            <a:r>
              <a:rPr sz="2400" dirty="0">
                <a:latin typeface="Calibri" panose="020F0502020204030204"/>
                <a:cs typeface="Calibri" panose="020F0502020204030204"/>
              </a:rPr>
              <a:t>the service, it </a:t>
            </a:r>
            <a:r>
              <a:rPr sz="2400" spc="5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spc="-10" dirty="0">
                <a:latin typeface="Calibri" panose="020F0502020204030204"/>
                <a:cs typeface="Calibri" panose="020F0502020204030204"/>
              </a:rPr>
              <a:t>automatically</a:t>
            </a:r>
            <a:r>
              <a:rPr sz="2400" spc="-35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spc="-15" dirty="0">
                <a:latin typeface="Calibri" panose="020F0502020204030204"/>
                <a:cs typeface="Calibri" panose="020F0502020204030204"/>
              </a:rPr>
              <a:t>recognizes</a:t>
            </a:r>
            <a:r>
              <a:rPr sz="2400" spc="5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spc="-10" dirty="0">
                <a:latin typeface="Calibri" panose="020F0502020204030204"/>
                <a:cs typeface="Calibri" panose="020F0502020204030204"/>
              </a:rPr>
              <a:t>that</a:t>
            </a:r>
            <a:r>
              <a:rPr sz="2400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dirty="0">
                <a:latin typeface="Calibri" panose="020F0502020204030204"/>
                <a:cs typeface="Calibri" panose="020F0502020204030204"/>
              </a:rPr>
              <a:t>the</a:t>
            </a:r>
            <a:r>
              <a:rPr sz="2400" spc="5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spc="-5" dirty="0">
                <a:latin typeface="Calibri" panose="020F0502020204030204"/>
                <a:cs typeface="Calibri" panose="020F0502020204030204"/>
              </a:rPr>
              <a:t>same</a:t>
            </a:r>
            <a:r>
              <a:rPr sz="2400" spc="-10" dirty="0">
                <a:latin typeface="Calibri" panose="020F0502020204030204"/>
                <a:cs typeface="Calibri" panose="020F0502020204030204"/>
              </a:rPr>
              <a:t> person</a:t>
            </a:r>
            <a:r>
              <a:rPr sz="2400" dirty="0">
                <a:latin typeface="Calibri" panose="020F0502020204030204"/>
                <a:cs typeface="Calibri" panose="020F0502020204030204"/>
              </a:rPr>
              <a:t> A</a:t>
            </a:r>
            <a:r>
              <a:rPr sz="2400" spc="-15" dirty="0">
                <a:latin typeface="Calibri" panose="020F0502020204030204"/>
                <a:cs typeface="Calibri" panose="020F0502020204030204"/>
              </a:rPr>
              <a:t> shows</a:t>
            </a:r>
            <a:r>
              <a:rPr sz="2400" spc="5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spc="-5" dirty="0">
                <a:latin typeface="Calibri" panose="020F0502020204030204"/>
                <a:cs typeface="Calibri" panose="020F0502020204030204"/>
              </a:rPr>
              <a:t>up </a:t>
            </a:r>
            <a:r>
              <a:rPr sz="2400" dirty="0">
                <a:latin typeface="Calibri" panose="020F0502020204030204"/>
                <a:cs typeface="Calibri" panose="020F0502020204030204"/>
              </a:rPr>
              <a:t>in </a:t>
            </a:r>
            <a:r>
              <a:rPr sz="2400" spc="-525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spc="-10" dirty="0">
                <a:latin typeface="Calibri" panose="020F0502020204030204"/>
                <a:cs typeface="Calibri" panose="020F0502020204030204"/>
              </a:rPr>
              <a:t>photos </a:t>
            </a:r>
            <a:r>
              <a:rPr sz="2400" spc="-5" dirty="0">
                <a:latin typeface="Calibri" panose="020F0502020204030204"/>
                <a:cs typeface="Calibri" panose="020F0502020204030204"/>
              </a:rPr>
              <a:t>1, 5, </a:t>
            </a:r>
            <a:r>
              <a:rPr sz="2400" dirty="0">
                <a:latin typeface="Calibri" panose="020F0502020204030204"/>
                <a:cs typeface="Calibri" panose="020F0502020204030204"/>
              </a:rPr>
              <a:t>and </a:t>
            </a:r>
            <a:r>
              <a:rPr sz="2400" spc="-5" dirty="0">
                <a:latin typeface="Calibri" panose="020F0502020204030204"/>
                <a:cs typeface="Calibri" panose="020F0502020204030204"/>
              </a:rPr>
              <a:t>11, </a:t>
            </a:r>
            <a:r>
              <a:rPr sz="2400" dirty="0">
                <a:latin typeface="Calibri" panose="020F0502020204030204"/>
                <a:cs typeface="Calibri" panose="020F0502020204030204"/>
              </a:rPr>
              <a:t>while another </a:t>
            </a:r>
            <a:r>
              <a:rPr sz="2400" spc="-10" dirty="0">
                <a:latin typeface="Calibri" panose="020F0502020204030204"/>
                <a:cs typeface="Calibri" panose="020F0502020204030204"/>
              </a:rPr>
              <a:t>person </a:t>
            </a:r>
            <a:r>
              <a:rPr sz="2400" dirty="0">
                <a:latin typeface="Calibri" panose="020F0502020204030204"/>
                <a:cs typeface="Calibri" panose="020F0502020204030204"/>
              </a:rPr>
              <a:t>B </a:t>
            </a:r>
            <a:r>
              <a:rPr sz="2400" spc="-15" dirty="0">
                <a:latin typeface="Calibri" panose="020F0502020204030204"/>
                <a:cs typeface="Calibri" panose="020F0502020204030204"/>
              </a:rPr>
              <a:t>shows </a:t>
            </a:r>
            <a:r>
              <a:rPr sz="2400" spc="-5" dirty="0">
                <a:latin typeface="Calibri" panose="020F0502020204030204"/>
                <a:cs typeface="Calibri" panose="020F0502020204030204"/>
              </a:rPr>
              <a:t>up </a:t>
            </a:r>
            <a:r>
              <a:rPr sz="2400" dirty="0">
                <a:latin typeface="Calibri" panose="020F0502020204030204"/>
                <a:cs typeface="Calibri" panose="020F0502020204030204"/>
              </a:rPr>
              <a:t>in </a:t>
            </a:r>
            <a:r>
              <a:rPr sz="2400" spc="5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spc="-10" dirty="0">
                <a:latin typeface="Calibri" panose="020F0502020204030204"/>
                <a:cs typeface="Calibri" panose="020F0502020204030204"/>
              </a:rPr>
              <a:t>photos </a:t>
            </a:r>
            <a:r>
              <a:rPr sz="2400" spc="-5" dirty="0">
                <a:latin typeface="Calibri" panose="020F0502020204030204"/>
                <a:cs typeface="Calibri" panose="020F0502020204030204"/>
              </a:rPr>
              <a:t>2,</a:t>
            </a:r>
            <a:r>
              <a:rPr sz="2400" spc="5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spc="-5" dirty="0">
                <a:latin typeface="Calibri" panose="020F0502020204030204"/>
                <a:cs typeface="Calibri" panose="020F0502020204030204"/>
              </a:rPr>
              <a:t>5,</a:t>
            </a:r>
            <a:r>
              <a:rPr sz="2400" dirty="0">
                <a:latin typeface="Calibri" panose="020F0502020204030204"/>
                <a:cs typeface="Calibri" panose="020F0502020204030204"/>
              </a:rPr>
              <a:t> and </a:t>
            </a:r>
            <a:r>
              <a:rPr sz="2400" spc="-5" dirty="0">
                <a:latin typeface="Calibri" panose="020F0502020204030204"/>
                <a:cs typeface="Calibri" panose="020F0502020204030204"/>
              </a:rPr>
              <a:t>7.</a:t>
            </a:r>
            <a:r>
              <a:rPr sz="2400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spc="-10" dirty="0">
                <a:latin typeface="Calibri" panose="020F0502020204030204"/>
                <a:cs typeface="Calibri" panose="020F0502020204030204"/>
              </a:rPr>
              <a:t>This</a:t>
            </a:r>
            <a:r>
              <a:rPr sz="2400" dirty="0">
                <a:latin typeface="Calibri" panose="020F0502020204030204"/>
                <a:cs typeface="Calibri" panose="020F0502020204030204"/>
              </a:rPr>
              <a:t> is	the </a:t>
            </a:r>
            <a:r>
              <a:rPr sz="2400" spc="-5" dirty="0">
                <a:latin typeface="Calibri" panose="020F0502020204030204"/>
                <a:cs typeface="Calibri" panose="020F0502020204030204"/>
              </a:rPr>
              <a:t>unsupervised</a:t>
            </a:r>
            <a:r>
              <a:rPr sz="2400" spc="5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spc="-5" dirty="0">
                <a:latin typeface="Calibri" panose="020F0502020204030204"/>
                <a:cs typeface="Calibri" panose="020F0502020204030204"/>
              </a:rPr>
              <a:t>part</a:t>
            </a:r>
            <a:r>
              <a:rPr sz="2400" spc="-10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spc="-5" dirty="0">
                <a:latin typeface="Calibri" panose="020F0502020204030204"/>
                <a:cs typeface="Calibri" panose="020F0502020204030204"/>
              </a:rPr>
              <a:t>of </a:t>
            </a:r>
            <a:r>
              <a:rPr sz="2400" dirty="0">
                <a:latin typeface="Calibri" panose="020F0502020204030204"/>
                <a:cs typeface="Calibri" panose="020F0502020204030204"/>
              </a:rPr>
              <a:t>the </a:t>
            </a:r>
            <a:r>
              <a:rPr sz="2400" spc="5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spc="-5" dirty="0">
                <a:latin typeface="Calibri" panose="020F0502020204030204"/>
                <a:cs typeface="Calibri" panose="020F0502020204030204"/>
              </a:rPr>
              <a:t>algorithm</a:t>
            </a:r>
            <a:r>
              <a:rPr sz="2400" spc="-35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spc="-5" dirty="0">
                <a:latin typeface="Calibri" panose="020F0502020204030204"/>
                <a:cs typeface="Calibri" panose="020F0502020204030204"/>
              </a:rPr>
              <a:t>(clustering).</a:t>
            </a:r>
            <a:endParaRPr sz="2400">
              <a:latin typeface="Calibri" panose="020F0502020204030204"/>
              <a:cs typeface="Calibri" panose="020F0502020204030204"/>
            </a:endParaRPr>
          </a:p>
          <a:p>
            <a:pPr marL="184785" marR="163195" indent="-172720" algn="just">
              <a:lnSpc>
                <a:spcPts val="2590"/>
              </a:lnSpc>
              <a:spcBef>
                <a:spcPts val="845"/>
              </a:spcBef>
              <a:buFont typeface="Arial MT"/>
              <a:buChar char="•"/>
              <a:tabLst>
                <a:tab pos="185420" algn="l"/>
              </a:tabLst>
            </a:pPr>
            <a:r>
              <a:rPr sz="2400" spc="-10" dirty="0">
                <a:latin typeface="Calibri" panose="020F0502020204030204"/>
                <a:cs typeface="Calibri" panose="020F0502020204030204"/>
              </a:rPr>
              <a:t>Now </a:t>
            </a:r>
            <a:r>
              <a:rPr sz="2400" dirty="0">
                <a:latin typeface="Calibri" panose="020F0502020204030204"/>
                <a:cs typeface="Calibri" panose="020F0502020204030204"/>
              </a:rPr>
              <a:t>all the </a:t>
            </a:r>
            <a:r>
              <a:rPr sz="2400" spc="-25" dirty="0">
                <a:latin typeface="Calibri" panose="020F0502020204030204"/>
                <a:cs typeface="Calibri" panose="020F0502020204030204"/>
              </a:rPr>
              <a:t>system </a:t>
            </a:r>
            <a:r>
              <a:rPr sz="2400" spc="-5" dirty="0">
                <a:latin typeface="Calibri" panose="020F0502020204030204"/>
                <a:cs typeface="Calibri" panose="020F0502020204030204"/>
              </a:rPr>
              <a:t>needs </a:t>
            </a:r>
            <a:r>
              <a:rPr sz="2400" dirty="0">
                <a:latin typeface="Calibri" panose="020F0502020204030204"/>
                <a:cs typeface="Calibri" panose="020F0502020204030204"/>
              </a:rPr>
              <a:t>is </a:t>
            </a:r>
            <a:r>
              <a:rPr sz="2400" spc="-20" dirty="0">
                <a:latin typeface="Calibri" panose="020F0502020204030204"/>
                <a:cs typeface="Calibri" panose="020F0502020204030204"/>
              </a:rPr>
              <a:t>for </a:t>
            </a:r>
            <a:r>
              <a:rPr sz="2400" spc="-10" dirty="0">
                <a:latin typeface="Calibri" panose="020F0502020204030204"/>
                <a:cs typeface="Calibri" panose="020F0502020204030204"/>
              </a:rPr>
              <a:t>you </a:t>
            </a:r>
            <a:r>
              <a:rPr sz="2400" spc="-15" dirty="0">
                <a:latin typeface="Calibri" panose="020F0502020204030204"/>
                <a:cs typeface="Calibri" panose="020F0502020204030204"/>
              </a:rPr>
              <a:t>to </a:t>
            </a:r>
            <a:r>
              <a:rPr sz="2400" spc="-10" dirty="0">
                <a:latin typeface="Calibri" panose="020F0502020204030204"/>
                <a:cs typeface="Calibri" panose="020F0502020204030204"/>
              </a:rPr>
              <a:t>tell </a:t>
            </a:r>
            <a:r>
              <a:rPr sz="2400" dirty="0">
                <a:latin typeface="Calibri" panose="020F0502020204030204"/>
                <a:cs typeface="Calibri" panose="020F0502020204030204"/>
              </a:rPr>
              <a:t>it who these </a:t>
            </a:r>
            <a:r>
              <a:rPr sz="2400" spc="5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spc="-5" dirty="0">
                <a:latin typeface="Calibri" panose="020F0502020204030204"/>
                <a:cs typeface="Calibri" panose="020F0502020204030204"/>
              </a:rPr>
              <a:t>people </a:t>
            </a:r>
            <a:r>
              <a:rPr sz="2400" spc="-10" dirty="0">
                <a:latin typeface="Calibri" panose="020F0502020204030204"/>
                <a:cs typeface="Calibri" panose="020F0502020204030204"/>
              </a:rPr>
              <a:t>are. Just </a:t>
            </a:r>
            <a:r>
              <a:rPr sz="2400" spc="-5" dirty="0">
                <a:latin typeface="Calibri" panose="020F0502020204030204"/>
                <a:cs typeface="Calibri" panose="020F0502020204030204"/>
              </a:rPr>
              <a:t>one </a:t>
            </a:r>
            <a:r>
              <a:rPr sz="2400" dirty="0">
                <a:latin typeface="Calibri" panose="020F0502020204030204"/>
                <a:cs typeface="Calibri" panose="020F0502020204030204"/>
              </a:rPr>
              <a:t>label </a:t>
            </a:r>
            <a:r>
              <a:rPr sz="2400" spc="-5" dirty="0">
                <a:latin typeface="Calibri" panose="020F0502020204030204"/>
                <a:cs typeface="Calibri" panose="020F0502020204030204"/>
              </a:rPr>
              <a:t>per </a:t>
            </a:r>
            <a:r>
              <a:rPr sz="2400" spc="-10" dirty="0">
                <a:latin typeface="Calibri" panose="020F0502020204030204"/>
                <a:cs typeface="Calibri" panose="020F0502020204030204"/>
              </a:rPr>
              <a:t>person, </a:t>
            </a:r>
            <a:r>
              <a:rPr sz="2400" dirty="0">
                <a:latin typeface="Calibri" panose="020F0502020204030204"/>
                <a:cs typeface="Calibri" panose="020F0502020204030204"/>
              </a:rPr>
              <a:t>and it is able </a:t>
            </a:r>
            <a:r>
              <a:rPr sz="2400" spc="-15" dirty="0">
                <a:latin typeface="Calibri" panose="020F0502020204030204"/>
                <a:cs typeface="Calibri" panose="020F0502020204030204"/>
              </a:rPr>
              <a:t>to </a:t>
            </a:r>
            <a:r>
              <a:rPr sz="2400" spc="-5" dirty="0">
                <a:latin typeface="Calibri" panose="020F0502020204030204"/>
                <a:cs typeface="Calibri" panose="020F0502020204030204"/>
              </a:rPr>
              <a:t>name </a:t>
            </a:r>
            <a:r>
              <a:rPr sz="2400" spc="-530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spc="-10" dirty="0">
                <a:latin typeface="Calibri" panose="020F0502020204030204"/>
                <a:cs typeface="Calibri" panose="020F0502020204030204"/>
              </a:rPr>
              <a:t>everyone </a:t>
            </a:r>
            <a:r>
              <a:rPr sz="2400" dirty="0">
                <a:latin typeface="Calibri" panose="020F0502020204030204"/>
                <a:cs typeface="Calibri" panose="020F0502020204030204"/>
              </a:rPr>
              <a:t>in </a:t>
            </a:r>
            <a:r>
              <a:rPr sz="2400" spc="-10" dirty="0">
                <a:latin typeface="Calibri" panose="020F0502020204030204"/>
                <a:cs typeface="Calibri" panose="020F0502020204030204"/>
              </a:rPr>
              <a:t>every</a:t>
            </a:r>
            <a:r>
              <a:rPr sz="2400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spc="-20" dirty="0">
                <a:latin typeface="Calibri" panose="020F0502020204030204"/>
                <a:cs typeface="Calibri" panose="020F0502020204030204"/>
              </a:rPr>
              <a:t>photo,</a:t>
            </a:r>
            <a:r>
              <a:rPr sz="2400" dirty="0">
                <a:latin typeface="Calibri" panose="020F0502020204030204"/>
                <a:cs typeface="Calibri" panose="020F0502020204030204"/>
              </a:rPr>
              <a:t> which is</a:t>
            </a:r>
            <a:r>
              <a:rPr sz="2400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spc="-10" dirty="0">
                <a:latin typeface="Calibri" panose="020F0502020204030204"/>
                <a:cs typeface="Calibri" panose="020F0502020204030204"/>
              </a:rPr>
              <a:t>useful</a:t>
            </a:r>
            <a:r>
              <a:rPr sz="2400" spc="5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spc="-20" dirty="0">
                <a:latin typeface="Calibri" panose="020F0502020204030204"/>
                <a:cs typeface="Calibri" panose="020F0502020204030204"/>
              </a:rPr>
              <a:t>for</a:t>
            </a:r>
            <a:r>
              <a:rPr sz="2400" spc="-5" dirty="0">
                <a:latin typeface="Calibri" panose="020F0502020204030204"/>
                <a:cs typeface="Calibri" panose="020F0502020204030204"/>
              </a:rPr>
              <a:t> searching </a:t>
            </a:r>
            <a:r>
              <a:rPr sz="2400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spc="-10" dirty="0">
                <a:latin typeface="Calibri" panose="020F0502020204030204"/>
                <a:cs typeface="Calibri" panose="020F0502020204030204"/>
              </a:rPr>
              <a:t>photos.</a:t>
            </a:r>
            <a:endParaRPr sz="24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911857" y="685292"/>
            <a:ext cx="533336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b="1" spc="-5" dirty="0">
                <a:solidFill>
                  <a:srgbClr val="006FC0"/>
                </a:solidFill>
                <a:latin typeface="Calibri" panose="020F0502020204030204"/>
                <a:cs typeface="Calibri" panose="020F0502020204030204"/>
              </a:rPr>
              <a:t>Semi-supervised</a:t>
            </a:r>
            <a:r>
              <a:rPr sz="4000" b="1" spc="-30" dirty="0">
                <a:solidFill>
                  <a:srgbClr val="006FC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4000" b="1" spc="-5" dirty="0">
                <a:solidFill>
                  <a:srgbClr val="006FC0"/>
                </a:solidFill>
                <a:latin typeface="Calibri" panose="020F0502020204030204"/>
                <a:cs typeface="Calibri" panose="020F0502020204030204"/>
              </a:rPr>
              <a:t>learning</a:t>
            </a:r>
            <a:endParaRPr sz="4000">
              <a:latin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700022" y="504901"/>
            <a:ext cx="533400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b="1" spc="-5" dirty="0">
                <a:solidFill>
                  <a:srgbClr val="006FC0"/>
                </a:solidFill>
                <a:latin typeface="Calibri" panose="020F0502020204030204"/>
                <a:cs typeface="Calibri" panose="020F0502020204030204"/>
              </a:rPr>
              <a:t>Semi-supervised</a:t>
            </a:r>
            <a:r>
              <a:rPr sz="4000" b="1" spc="-25" dirty="0">
                <a:solidFill>
                  <a:srgbClr val="006FC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4000" b="1" spc="-5" dirty="0">
                <a:solidFill>
                  <a:srgbClr val="006FC0"/>
                </a:solidFill>
                <a:latin typeface="Calibri" panose="020F0502020204030204"/>
                <a:cs typeface="Calibri" panose="020F0502020204030204"/>
              </a:rPr>
              <a:t>learning</a:t>
            </a:r>
            <a:endParaRPr sz="4000">
              <a:latin typeface="Calibri" panose="020F0502020204030204"/>
              <a:cs typeface="Calibri" panose="020F0502020204030204"/>
            </a:endParaRPr>
          </a:p>
        </p:txBody>
      </p:sp>
      <p:pic>
        <p:nvPicPr>
          <p:cNvPr id="3" name="object 3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0" y="1752600"/>
            <a:ext cx="9143999" cy="4419600"/>
          </a:xfrm>
          <a:prstGeom prst="rect">
            <a:avLst/>
          </a:prstGeom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87627" y="609676"/>
            <a:ext cx="6969759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b="1" spc="-25" dirty="0">
                <a:solidFill>
                  <a:srgbClr val="006FC0"/>
                </a:solidFill>
                <a:latin typeface="Calibri" panose="020F0502020204030204"/>
                <a:cs typeface="Calibri" panose="020F0502020204030204"/>
              </a:rPr>
              <a:t>Reinforcement</a:t>
            </a:r>
            <a:r>
              <a:rPr sz="4400" b="1" spc="-80" dirty="0">
                <a:solidFill>
                  <a:srgbClr val="006FC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4400" b="1" dirty="0">
                <a:solidFill>
                  <a:srgbClr val="006FC0"/>
                </a:solidFill>
                <a:latin typeface="Calibri" panose="020F0502020204030204"/>
                <a:cs typeface="Calibri" panose="020F0502020204030204"/>
              </a:rPr>
              <a:t>Learning-Need</a:t>
            </a:r>
            <a:endParaRPr sz="44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07542" y="1921891"/>
            <a:ext cx="7458075" cy="45986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99085" marR="109220" indent="-287020" algn="just">
              <a:lnSpc>
                <a:spcPct val="100000"/>
              </a:lnSpc>
              <a:spcBef>
                <a:spcPts val="105"/>
              </a:spcBef>
              <a:buFont typeface="Arial MT"/>
              <a:buChar char="•"/>
              <a:tabLst>
                <a:tab pos="299085" algn="l"/>
                <a:tab pos="299720" algn="l"/>
              </a:tabLst>
            </a:pPr>
            <a:r>
              <a:rPr sz="2000" dirty="0">
                <a:latin typeface="Calibri" panose="020F0502020204030204"/>
                <a:cs typeface="Calibri" panose="020F0502020204030204"/>
              </a:rPr>
              <a:t>A </a:t>
            </a:r>
            <a:r>
              <a:rPr sz="2000" spc="-5" dirty="0">
                <a:latin typeface="Calibri" panose="020F0502020204030204"/>
                <a:cs typeface="Calibri" panose="020F0502020204030204"/>
              </a:rPr>
              <a:t>major</a:t>
            </a:r>
            <a:r>
              <a:rPr sz="2000" spc="5" dirty="0">
                <a:latin typeface="Calibri" panose="020F0502020204030204"/>
                <a:cs typeface="Calibri" panose="020F0502020204030204"/>
              </a:rPr>
              <a:t> </a:t>
            </a:r>
            <a:r>
              <a:rPr sz="2000" spc="-5" dirty="0">
                <a:latin typeface="Calibri" panose="020F0502020204030204"/>
                <a:cs typeface="Calibri" panose="020F0502020204030204"/>
              </a:rPr>
              <a:t>drawback</a:t>
            </a:r>
            <a:r>
              <a:rPr sz="2000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sz="2000" spc="-5" dirty="0">
                <a:latin typeface="Calibri" panose="020F0502020204030204"/>
                <a:cs typeface="Calibri" panose="020F0502020204030204"/>
              </a:rPr>
              <a:t>of</a:t>
            </a:r>
            <a:r>
              <a:rPr sz="2000" spc="-10" dirty="0"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latin typeface="Calibri" panose="020F0502020204030204"/>
                <a:cs typeface="Calibri" panose="020F0502020204030204"/>
              </a:rPr>
              <a:t>machine</a:t>
            </a:r>
            <a:r>
              <a:rPr sz="2000" spc="5" dirty="0">
                <a:latin typeface="Calibri" panose="020F0502020204030204"/>
                <a:cs typeface="Calibri" panose="020F0502020204030204"/>
              </a:rPr>
              <a:t> </a:t>
            </a:r>
            <a:r>
              <a:rPr sz="2000" spc="-5" dirty="0">
                <a:latin typeface="Calibri" panose="020F0502020204030204"/>
                <a:cs typeface="Calibri" panose="020F0502020204030204"/>
              </a:rPr>
              <a:t>learning</a:t>
            </a:r>
            <a:r>
              <a:rPr sz="2000" spc="5" dirty="0"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latin typeface="Calibri" panose="020F0502020204030204"/>
                <a:cs typeface="Calibri" panose="020F0502020204030204"/>
              </a:rPr>
              <a:t>is</a:t>
            </a:r>
            <a:r>
              <a:rPr sz="2000" spc="5" dirty="0">
                <a:latin typeface="Calibri" panose="020F0502020204030204"/>
                <a:cs typeface="Calibri" panose="020F0502020204030204"/>
              </a:rPr>
              <a:t> </a:t>
            </a:r>
            <a:r>
              <a:rPr sz="2000" spc="-5" dirty="0">
                <a:latin typeface="Calibri" panose="020F0502020204030204"/>
                <a:cs typeface="Calibri" panose="020F0502020204030204"/>
              </a:rPr>
              <a:t>that</a:t>
            </a:r>
            <a:r>
              <a:rPr sz="2000" dirty="0">
                <a:latin typeface="Calibri" panose="020F0502020204030204"/>
                <a:cs typeface="Calibri" panose="020F0502020204030204"/>
              </a:rPr>
              <a:t> a</a:t>
            </a:r>
            <a:r>
              <a:rPr sz="2000" spc="5" dirty="0">
                <a:latin typeface="Calibri" panose="020F0502020204030204"/>
                <a:cs typeface="Calibri" panose="020F0502020204030204"/>
              </a:rPr>
              <a:t> </a:t>
            </a:r>
            <a:r>
              <a:rPr sz="2000" spc="-5" dirty="0">
                <a:latin typeface="Calibri" panose="020F0502020204030204"/>
                <a:cs typeface="Calibri" panose="020F0502020204030204"/>
              </a:rPr>
              <a:t>tremendous</a:t>
            </a:r>
            <a:r>
              <a:rPr sz="2000" spc="5" dirty="0">
                <a:latin typeface="Calibri" panose="020F0502020204030204"/>
                <a:cs typeface="Calibri" panose="020F0502020204030204"/>
              </a:rPr>
              <a:t> </a:t>
            </a:r>
            <a:r>
              <a:rPr sz="2000" spc="-5" dirty="0">
                <a:latin typeface="Calibri" panose="020F0502020204030204"/>
                <a:cs typeface="Calibri" panose="020F0502020204030204"/>
              </a:rPr>
              <a:t>amount </a:t>
            </a:r>
            <a:r>
              <a:rPr sz="2000" spc="-440" dirty="0">
                <a:latin typeface="Calibri" panose="020F0502020204030204"/>
                <a:cs typeface="Calibri" panose="020F0502020204030204"/>
              </a:rPr>
              <a:t> </a:t>
            </a:r>
            <a:r>
              <a:rPr sz="2000" spc="-5" dirty="0">
                <a:latin typeface="Calibri" panose="020F0502020204030204"/>
                <a:cs typeface="Calibri" panose="020F0502020204030204"/>
              </a:rPr>
              <a:t>of</a:t>
            </a:r>
            <a:r>
              <a:rPr sz="2000" spc="-10" dirty="0">
                <a:latin typeface="Calibri" panose="020F0502020204030204"/>
                <a:cs typeface="Calibri" panose="020F0502020204030204"/>
              </a:rPr>
              <a:t> </a:t>
            </a:r>
            <a:r>
              <a:rPr sz="2000" spc="-15" dirty="0">
                <a:latin typeface="Calibri" panose="020F0502020204030204"/>
                <a:cs typeface="Calibri" panose="020F0502020204030204"/>
              </a:rPr>
              <a:t>data</a:t>
            </a:r>
            <a:r>
              <a:rPr sz="2000" spc="5" dirty="0"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latin typeface="Calibri" panose="020F0502020204030204"/>
                <a:cs typeface="Calibri" panose="020F0502020204030204"/>
              </a:rPr>
              <a:t>is</a:t>
            </a:r>
            <a:r>
              <a:rPr sz="2000" spc="10" dirty="0">
                <a:latin typeface="Calibri" panose="020F0502020204030204"/>
                <a:cs typeface="Calibri" panose="020F0502020204030204"/>
              </a:rPr>
              <a:t> </a:t>
            </a:r>
            <a:r>
              <a:rPr sz="2000" spc="-5" dirty="0">
                <a:latin typeface="Calibri" panose="020F0502020204030204"/>
                <a:cs typeface="Calibri" panose="020F0502020204030204"/>
              </a:rPr>
              <a:t>needed</a:t>
            </a:r>
            <a:r>
              <a:rPr sz="2000" dirty="0">
                <a:latin typeface="Calibri" panose="020F0502020204030204"/>
                <a:cs typeface="Calibri" panose="020F0502020204030204"/>
              </a:rPr>
              <a:t> </a:t>
            </a:r>
            <a:r>
              <a:rPr sz="2000" spc="-15" dirty="0">
                <a:latin typeface="Calibri" panose="020F0502020204030204"/>
                <a:cs typeface="Calibri" panose="020F0502020204030204"/>
              </a:rPr>
              <a:t>to</a:t>
            </a:r>
            <a:r>
              <a:rPr sz="2000" spc="-10" dirty="0">
                <a:latin typeface="Calibri" panose="020F0502020204030204"/>
                <a:cs typeface="Calibri" panose="020F0502020204030204"/>
              </a:rPr>
              <a:t> train</a:t>
            </a:r>
            <a:r>
              <a:rPr sz="2000" spc="5" dirty="0">
                <a:latin typeface="Calibri" panose="020F0502020204030204"/>
                <a:cs typeface="Calibri" panose="020F0502020204030204"/>
              </a:rPr>
              <a:t> </a:t>
            </a:r>
            <a:r>
              <a:rPr sz="2000" spc="-5" dirty="0">
                <a:latin typeface="Calibri" panose="020F0502020204030204"/>
                <a:cs typeface="Calibri" panose="020F0502020204030204"/>
              </a:rPr>
              <a:t>models.</a:t>
            </a:r>
            <a:r>
              <a:rPr sz="2000" dirty="0">
                <a:latin typeface="Calibri" panose="020F0502020204030204"/>
                <a:cs typeface="Calibri" panose="020F0502020204030204"/>
              </a:rPr>
              <a:t> </a:t>
            </a:r>
            <a:r>
              <a:rPr sz="2000" spc="-5" dirty="0">
                <a:latin typeface="Calibri" panose="020F0502020204030204"/>
                <a:cs typeface="Calibri" panose="020F0502020204030204"/>
              </a:rPr>
              <a:t>The</a:t>
            </a:r>
            <a:r>
              <a:rPr sz="2000" dirty="0">
                <a:latin typeface="Calibri" panose="020F0502020204030204"/>
                <a:cs typeface="Calibri" panose="020F0502020204030204"/>
              </a:rPr>
              <a:t> </a:t>
            </a:r>
            <a:r>
              <a:rPr sz="2000" spc="-10" dirty="0">
                <a:latin typeface="Calibri" panose="020F0502020204030204"/>
                <a:cs typeface="Calibri" panose="020F0502020204030204"/>
              </a:rPr>
              <a:t>more</a:t>
            </a:r>
            <a:r>
              <a:rPr sz="2000" spc="5" dirty="0">
                <a:latin typeface="Calibri" panose="020F0502020204030204"/>
                <a:cs typeface="Calibri" panose="020F0502020204030204"/>
              </a:rPr>
              <a:t> </a:t>
            </a:r>
            <a:r>
              <a:rPr sz="2000" spc="-10" dirty="0">
                <a:latin typeface="Calibri" panose="020F0502020204030204"/>
                <a:cs typeface="Calibri" panose="020F0502020204030204"/>
              </a:rPr>
              <a:t>complex</a:t>
            </a:r>
            <a:r>
              <a:rPr sz="2000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latin typeface="Calibri" panose="020F0502020204030204"/>
                <a:cs typeface="Calibri" panose="020F0502020204030204"/>
              </a:rPr>
              <a:t>a</a:t>
            </a:r>
            <a:r>
              <a:rPr sz="2000" spc="5" dirty="0"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latin typeface="Calibri" panose="020F0502020204030204"/>
                <a:cs typeface="Calibri" panose="020F0502020204030204"/>
              </a:rPr>
              <a:t>model,</a:t>
            </a:r>
            <a:r>
              <a:rPr sz="2000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latin typeface="Calibri" panose="020F0502020204030204"/>
                <a:cs typeface="Calibri" panose="020F0502020204030204"/>
              </a:rPr>
              <a:t>the </a:t>
            </a:r>
            <a:r>
              <a:rPr sz="2000" spc="5" dirty="0">
                <a:latin typeface="Calibri" panose="020F0502020204030204"/>
                <a:cs typeface="Calibri" panose="020F0502020204030204"/>
              </a:rPr>
              <a:t> </a:t>
            </a:r>
            <a:r>
              <a:rPr sz="2000" spc="-10" dirty="0">
                <a:latin typeface="Calibri" panose="020F0502020204030204"/>
                <a:cs typeface="Calibri" panose="020F0502020204030204"/>
              </a:rPr>
              <a:t>more</a:t>
            </a:r>
            <a:r>
              <a:rPr sz="2000" spc="5" dirty="0">
                <a:latin typeface="Calibri" panose="020F0502020204030204"/>
                <a:cs typeface="Calibri" panose="020F0502020204030204"/>
              </a:rPr>
              <a:t> </a:t>
            </a:r>
            <a:r>
              <a:rPr sz="2000" spc="-15" dirty="0">
                <a:latin typeface="Calibri" panose="020F0502020204030204"/>
                <a:cs typeface="Calibri" panose="020F0502020204030204"/>
              </a:rPr>
              <a:t>data</a:t>
            </a:r>
            <a:r>
              <a:rPr sz="2000" spc="5" dirty="0"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latin typeface="Calibri" panose="020F0502020204030204"/>
                <a:cs typeface="Calibri" panose="020F0502020204030204"/>
              </a:rPr>
              <a:t>it</a:t>
            </a:r>
            <a:r>
              <a:rPr sz="2000" spc="5" dirty="0">
                <a:latin typeface="Calibri" panose="020F0502020204030204"/>
                <a:cs typeface="Calibri" panose="020F0502020204030204"/>
              </a:rPr>
              <a:t> </a:t>
            </a:r>
            <a:r>
              <a:rPr sz="2000" spc="-15" dirty="0">
                <a:latin typeface="Calibri" panose="020F0502020204030204"/>
                <a:cs typeface="Calibri" panose="020F0502020204030204"/>
              </a:rPr>
              <a:t>may</a:t>
            </a:r>
            <a:r>
              <a:rPr sz="2000" spc="5" dirty="0">
                <a:latin typeface="Calibri" panose="020F0502020204030204"/>
                <a:cs typeface="Calibri" panose="020F0502020204030204"/>
              </a:rPr>
              <a:t> </a:t>
            </a:r>
            <a:r>
              <a:rPr sz="2000" spc="-10" dirty="0">
                <a:latin typeface="Calibri" panose="020F0502020204030204"/>
                <a:cs typeface="Calibri" panose="020F0502020204030204"/>
              </a:rPr>
              <a:t>require.</a:t>
            </a:r>
            <a:r>
              <a:rPr sz="2000" spc="5" dirty="0"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latin typeface="Calibri" panose="020F0502020204030204"/>
                <a:cs typeface="Calibri" panose="020F0502020204030204"/>
              </a:rPr>
              <a:t>But</a:t>
            </a:r>
            <a:r>
              <a:rPr sz="2000" spc="-5" dirty="0"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latin typeface="Calibri" panose="020F0502020204030204"/>
                <a:cs typeface="Calibri" panose="020F0502020204030204"/>
              </a:rPr>
              <a:t>this</a:t>
            </a:r>
            <a:r>
              <a:rPr sz="2000" spc="5" dirty="0">
                <a:latin typeface="Calibri" panose="020F0502020204030204"/>
                <a:cs typeface="Calibri" panose="020F0502020204030204"/>
              </a:rPr>
              <a:t> </a:t>
            </a:r>
            <a:r>
              <a:rPr sz="2000" spc="-15" dirty="0">
                <a:latin typeface="Calibri" panose="020F0502020204030204"/>
                <a:cs typeface="Calibri" panose="020F0502020204030204"/>
              </a:rPr>
              <a:t>data</a:t>
            </a:r>
            <a:r>
              <a:rPr sz="2000" spc="5" dirty="0">
                <a:latin typeface="Calibri" panose="020F0502020204030204"/>
                <a:cs typeface="Calibri" panose="020F0502020204030204"/>
              </a:rPr>
              <a:t> </a:t>
            </a:r>
            <a:r>
              <a:rPr sz="2000" spc="-15" dirty="0">
                <a:latin typeface="Calibri" panose="020F0502020204030204"/>
                <a:cs typeface="Calibri" panose="020F0502020204030204"/>
              </a:rPr>
              <a:t>may</a:t>
            </a:r>
            <a:r>
              <a:rPr sz="2000" spc="5" dirty="0">
                <a:latin typeface="Calibri" panose="020F0502020204030204"/>
                <a:cs typeface="Calibri" panose="020F0502020204030204"/>
              </a:rPr>
              <a:t> </a:t>
            </a:r>
            <a:r>
              <a:rPr sz="2000" spc="-5" dirty="0">
                <a:latin typeface="Calibri" panose="020F0502020204030204"/>
                <a:cs typeface="Calibri" panose="020F0502020204030204"/>
              </a:rPr>
              <a:t>not</a:t>
            </a:r>
            <a:r>
              <a:rPr sz="2000" spc="-10" dirty="0">
                <a:latin typeface="Calibri" panose="020F0502020204030204"/>
                <a:cs typeface="Calibri" panose="020F0502020204030204"/>
              </a:rPr>
              <a:t> </a:t>
            </a:r>
            <a:r>
              <a:rPr sz="2000" spc="-5" dirty="0">
                <a:latin typeface="Calibri" panose="020F0502020204030204"/>
                <a:cs typeface="Calibri" panose="020F0502020204030204"/>
              </a:rPr>
              <a:t>be </a:t>
            </a:r>
            <a:r>
              <a:rPr sz="2000" spc="-10" dirty="0">
                <a:latin typeface="Calibri" panose="020F0502020204030204"/>
                <a:cs typeface="Calibri" panose="020F0502020204030204"/>
              </a:rPr>
              <a:t>available</a:t>
            </a:r>
            <a:r>
              <a:rPr sz="2000" spc="25" dirty="0">
                <a:latin typeface="Calibri" panose="020F0502020204030204"/>
                <a:cs typeface="Calibri" panose="020F0502020204030204"/>
              </a:rPr>
              <a:t> </a:t>
            </a:r>
            <a:r>
              <a:rPr sz="2000" spc="-15" dirty="0">
                <a:latin typeface="Calibri" panose="020F0502020204030204"/>
                <a:cs typeface="Calibri" panose="020F0502020204030204"/>
              </a:rPr>
              <a:t>to</a:t>
            </a:r>
            <a:r>
              <a:rPr sz="2000" spc="-5" dirty="0">
                <a:latin typeface="Calibri" panose="020F0502020204030204"/>
                <a:cs typeface="Calibri" panose="020F0502020204030204"/>
              </a:rPr>
              <a:t> us.</a:t>
            </a:r>
            <a:r>
              <a:rPr sz="2000" spc="-10" dirty="0"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latin typeface="Calibri" panose="020F0502020204030204"/>
                <a:cs typeface="Calibri" panose="020F0502020204030204"/>
              </a:rPr>
              <a:t>It </a:t>
            </a:r>
            <a:r>
              <a:rPr sz="2000" spc="-434" dirty="0">
                <a:latin typeface="Calibri" panose="020F0502020204030204"/>
                <a:cs typeface="Calibri" panose="020F0502020204030204"/>
              </a:rPr>
              <a:t> </a:t>
            </a:r>
            <a:r>
              <a:rPr sz="2000" spc="-15" dirty="0">
                <a:latin typeface="Calibri" panose="020F0502020204030204"/>
                <a:cs typeface="Calibri" panose="020F0502020204030204"/>
              </a:rPr>
              <a:t>may</a:t>
            </a:r>
            <a:r>
              <a:rPr sz="2000" dirty="0">
                <a:latin typeface="Calibri" panose="020F0502020204030204"/>
                <a:cs typeface="Calibri" panose="020F0502020204030204"/>
              </a:rPr>
              <a:t> </a:t>
            </a:r>
            <a:r>
              <a:rPr sz="2000" spc="-5" dirty="0">
                <a:latin typeface="Calibri" panose="020F0502020204030204"/>
                <a:cs typeface="Calibri" panose="020F0502020204030204"/>
              </a:rPr>
              <a:t>not</a:t>
            </a:r>
            <a:r>
              <a:rPr sz="2000" spc="-10" dirty="0">
                <a:latin typeface="Calibri" panose="020F0502020204030204"/>
                <a:cs typeface="Calibri" panose="020F0502020204030204"/>
              </a:rPr>
              <a:t> </a:t>
            </a:r>
            <a:r>
              <a:rPr sz="2000" spc="-20" dirty="0">
                <a:latin typeface="Calibri" panose="020F0502020204030204"/>
                <a:cs typeface="Calibri" panose="020F0502020204030204"/>
              </a:rPr>
              <a:t>exist</a:t>
            </a:r>
            <a:r>
              <a:rPr sz="2000" spc="10" dirty="0">
                <a:latin typeface="Calibri" panose="020F0502020204030204"/>
                <a:cs typeface="Calibri" panose="020F0502020204030204"/>
              </a:rPr>
              <a:t> </a:t>
            </a:r>
            <a:r>
              <a:rPr sz="2000" spc="-5" dirty="0">
                <a:latin typeface="Calibri" panose="020F0502020204030204"/>
                <a:cs typeface="Calibri" panose="020F0502020204030204"/>
              </a:rPr>
              <a:t>or</a:t>
            </a:r>
            <a:r>
              <a:rPr sz="2000" dirty="0">
                <a:latin typeface="Calibri" panose="020F0502020204030204"/>
                <a:cs typeface="Calibri" panose="020F0502020204030204"/>
              </a:rPr>
              <a:t> </a:t>
            </a:r>
            <a:r>
              <a:rPr sz="2000" spc="-10" dirty="0">
                <a:latin typeface="Calibri" panose="020F0502020204030204"/>
                <a:cs typeface="Calibri" panose="020F0502020204030204"/>
              </a:rPr>
              <a:t>we</a:t>
            </a:r>
            <a:r>
              <a:rPr sz="2000" spc="-5" dirty="0">
                <a:latin typeface="Calibri" panose="020F0502020204030204"/>
                <a:cs typeface="Calibri" panose="020F0502020204030204"/>
              </a:rPr>
              <a:t> simply</a:t>
            </a:r>
            <a:r>
              <a:rPr sz="2000" spc="5" dirty="0">
                <a:latin typeface="Calibri" panose="020F0502020204030204"/>
                <a:cs typeface="Calibri" panose="020F0502020204030204"/>
              </a:rPr>
              <a:t> </a:t>
            </a:r>
            <a:r>
              <a:rPr sz="2000" spc="-15" dirty="0">
                <a:latin typeface="Calibri" panose="020F0502020204030204"/>
                <a:cs typeface="Calibri" panose="020F0502020204030204"/>
              </a:rPr>
              <a:t>may</a:t>
            </a:r>
            <a:r>
              <a:rPr sz="2000" spc="5" dirty="0">
                <a:latin typeface="Calibri" panose="020F0502020204030204"/>
                <a:cs typeface="Calibri" panose="020F0502020204030204"/>
              </a:rPr>
              <a:t> </a:t>
            </a:r>
            <a:r>
              <a:rPr sz="2000" spc="-5" dirty="0">
                <a:latin typeface="Calibri" panose="020F0502020204030204"/>
                <a:cs typeface="Calibri" panose="020F0502020204030204"/>
              </a:rPr>
              <a:t>not</a:t>
            </a:r>
            <a:r>
              <a:rPr sz="2000" spc="-10" dirty="0">
                <a:latin typeface="Calibri" panose="020F0502020204030204"/>
                <a:cs typeface="Calibri" panose="020F0502020204030204"/>
              </a:rPr>
              <a:t> </a:t>
            </a:r>
            <a:r>
              <a:rPr sz="2000" spc="-20" dirty="0">
                <a:latin typeface="Calibri" panose="020F0502020204030204"/>
                <a:cs typeface="Calibri" panose="020F0502020204030204"/>
              </a:rPr>
              <a:t>have</a:t>
            </a:r>
            <a:r>
              <a:rPr sz="2000" dirty="0">
                <a:latin typeface="Calibri" panose="020F0502020204030204"/>
                <a:cs typeface="Calibri" panose="020F0502020204030204"/>
              </a:rPr>
              <a:t> access</a:t>
            </a:r>
            <a:r>
              <a:rPr sz="2000" spc="10" dirty="0">
                <a:latin typeface="Calibri" panose="020F0502020204030204"/>
                <a:cs typeface="Calibri" panose="020F0502020204030204"/>
              </a:rPr>
              <a:t> </a:t>
            </a:r>
            <a:r>
              <a:rPr sz="2000" spc="-15" dirty="0">
                <a:latin typeface="Calibri" panose="020F0502020204030204"/>
                <a:cs typeface="Calibri" panose="020F0502020204030204"/>
              </a:rPr>
              <a:t>to</a:t>
            </a:r>
            <a:r>
              <a:rPr sz="2000" spc="-5" dirty="0"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latin typeface="Calibri" panose="020F0502020204030204"/>
                <a:cs typeface="Calibri" panose="020F0502020204030204"/>
              </a:rPr>
              <a:t>it. </a:t>
            </a:r>
            <a:r>
              <a:rPr sz="2000" spc="-25" dirty="0">
                <a:latin typeface="Calibri" panose="020F0502020204030204"/>
                <a:cs typeface="Calibri" panose="020F0502020204030204"/>
              </a:rPr>
              <a:t>Further,</a:t>
            </a:r>
            <a:r>
              <a:rPr sz="2000" spc="10" dirty="0"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latin typeface="Calibri" panose="020F0502020204030204"/>
                <a:cs typeface="Calibri" panose="020F0502020204030204"/>
              </a:rPr>
              <a:t>the </a:t>
            </a:r>
            <a:r>
              <a:rPr sz="2000" spc="5" dirty="0">
                <a:latin typeface="Calibri" panose="020F0502020204030204"/>
                <a:cs typeface="Calibri" panose="020F0502020204030204"/>
              </a:rPr>
              <a:t> </a:t>
            </a:r>
            <a:r>
              <a:rPr sz="2000" spc="-15" dirty="0">
                <a:latin typeface="Calibri" panose="020F0502020204030204"/>
                <a:cs typeface="Calibri" panose="020F0502020204030204"/>
              </a:rPr>
              <a:t>data</a:t>
            </a:r>
            <a:r>
              <a:rPr sz="2000" spc="-5" dirty="0">
                <a:latin typeface="Calibri" panose="020F0502020204030204"/>
                <a:cs typeface="Calibri" panose="020F0502020204030204"/>
              </a:rPr>
              <a:t> collected</a:t>
            </a:r>
            <a:r>
              <a:rPr sz="2000" dirty="0">
                <a:latin typeface="Calibri" panose="020F0502020204030204"/>
                <a:cs typeface="Calibri" panose="020F0502020204030204"/>
              </a:rPr>
              <a:t> </a:t>
            </a:r>
            <a:r>
              <a:rPr sz="2000" spc="-5" dirty="0">
                <a:latin typeface="Calibri" panose="020F0502020204030204"/>
                <a:cs typeface="Calibri" panose="020F0502020204030204"/>
              </a:rPr>
              <a:t>might</a:t>
            </a:r>
            <a:r>
              <a:rPr sz="2000" dirty="0">
                <a:latin typeface="Calibri" panose="020F0502020204030204"/>
                <a:cs typeface="Calibri" panose="020F0502020204030204"/>
              </a:rPr>
              <a:t> </a:t>
            </a:r>
            <a:r>
              <a:rPr sz="2000" spc="-5" dirty="0">
                <a:latin typeface="Calibri" panose="020F0502020204030204"/>
                <a:cs typeface="Calibri" panose="020F0502020204030204"/>
              </a:rPr>
              <a:t>not </a:t>
            </a:r>
            <a:r>
              <a:rPr sz="2000" dirty="0">
                <a:latin typeface="Calibri" panose="020F0502020204030204"/>
                <a:cs typeface="Calibri" panose="020F0502020204030204"/>
              </a:rPr>
              <a:t>be</a:t>
            </a:r>
            <a:r>
              <a:rPr sz="2000" spc="-20" dirty="0">
                <a:latin typeface="Calibri" panose="020F0502020204030204"/>
                <a:cs typeface="Calibri" panose="020F0502020204030204"/>
              </a:rPr>
              <a:t> </a:t>
            </a:r>
            <a:r>
              <a:rPr sz="2000" spc="-5" dirty="0">
                <a:latin typeface="Calibri" panose="020F0502020204030204"/>
                <a:cs typeface="Calibri" panose="020F0502020204030204"/>
              </a:rPr>
              <a:t>reliable.</a:t>
            </a:r>
            <a:r>
              <a:rPr sz="2000" dirty="0">
                <a:latin typeface="Calibri" panose="020F0502020204030204"/>
                <a:cs typeface="Calibri" panose="020F0502020204030204"/>
              </a:rPr>
              <a:t> It </a:t>
            </a:r>
            <a:r>
              <a:rPr sz="2000" spc="-15" dirty="0">
                <a:latin typeface="Calibri" panose="020F0502020204030204"/>
                <a:cs typeface="Calibri" panose="020F0502020204030204"/>
              </a:rPr>
              <a:t>may</a:t>
            </a:r>
            <a:r>
              <a:rPr sz="2000" spc="-5" dirty="0">
                <a:latin typeface="Calibri" panose="020F0502020204030204"/>
                <a:cs typeface="Calibri" panose="020F0502020204030204"/>
              </a:rPr>
              <a:t> </a:t>
            </a:r>
            <a:r>
              <a:rPr sz="2000" spc="-15" dirty="0">
                <a:latin typeface="Calibri" panose="020F0502020204030204"/>
                <a:cs typeface="Calibri" panose="020F0502020204030204"/>
              </a:rPr>
              <a:t>have</a:t>
            </a:r>
            <a:r>
              <a:rPr sz="2000" dirty="0">
                <a:latin typeface="Calibri" panose="020F0502020204030204"/>
                <a:cs typeface="Calibri" panose="020F0502020204030204"/>
              </a:rPr>
              <a:t> </a:t>
            </a:r>
            <a:r>
              <a:rPr sz="2000" spc="-10" dirty="0">
                <a:latin typeface="Calibri" panose="020F0502020204030204"/>
                <a:cs typeface="Calibri" panose="020F0502020204030204"/>
              </a:rPr>
              <a:t>false</a:t>
            </a:r>
            <a:r>
              <a:rPr sz="2000" spc="5" dirty="0"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latin typeface="Calibri" panose="020F0502020204030204"/>
                <a:cs typeface="Calibri" panose="020F0502020204030204"/>
              </a:rPr>
              <a:t>or</a:t>
            </a:r>
            <a:r>
              <a:rPr sz="2000" spc="-25" dirty="0">
                <a:latin typeface="Calibri" panose="020F0502020204030204"/>
                <a:cs typeface="Calibri" panose="020F0502020204030204"/>
              </a:rPr>
              <a:t> </a:t>
            </a:r>
            <a:r>
              <a:rPr sz="2000" spc="-5" dirty="0">
                <a:latin typeface="Calibri" panose="020F0502020204030204"/>
                <a:cs typeface="Calibri" panose="020F0502020204030204"/>
              </a:rPr>
              <a:t>missing </a:t>
            </a:r>
            <a:r>
              <a:rPr sz="2000" dirty="0">
                <a:latin typeface="Calibri" panose="020F0502020204030204"/>
                <a:cs typeface="Calibri" panose="020F0502020204030204"/>
              </a:rPr>
              <a:t> </a:t>
            </a:r>
            <a:r>
              <a:rPr sz="2000" spc="-5" dirty="0">
                <a:latin typeface="Calibri" panose="020F0502020204030204"/>
                <a:cs typeface="Calibri" panose="020F0502020204030204"/>
              </a:rPr>
              <a:t>values</a:t>
            </a:r>
            <a:r>
              <a:rPr sz="2000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sz="2000" spc="-5" dirty="0">
                <a:latin typeface="Calibri" panose="020F0502020204030204"/>
                <a:cs typeface="Calibri" panose="020F0502020204030204"/>
              </a:rPr>
              <a:t>or </a:t>
            </a:r>
            <a:r>
              <a:rPr sz="2000" dirty="0">
                <a:latin typeface="Calibri" panose="020F0502020204030204"/>
                <a:cs typeface="Calibri" panose="020F0502020204030204"/>
              </a:rPr>
              <a:t>it </a:t>
            </a:r>
            <a:r>
              <a:rPr sz="2000" spc="-5" dirty="0">
                <a:latin typeface="Calibri" panose="020F0502020204030204"/>
                <a:cs typeface="Calibri" panose="020F0502020204030204"/>
              </a:rPr>
              <a:t>might</a:t>
            </a:r>
            <a:r>
              <a:rPr sz="2000" dirty="0">
                <a:latin typeface="Calibri" panose="020F0502020204030204"/>
                <a:cs typeface="Calibri" panose="020F0502020204030204"/>
              </a:rPr>
              <a:t> be</a:t>
            </a:r>
            <a:r>
              <a:rPr sz="2000" spc="-10" dirty="0">
                <a:latin typeface="Calibri" panose="020F0502020204030204"/>
                <a:cs typeface="Calibri" panose="020F0502020204030204"/>
              </a:rPr>
              <a:t> outdated.</a:t>
            </a:r>
            <a:endParaRPr sz="2000">
              <a:latin typeface="Calibri" panose="020F0502020204030204"/>
              <a:cs typeface="Calibri" panose="020F0502020204030204"/>
            </a:endParaRPr>
          </a:p>
          <a:p>
            <a:pPr marL="299085" marR="5080" indent="-287020" algn="just">
              <a:lnSpc>
                <a:spcPct val="100000"/>
              </a:lnSpc>
              <a:buFont typeface="Arial MT"/>
              <a:buChar char="•"/>
              <a:tabLst>
                <a:tab pos="299085" algn="l"/>
                <a:tab pos="299720" algn="l"/>
              </a:tabLst>
            </a:pPr>
            <a:r>
              <a:rPr sz="2000" spc="-10" dirty="0">
                <a:solidFill>
                  <a:srgbClr val="00AF50"/>
                </a:solidFill>
                <a:latin typeface="Calibri" panose="020F0502020204030204"/>
                <a:cs typeface="Calibri" panose="020F0502020204030204"/>
              </a:rPr>
              <a:t>Also,</a:t>
            </a:r>
            <a:r>
              <a:rPr sz="2000" spc="5" dirty="0">
                <a:solidFill>
                  <a:srgbClr val="00AF5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AF50"/>
                </a:solidFill>
                <a:latin typeface="Calibri" panose="020F0502020204030204"/>
                <a:cs typeface="Calibri" panose="020F0502020204030204"/>
              </a:rPr>
              <a:t>learning</a:t>
            </a:r>
            <a:r>
              <a:rPr sz="2000" spc="5" dirty="0">
                <a:solidFill>
                  <a:srgbClr val="00AF5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spc="-15" dirty="0">
                <a:solidFill>
                  <a:srgbClr val="00AF50"/>
                </a:solidFill>
                <a:latin typeface="Calibri" panose="020F0502020204030204"/>
                <a:cs typeface="Calibri" panose="020F0502020204030204"/>
              </a:rPr>
              <a:t>from</a:t>
            </a:r>
            <a:r>
              <a:rPr sz="2000" dirty="0">
                <a:solidFill>
                  <a:srgbClr val="00AF50"/>
                </a:solidFill>
                <a:latin typeface="Calibri" panose="020F0502020204030204"/>
                <a:cs typeface="Calibri" panose="020F0502020204030204"/>
              </a:rPr>
              <a:t> a</a:t>
            </a:r>
            <a:r>
              <a:rPr sz="2000" spc="5" dirty="0">
                <a:solidFill>
                  <a:srgbClr val="00AF5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spc="-5" dirty="0">
                <a:solidFill>
                  <a:srgbClr val="00AF50"/>
                </a:solidFill>
                <a:latin typeface="Calibri" panose="020F0502020204030204"/>
                <a:cs typeface="Calibri" panose="020F0502020204030204"/>
              </a:rPr>
              <a:t>small</a:t>
            </a:r>
            <a:r>
              <a:rPr sz="2000" spc="15" dirty="0">
                <a:solidFill>
                  <a:srgbClr val="00AF5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spc="-10" dirty="0">
                <a:solidFill>
                  <a:srgbClr val="00AF50"/>
                </a:solidFill>
                <a:latin typeface="Calibri" panose="020F0502020204030204"/>
                <a:cs typeface="Calibri" panose="020F0502020204030204"/>
              </a:rPr>
              <a:t>subset</a:t>
            </a:r>
            <a:r>
              <a:rPr sz="2000" spc="5" dirty="0">
                <a:solidFill>
                  <a:srgbClr val="00AF5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spc="-5" dirty="0">
                <a:solidFill>
                  <a:srgbClr val="00AF50"/>
                </a:solidFill>
                <a:latin typeface="Calibri" panose="020F0502020204030204"/>
                <a:cs typeface="Calibri" panose="020F0502020204030204"/>
              </a:rPr>
              <a:t>of</a:t>
            </a:r>
            <a:r>
              <a:rPr sz="2000" dirty="0">
                <a:solidFill>
                  <a:srgbClr val="00AF50"/>
                </a:solidFill>
                <a:latin typeface="Calibri" panose="020F0502020204030204"/>
                <a:cs typeface="Calibri" panose="020F0502020204030204"/>
              </a:rPr>
              <a:t> actions</a:t>
            </a:r>
            <a:r>
              <a:rPr sz="2000" spc="5" dirty="0">
                <a:solidFill>
                  <a:srgbClr val="00AF5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spc="-5" dirty="0">
                <a:solidFill>
                  <a:srgbClr val="00AF50"/>
                </a:solidFill>
                <a:latin typeface="Calibri" panose="020F0502020204030204"/>
                <a:cs typeface="Calibri" panose="020F0502020204030204"/>
              </a:rPr>
              <a:t>will</a:t>
            </a:r>
            <a:r>
              <a:rPr sz="2000" spc="5" dirty="0">
                <a:solidFill>
                  <a:srgbClr val="00AF5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spc="-5" dirty="0">
                <a:solidFill>
                  <a:srgbClr val="00AF50"/>
                </a:solidFill>
                <a:latin typeface="Calibri" panose="020F0502020204030204"/>
                <a:cs typeface="Calibri" panose="020F0502020204030204"/>
              </a:rPr>
              <a:t>not</a:t>
            </a:r>
            <a:r>
              <a:rPr sz="2000" dirty="0">
                <a:solidFill>
                  <a:srgbClr val="00AF5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spc="-5" dirty="0">
                <a:solidFill>
                  <a:srgbClr val="00AF50"/>
                </a:solidFill>
                <a:latin typeface="Calibri" panose="020F0502020204030204"/>
                <a:cs typeface="Calibri" panose="020F0502020204030204"/>
              </a:rPr>
              <a:t>help</a:t>
            </a:r>
            <a:r>
              <a:rPr sz="2000" dirty="0">
                <a:solidFill>
                  <a:srgbClr val="00AF5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spc="-10" dirty="0">
                <a:solidFill>
                  <a:srgbClr val="00AF50"/>
                </a:solidFill>
                <a:latin typeface="Calibri" panose="020F0502020204030204"/>
                <a:cs typeface="Calibri" panose="020F0502020204030204"/>
              </a:rPr>
              <a:t>expand</a:t>
            </a:r>
            <a:r>
              <a:rPr sz="2000" dirty="0">
                <a:solidFill>
                  <a:srgbClr val="00AF50"/>
                </a:solidFill>
                <a:latin typeface="Calibri" panose="020F0502020204030204"/>
                <a:cs typeface="Calibri" panose="020F0502020204030204"/>
              </a:rPr>
              <a:t> the </a:t>
            </a:r>
            <a:r>
              <a:rPr sz="2000" spc="5" dirty="0">
                <a:solidFill>
                  <a:srgbClr val="00AF5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spc="-15" dirty="0">
                <a:solidFill>
                  <a:srgbClr val="00AF50"/>
                </a:solidFill>
                <a:latin typeface="Calibri" panose="020F0502020204030204"/>
                <a:cs typeface="Calibri" panose="020F0502020204030204"/>
              </a:rPr>
              <a:t>vast</a:t>
            </a:r>
            <a:r>
              <a:rPr sz="2000" dirty="0">
                <a:solidFill>
                  <a:srgbClr val="00AF5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spc="-10" dirty="0">
                <a:solidFill>
                  <a:srgbClr val="00AF50"/>
                </a:solidFill>
                <a:latin typeface="Calibri" panose="020F0502020204030204"/>
                <a:cs typeface="Calibri" panose="020F0502020204030204"/>
              </a:rPr>
              <a:t>realm</a:t>
            </a:r>
            <a:r>
              <a:rPr sz="2000" spc="10" dirty="0">
                <a:solidFill>
                  <a:srgbClr val="00AF5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spc="-5" dirty="0">
                <a:solidFill>
                  <a:srgbClr val="00AF50"/>
                </a:solidFill>
                <a:latin typeface="Calibri" panose="020F0502020204030204"/>
                <a:cs typeface="Calibri" panose="020F0502020204030204"/>
              </a:rPr>
              <a:t>of</a:t>
            </a:r>
            <a:r>
              <a:rPr sz="2000" spc="-10" dirty="0">
                <a:solidFill>
                  <a:srgbClr val="00AF5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spc="-5" dirty="0">
                <a:solidFill>
                  <a:srgbClr val="00AF50"/>
                </a:solidFill>
                <a:latin typeface="Calibri" panose="020F0502020204030204"/>
                <a:cs typeface="Calibri" panose="020F0502020204030204"/>
              </a:rPr>
              <a:t>solutions</a:t>
            </a:r>
            <a:r>
              <a:rPr sz="2000" dirty="0">
                <a:solidFill>
                  <a:srgbClr val="00AF5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spc="-5" dirty="0">
                <a:solidFill>
                  <a:srgbClr val="00AF50"/>
                </a:solidFill>
                <a:latin typeface="Calibri" panose="020F0502020204030204"/>
                <a:cs typeface="Calibri" panose="020F0502020204030204"/>
              </a:rPr>
              <a:t>that</a:t>
            </a:r>
            <a:r>
              <a:rPr sz="2000" spc="10" dirty="0">
                <a:solidFill>
                  <a:srgbClr val="00AF5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spc="-15" dirty="0">
                <a:solidFill>
                  <a:srgbClr val="00AF50"/>
                </a:solidFill>
                <a:latin typeface="Calibri" panose="020F0502020204030204"/>
                <a:cs typeface="Calibri" panose="020F0502020204030204"/>
              </a:rPr>
              <a:t>may</a:t>
            </a:r>
            <a:r>
              <a:rPr sz="2000" spc="5" dirty="0">
                <a:solidFill>
                  <a:srgbClr val="00AF5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spc="-10" dirty="0">
                <a:solidFill>
                  <a:srgbClr val="00AF50"/>
                </a:solidFill>
                <a:latin typeface="Calibri" panose="020F0502020204030204"/>
                <a:cs typeface="Calibri" panose="020F0502020204030204"/>
              </a:rPr>
              <a:t>work</a:t>
            </a:r>
            <a:r>
              <a:rPr sz="2000" spc="-15" dirty="0">
                <a:solidFill>
                  <a:srgbClr val="00AF50"/>
                </a:solidFill>
                <a:latin typeface="Calibri" panose="020F0502020204030204"/>
                <a:cs typeface="Calibri" panose="020F0502020204030204"/>
              </a:rPr>
              <a:t> for</a:t>
            </a:r>
            <a:r>
              <a:rPr sz="2000" spc="-10" dirty="0">
                <a:solidFill>
                  <a:srgbClr val="00AF5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AF50"/>
                </a:solidFill>
                <a:latin typeface="Calibri" panose="020F0502020204030204"/>
                <a:cs typeface="Calibri" panose="020F0502020204030204"/>
              </a:rPr>
              <a:t>a particular</a:t>
            </a:r>
            <a:r>
              <a:rPr sz="2000" spc="-5" dirty="0">
                <a:solidFill>
                  <a:srgbClr val="00AF5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spc="-10" dirty="0">
                <a:solidFill>
                  <a:srgbClr val="00AF50"/>
                </a:solidFill>
                <a:latin typeface="Calibri" panose="020F0502020204030204"/>
                <a:cs typeface="Calibri" panose="020F0502020204030204"/>
              </a:rPr>
              <a:t>problem.</a:t>
            </a:r>
            <a:r>
              <a:rPr sz="2000" spc="-5" dirty="0">
                <a:solidFill>
                  <a:srgbClr val="00AF50"/>
                </a:solidFill>
                <a:latin typeface="Calibri" panose="020F0502020204030204"/>
                <a:cs typeface="Calibri" panose="020F0502020204030204"/>
              </a:rPr>
              <a:t> This </a:t>
            </a:r>
            <a:r>
              <a:rPr sz="2000" dirty="0">
                <a:solidFill>
                  <a:srgbClr val="00AF50"/>
                </a:solidFill>
                <a:latin typeface="Calibri" panose="020F0502020204030204"/>
                <a:cs typeface="Calibri" panose="020F0502020204030204"/>
              </a:rPr>
              <a:t>is </a:t>
            </a:r>
            <a:r>
              <a:rPr sz="2000" spc="-440" dirty="0">
                <a:solidFill>
                  <a:srgbClr val="00AF5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spc="-5" dirty="0">
                <a:solidFill>
                  <a:srgbClr val="00AF50"/>
                </a:solidFill>
                <a:latin typeface="Calibri" panose="020F0502020204030204"/>
                <a:cs typeface="Calibri" panose="020F0502020204030204"/>
              </a:rPr>
              <a:t>going</a:t>
            </a:r>
            <a:r>
              <a:rPr sz="2000" spc="-35" dirty="0">
                <a:solidFill>
                  <a:srgbClr val="00AF5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spc="-15" dirty="0">
                <a:solidFill>
                  <a:srgbClr val="00AF50"/>
                </a:solidFill>
                <a:latin typeface="Calibri" panose="020F0502020204030204"/>
                <a:cs typeface="Calibri" panose="020F0502020204030204"/>
              </a:rPr>
              <a:t>to</a:t>
            </a:r>
            <a:r>
              <a:rPr sz="2000" dirty="0">
                <a:solidFill>
                  <a:srgbClr val="00AF5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spc="-10" dirty="0">
                <a:solidFill>
                  <a:srgbClr val="00AF50"/>
                </a:solidFill>
                <a:latin typeface="Calibri" panose="020F0502020204030204"/>
                <a:cs typeface="Calibri" panose="020F0502020204030204"/>
              </a:rPr>
              <a:t>slow</a:t>
            </a:r>
            <a:r>
              <a:rPr sz="2000" dirty="0">
                <a:solidFill>
                  <a:srgbClr val="00AF50"/>
                </a:solidFill>
                <a:latin typeface="Calibri" panose="020F0502020204030204"/>
                <a:cs typeface="Calibri" panose="020F0502020204030204"/>
              </a:rPr>
              <a:t> the</a:t>
            </a:r>
            <a:r>
              <a:rPr sz="2000" spc="5" dirty="0">
                <a:solidFill>
                  <a:srgbClr val="00AF5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spc="-10" dirty="0">
                <a:solidFill>
                  <a:srgbClr val="00AF50"/>
                </a:solidFill>
                <a:latin typeface="Calibri" panose="020F0502020204030204"/>
                <a:cs typeface="Calibri" panose="020F0502020204030204"/>
              </a:rPr>
              <a:t>growth </a:t>
            </a:r>
            <a:r>
              <a:rPr sz="2000" spc="-5" dirty="0">
                <a:solidFill>
                  <a:srgbClr val="00AF50"/>
                </a:solidFill>
                <a:latin typeface="Calibri" panose="020F0502020204030204"/>
                <a:cs typeface="Calibri" panose="020F0502020204030204"/>
              </a:rPr>
              <a:t>that</a:t>
            </a:r>
            <a:r>
              <a:rPr sz="2000" spc="5" dirty="0">
                <a:solidFill>
                  <a:srgbClr val="00AF5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spc="-5" dirty="0">
                <a:solidFill>
                  <a:srgbClr val="00AF50"/>
                </a:solidFill>
                <a:latin typeface="Calibri" panose="020F0502020204030204"/>
                <a:cs typeface="Calibri" panose="020F0502020204030204"/>
              </a:rPr>
              <a:t>technology</a:t>
            </a:r>
            <a:r>
              <a:rPr sz="2000" spc="-30" dirty="0">
                <a:solidFill>
                  <a:srgbClr val="00AF5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AF50"/>
                </a:solidFill>
                <a:latin typeface="Calibri" panose="020F0502020204030204"/>
                <a:cs typeface="Calibri" panose="020F0502020204030204"/>
              </a:rPr>
              <a:t>is</a:t>
            </a:r>
            <a:r>
              <a:rPr sz="2000" spc="-5" dirty="0">
                <a:solidFill>
                  <a:srgbClr val="00AF5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AF50"/>
                </a:solidFill>
                <a:latin typeface="Calibri" panose="020F0502020204030204"/>
                <a:cs typeface="Calibri" panose="020F0502020204030204"/>
              </a:rPr>
              <a:t>capable</a:t>
            </a:r>
            <a:r>
              <a:rPr sz="2000" spc="-10" dirty="0">
                <a:solidFill>
                  <a:srgbClr val="00AF5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spc="-50" dirty="0">
                <a:solidFill>
                  <a:srgbClr val="00AF50"/>
                </a:solidFill>
                <a:latin typeface="Calibri" panose="020F0502020204030204"/>
                <a:cs typeface="Calibri" panose="020F0502020204030204"/>
              </a:rPr>
              <a:t>of.</a:t>
            </a:r>
            <a:r>
              <a:rPr sz="2000" spc="-15" dirty="0">
                <a:solidFill>
                  <a:srgbClr val="00AF5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spc="-5" dirty="0">
                <a:solidFill>
                  <a:srgbClr val="00AF50"/>
                </a:solidFill>
                <a:latin typeface="Calibri" panose="020F0502020204030204"/>
                <a:cs typeface="Calibri" panose="020F0502020204030204"/>
              </a:rPr>
              <a:t>Machines </a:t>
            </a:r>
            <a:r>
              <a:rPr sz="2000" dirty="0">
                <a:solidFill>
                  <a:srgbClr val="00AF5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spc="-5" dirty="0">
                <a:solidFill>
                  <a:srgbClr val="00AF50"/>
                </a:solidFill>
                <a:latin typeface="Calibri" panose="020F0502020204030204"/>
                <a:cs typeface="Calibri" panose="020F0502020204030204"/>
              </a:rPr>
              <a:t>need</a:t>
            </a:r>
            <a:r>
              <a:rPr sz="2000" spc="-15" dirty="0">
                <a:solidFill>
                  <a:srgbClr val="00AF5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spc="-10" dirty="0">
                <a:solidFill>
                  <a:srgbClr val="00AF50"/>
                </a:solidFill>
                <a:latin typeface="Calibri" panose="020F0502020204030204"/>
                <a:cs typeface="Calibri" panose="020F0502020204030204"/>
              </a:rPr>
              <a:t>to</a:t>
            </a:r>
            <a:r>
              <a:rPr sz="2000" spc="-5" dirty="0">
                <a:solidFill>
                  <a:srgbClr val="00AF5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AF50"/>
                </a:solidFill>
                <a:latin typeface="Calibri" panose="020F0502020204030204"/>
                <a:cs typeface="Calibri" panose="020F0502020204030204"/>
              </a:rPr>
              <a:t>learn </a:t>
            </a:r>
            <a:r>
              <a:rPr sz="2000" spc="-10" dirty="0">
                <a:solidFill>
                  <a:srgbClr val="00AF50"/>
                </a:solidFill>
                <a:latin typeface="Calibri" panose="020F0502020204030204"/>
                <a:cs typeface="Calibri" panose="020F0502020204030204"/>
              </a:rPr>
              <a:t>to</a:t>
            </a:r>
            <a:r>
              <a:rPr sz="2000" spc="-5" dirty="0">
                <a:solidFill>
                  <a:srgbClr val="00AF5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spc="-10" dirty="0">
                <a:solidFill>
                  <a:srgbClr val="00AF50"/>
                </a:solidFill>
                <a:latin typeface="Calibri" panose="020F0502020204030204"/>
                <a:cs typeface="Calibri" panose="020F0502020204030204"/>
              </a:rPr>
              <a:t>perform</a:t>
            </a:r>
            <a:r>
              <a:rPr sz="2000" spc="-20" dirty="0">
                <a:solidFill>
                  <a:srgbClr val="00AF5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AF50"/>
                </a:solidFill>
                <a:latin typeface="Calibri" panose="020F0502020204030204"/>
                <a:cs typeface="Calibri" panose="020F0502020204030204"/>
              </a:rPr>
              <a:t>actions</a:t>
            </a:r>
            <a:r>
              <a:rPr sz="2000" spc="-5" dirty="0">
                <a:solidFill>
                  <a:srgbClr val="00AF50"/>
                </a:solidFill>
                <a:latin typeface="Calibri" panose="020F0502020204030204"/>
                <a:cs typeface="Calibri" panose="020F0502020204030204"/>
              </a:rPr>
              <a:t> by</a:t>
            </a:r>
            <a:r>
              <a:rPr sz="2000" spc="-20" dirty="0">
                <a:solidFill>
                  <a:srgbClr val="00AF5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spc="-5" dirty="0">
                <a:solidFill>
                  <a:srgbClr val="00AF50"/>
                </a:solidFill>
                <a:latin typeface="Calibri" panose="020F0502020204030204"/>
                <a:cs typeface="Calibri" panose="020F0502020204030204"/>
              </a:rPr>
              <a:t>themselves</a:t>
            </a:r>
            <a:r>
              <a:rPr sz="2000" spc="30" dirty="0">
                <a:solidFill>
                  <a:srgbClr val="00AF5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AF50"/>
                </a:solidFill>
                <a:latin typeface="Calibri" panose="020F0502020204030204"/>
                <a:cs typeface="Calibri" panose="020F0502020204030204"/>
              </a:rPr>
              <a:t>and</a:t>
            </a:r>
            <a:r>
              <a:rPr sz="2000" spc="5" dirty="0">
                <a:solidFill>
                  <a:srgbClr val="00AF5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spc="-5" dirty="0">
                <a:solidFill>
                  <a:srgbClr val="00AF50"/>
                </a:solidFill>
                <a:latin typeface="Calibri" panose="020F0502020204030204"/>
                <a:cs typeface="Calibri" panose="020F0502020204030204"/>
              </a:rPr>
              <a:t>not</a:t>
            </a:r>
            <a:r>
              <a:rPr sz="2000" spc="-15" dirty="0">
                <a:solidFill>
                  <a:srgbClr val="00AF5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spc="-10" dirty="0">
                <a:solidFill>
                  <a:srgbClr val="00AF50"/>
                </a:solidFill>
                <a:latin typeface="Calibri" panose="020F0502020204030204"/>
                <a:cs typeface="Calibri" panose="020F0502020204030204"/>
              </a:rPr>
              <a:t>just </a:t>
            </a:r>
            <a:r>
              <a:rPr sz="2000" dirty="0">
                <a:solidFill>
                  <a:srgbClr val="00AF50"/>
                </a:solidFill>
                <a:latin typeface="Calibri" panose="020F0502020204030204"/>
                <a:cs typeface="Calibri" panose="020F0502020204030204"/>
              </a:rPr>
              <a:t>learn </a:t>
            </a:r>
            <a:r>
              <a:rPr sz="2000" spc="5" dirty="0">
                <a:solidFill>
                  <a:srgbClr val="00AF5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spc="-15" dirty="0">
                <a:solidFill>
                  <a:srgbClr val="00AF50"/>
                </a:solidFill>
                <a:latin typeface="Calibri" panose="020F0502020204030204"/>
                <a:cs typeface="Calibri" panose="020F0502020204030204"/>
              </a:rPr>
              <a:t>from</a:t>
            </a:r>
            <a:r>
              <a:rPr sz="2000" spc="-10" dirty="0">
                <a:solidFill>
                  <a:srgbClr val="00AF5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spc="-5" dirty="0">
                <a:solidFill>
                  <a:srgbClr val="00AF50"/>
                </a:solidFill>
                <a:latin typeface="Calibri" panose="020F0502020204030204"/>
                <a:cs typeface="Calibri" panose="020F0502020204030204"/>
              </a:rPr>
              <a:t>humans.</a:t>
            </a:r>
            <a:endParaRPr sz="2000">
              <a:latin typeface="Calibri" panose="020F0502020204030204"/>
              <a:cs typeface="Calibri" panose="020F0502020204030204"/>
            </a:endParaRPr>
          </a:p>
          <a:p>
            <a:pPr marL="299085" marR="369570" indent="-287020" algn="just">
              <a:lnSpc>
                <a:spcPct val="100000"/>
              </a:lnSpc>
              <a:spcBef>
                <a:spcPts val="5"/>
              </a:spcBef>
              <a:buFont typeface="Arial MT"/>
              <a:buChar char="•"/>
              <a:tabLst>
                <a:tab pos="299085" algn="l"/>
                <a:tab pos="299720" algn="l"/>
              </a:tabLst>
            </a:pPr>
            <a:r>
              <a:rPr sz="2000" dirty="0">
                <a:latin typeface="Calibri" panose="020F0502020204030204"/>
                <a:cs typeface="Calibri" panose="020F0502020204030204"/>
              </a:rPr>
              <a:t>All</a:t>
            </a:r>
            <a:r>
              <a:rPr sz="2000" spc="-5" dirty="0">
                <a:latin typeface="Calibri" panose="020F0502020204030204"/>
                <a:cs typeface="Calibri" panose="020F0502020204030204"/>
              </a:rPr>
              <a:t> of these</a:t>
            </a:r>
            <a:r>
              <a:rPr sz="2000" spc="10" dirty="0">
                <a:latin typeface="Calibri" panose="020F0502020204030204"/>
                <a:cs typeface="Calibri" panose="020F0502020204030204"/>
              </a:rPr>
              <a:t> </a:t>
            </a:r>
            <a:r>
              <a:rPr sz="2000" spc="-10" dirty="0">
                <a:latin typeface="Calibri" panose="020F0502020204030204"/>
                <a:cs typeface="Calibri" panose="020F0502020204030204"/>
              </a:rPr>
              <a:t>problems</a:t>
            </a:r>
            <a:r>
              <a:rPr sz="2000" spc="15" dirty="0">
                <a:latin typeface="Calibri" panose="020F0502020204030204"/>
                <a:cs typeface="Calibri" panose="020F0502020204030204"/>
              </a:rPr>
              <a:t> </a:t>
            </a:r>
            <a:r>
              <a:rPr sz="2000" spc="-10" dirty="0">
                <a:latin typeface="Calibri" panose="020F0502020204030204"/>
                <a:cs typeface="Calibri" panose="020F0502020204030204"/>
              </a:rPr>
              <a:t>are</a:t>
            </a:r>
            <a:r>
              <a:rPr sz="2000" dirty="0">
                <a:latin typeface="Calibri" panose="020F0502020204030204"/>
                <a:cs typeface="Calibri" panose="020F0502020204030204"/>
              </a:rPr>
              <a:t> </a:t>
            </a:r>
            <a:r>
              <a:rPr sz="2000" spc="-10" dirty="0">
                <a:latin typeface="Calibri" panose="020F0502020204030204"/>
                <a:cs typeface="Calibri" panose="020F0502020204030204"/>
              </a:rPr>
              <a:t>overcome</a:t>
            </a:r>
            <a:r>
              <a:rPr sz="2000" spc="-20" dirty="0">
                <a:latin typeface="Calibri" panose="020F0502020204030204"/>
                <a:cs typeface="Calibri" panose="020F0502020204030204"/>
              </a:rPr>
              <a:t> </a:t>
            </a:r>
            <a:r>
              <a:rPr sz="2000" spc="-5" dirty="0">
                <a:latin typeface="Calibri" panose="020F0502020204030204"/>
                <a:cs typeface="Calibri" panose="020F0502020204030204"/>
              </a:rPr>
              <a:t>by</a:t>
            </a:r>
            <a:r>
              <a:rPr sz="2000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sz="2000" spc="-10" dirty="0">
                <a:latin typeface="Calibri" panose="020F0502020204030204"/>
                <a:cs typeface="Calibri" panose="020F0502020204030204"/>
              </a:rPr>
              <a:t>reinforcement</a:t>
            </a:r>
            <a:r>
              <a:rPr sz="2000" spc="5" dirty="0">
                <a:latin typeface="Calibri" panose="020F0502020204030204"/>
                <a:cs typeface="Calibri" panose="020F0502020204030204"/>
              </a:rPr>
              <a:t> </a:t>
            </a:r>
            <a:r>
              <a:rPr sz="2000" spc="-5" dirty="0">
                <a:latin typeface="Calibri" panose="020F0502020204030204"/>
                <a:cs typeface="Calibri" panose="020F0502020204030204"/>
              </a:rPr>
              <a:t>learning. </a:t>
            </a:r>
            <a:r>
              <a:rPr sz="2000" dirty="0">
                <a:latin typeface="Calibri" panose="020F0502020204030204"/>
                <a:cs typeface="Calibri" panose="020F0502020204030204"/>
              </a:rPr>
              <a:t>In </a:t>
            </a:r>
            <a:r>
              <a:rPr sz="2000" spc="5" dirty="0">
                <a:latin typeface="Calibri" panose="020F0502020204030204"/>
                <a:cs typeface="Calibri" panose="020F0502020204030204"/>
              </a:rPr>
              <a:t> </a:t>
            </a:r>
            <a:r>
              <a:rPr sz="2000" spc="-10" dirty="0">
                <a:latin typeface="Calibri" panose="020F0502020204030204"/>
                <a:cs typeface="Calibri" panose="020F0502020204030204"/>
              </a:rPr>
              <a:t>reinforcement</a:t>
            </a:r>
            <a:r>
              <a:rPr sz="2000" dirty="0">
                <a:latin typeface="Calibri" panose="020F0502020204030204"/>
                <a:cs typeface="Calibri" panose="020F0502020204030204"/>
              </a:rPr>
              <a:t> learning, </a:t>
            </a:r>
            <a:r>
              <a:rPr sz="2000" spc="-15" dirty="0">
                <a:latin typeface="Calibri" panose="020F0502020204030204"/>
                <a:cs typeface="Calibri" panose="020F0502020204030204"/>
              </a:rPr>
              <a:t>we</a:t>
            </a:r>
            <a:r>
              <a:rPr sz="2000" spc="-10" dirty="0">
                <a:latin typeface="Calibri" panose="020F0502020204030204"/>
                <a:cs typeface="Calibri" panose="020F0502020204030204"/>
              </a:rPr>
              <a:t> introduce</a:t>
            </a:r>
            <a:r>
              <a:rPr sz="2000" dirty="0">
                <a:latin typeface="Calibri" panose="020F0502020204030204"/>
                <a:cs typeface="Calibri" panose="020F0502020204030204"/>
              </a:rPr>
              <a:t> our</a:t>
            </a:r>
            <a:r>
              <a:rPr sz="2000" spc="-10" dirty="0"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latin typeface="Calibri" panose="020F0502020204030204"/>
                <a:cs typeface="Calibri" panose="020F0502020204030204"/>
              </a:rPr>
              <a:t>model</a:t>
            </a:r>
            <a:r>
              <a:rPr sz="2000" spc="-15" dirty="0">
                <a:latin typeface="Calibri" panose="020F0502020204030204"/>
                <a:cs typeface="Calibri" panose="020F0502020204030204"/>
              </a:rPr>
              <a:t> to</a:t>
            </a:r>
            <a:r>
              <a:rPr sz="2000" spc="-5" dirty="0"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latin typeface="Calibri" panose="020F0502020204030204"/>
                <a:cs typeface="Calibri" panose="020F0502020204030204"/>
              </a:rPr>
              <a:t>a </a:t>
            </a:r>
            <a:r>
              <a:rPr sz="2000" spc="-10" dirty="0">
                <a:latin typeface="Calibri" panose="020F0502020204030204"/>
                <a:cs typeface="Calibri" panose="020F0502020204030204"/>
              </a:rPr>
              <a:t>controlled </a:t>
            </a:r>
            <a:r>
              <a:rPr sz="2000" spc="-5" dirty="0">
                <a:latin typeface="Calibri" panose="020F0502020204030204"/>
                <a:cs typeface="Calibri" panose="020F0502020204030204"/>
              </a:rPr>
              <a:t> </a:t>
            </a:r>
            <a:r>
              <a:rPr sz="2000" spc="-10" dirty="0">
                <a:latin typeface="Calibri" panose="020F0502020204030204"/>
                <a:cs typeface="Calibri" panose="020F0502020204030204"/>
              </a:rPr>
              <a:t>environment</a:t>
            </a:r>
            <a:r>
              <a:rPr sz="2000" spc="5" dirty="0"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latin typeface="Calibri" panose="020F0502020204030204"/>
                <a:cs typeface="Calibri" panose="020F0502020204030204"/>
              </a:rPr>
              <a:t>which</a:t>
            </a:r>
            <a:r>
              <a:rPr sz="2000" spc="-20" dirty="0"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latin typeface="Calibri" panose="020F0502020204030204"/>
                <a:cs typeface="Calibri" panose="020F0502020204030204"/>
              </a:rPr>
              <a:t>is</a:t>
            </a:r>
            <a:r>
              <a:rPr sz="2000" spc="5" dirty="0"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latin typeface="Calibri" panose="020F0502020204030204"/>
                <a:cs typeface="Calibri" panose="020F0502020204030204"/>
              </a:rPr>
              <a:t>modeled </a:t>
            </a:r>
            <a:r>
              <a:rPr sz="2000" spc="-10" dirty="0">
                <a:latin typeface="Calibri" panose="020F0502020204030204"/>
                <a:cs typeface="Calibri" panose="020F0502020204030204"/>
              </a:rPr>
              <a:t>after</a:t>
            </a:r>
            <a:r>
              <a:rPr sz="2000" dirty="0">
                <a:latin typeface="Calibri" panose="020F0502020204030204"/>
                <a:cs typeface="Calibri" panose="020F0502020204030204"/>
              </a:rPr>
              <a:t> the </a:t>
            </a:r>
            <a:r>
              <a:rPr sz="2000" spc="-10" dirty="0">
                <a:latin typeface="Calibri" panose="020F0502020204030204"/>
                <a:cs typeface="Calibri" panose="020F0502020204030204"/>
              </a:rPr>
              <a:t>problem </a:t>
            </a:r>
            <a:r>
              <a:rPr sz="2000" spc="-15" dirty="0">
                <a:latin typeface="Calibri" panose="020F0502020204030204"/>
                <a:cs typeface="Calibri" panose="020F0502020204030204"/>
              </a:rPr>
              <a:t>statement</a:t>
            </a:r>
            <a:r>
              <a:rPr sz="2000" spc="35" dirty="0">
                <a:latin typeface="Calibri" panose="020F0502020204030204"/>
                <a:cs typeface="Calibri" panose="020F0502020204030204"/>
              </a:rPr>
              <a:t> </a:t>
            </a:r>
            <a:r>
              <a:rPr sz="2000" spc="-15" dirty="0">
                <a:latin typeface="Calibri" panose="020F0502020204030204"/>
                <a:cs typeface="Calibri" panose="020F0502020204030204"/>
              </a:rPr>
              <a:t>to</a:t>
            </a:r>
            <a:r>
              <a:rPr sz="2000" spc="-10" dirty="0">
                <a:latin typeface="Calibri" panose="020F0502020204030204"/>
                <a:cs typeface="Calibri" panose="020F0502020204030204"/>
              </a:rPr>
              <a:t> </a:t>
            </a:r>
            <a:r>
              <a:rPr sz="2000" spc="-5" dirty="0">
                <a:latin typeface="Calibri" panose="020F0502020204030204"/>
                <a:cs typeface="Calibri" panose="020F0502020204030204"/>
              </a:rPr>
              <a:t>be </a:t>
            </a:r>
            <a:r>
              <a:rPr sz="2000" spc="-434" dirty="0">
                <a:latin typeface="Calibri" panose="020F0502020204030204"/>
                <a:cs typeface="Calibri" panose="020F0502020204030204"/>
              </a:rPr>
              <a:t> </a:t>
            </a:r>
            <a:r>
              <a:rPr sz="2000" spc="-10" dirty="0">
                <a:latin typeface="Calibri" panose="020F0502020204030204"/>
                <a:cs typeface="Calibri" panose="020F0502020204030204"/>
              </a:rPr>
              <a:t>solved</a:t>
            </a:r>
            <a:r>
              <a:rPr sz="2000" dirty="0">
                <a:latin typeface="Calibri" panose="020F0502020204030204"/>
                <a:cs typeface="Calibri" panose="020F0502020204030204"/>
              </a:rPr>
              <a:t> </a:t>
            </a:r>
            <a:r>
              <a:rPr sz="2000" spc="-10" dirty="0">
                <a:latin typeface="Calibri" panose="020F0502020204030204"/>
                <a:cs typeface="Calibri" panose="020F0502020204030204"/>
              </a:rPr>
              <a:t>instead</a:t>
            </a:r>
            <a:r>
              <a:rPr sz="2000" spc="10" dirty="0"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latin typeface="Calibri" panose="020F0502020204030204"/>
                <a:cs typeface="Calibri" panose="020F0502020204030204"/>
              </a:rPr>
              <a:t>of</a:t>
            </a:r>
            <a:r>
              <a:rPr sz="2000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sz="2000" spc="-5" dirty="0">
                <a:latin typeface="Calibri" panose="020F0502020204030204"/>
                <a:cs typeface="Calibri" panose="020F0502020204030204"/>
              </a:rPr>
              <a:t>using </a:t>
            </a:r>
            <a:r>
              <a:rPr sz="2000" dirty="0">
                <a:latin typeface="Calibri" panose="020F0502020204030204"/>
                <a:cs typeface="Calibri" panose="020F0502020204030204"/>
              </a:rPr>
              <a:t>actual </a:t>
            </a:r>
            <a:r>
              <a:rPr sz="2000" spc="-15" dirty="0">
                <a:latin typeface="Calibri" panose="020F0502020204030204"/>
                <a:cs typeface="Calibri" panose="020F0502020204030204"/>
              </a:rPr>
              <a:t>data</a:t>
            </a:r>
            <a:r>
              <a:rPr sz="2000" dirty="0">
                <a:latin typeface="Calibri" panose="020F0502020204030204"/>
                <a:cs typeface="Calibri" panose="020F0502020204030204"/>
              </a:rPr>
              <a:t> </a:t>
            </a:r>
            <a:r>
              <a:rPr sz="2000" spc="-10" dirty="0">
                <a:latin typeface="Calibri" panose="020F0502020204030204"/>
                <a:cs typeface="Calibri" panose="020F0502020204030204"/>
              </a:rPr>
              <a:t>to</a:t>
            </a:r>
            <a:r>
              <a:rPr sz="2000" spc="-5" dirty="0">
                <a:latin typeface="Calibri" panose="020F0502020204030204"/>
                <a:cs typeface="Calibri" panose="020F0502020204030204"/>
              </a:rPr>
              <a:t> </a:t>
            </a:r>
            <a:r>
              <a:rPr sz="2000" spc="-10" dirty="0">
                <a:latin typeface="Calibri" panose="020F0502020204030204"/>
                <a:cs typeface="Calibri" panose="020F0502020204030204"/>
              </a:rPr>
              <a:t>solve</a:t>
            </a:r>
            <a:r>
              <a:rPr sz="2000" spc="10" dirty="0"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latin typeface="Calibri" panose="020F0502020204030204"/>
                <a:cs typeface="Calibri" panose="020F0502020204030204"/>
              </a:rPr>
              <a:t>it.</a:t>
            </a:r>
            <a:endParaRPr sz="2000">
              <a:latin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191135" marR="692150" indent="-172720" algn="just">
              <a:lnSpc>
                <a:spcPts val="2590"/>
              </a:lnSpc>
              <a:spcBef>
                <a:spcPts val="425"/>
              </a:spcBef>
              <a:buFont typeface="Arial MT"/>
              <a:buChar char="•"/>
              <a:tabLst>
                <a:tab pos="191770" algn="l"/>
              </a:tabLst>
            </a:pPr>
            <a:r>
              <a:rPr spc="-15" dirty="0"/>
              <a:t>R</a:t>
            </a:r>
            <a:r>
              <a:rPr spc="-15" dirty="0"/>
              <a:t>einforcement </a:t>
            </a:r>
            <a:r>
              <a:rPr dirty="0"/>
              <a:t>learning </a:t>
            </a:r>
            <a:r>
              <a:rPr spc="-5" dirty="0"/>
              <a:t>uses algorithms </a:t>
            </a:r>
            <a:r>
              <a:rPr spc="-10" dirty="0"/>
              <a:t>that </a:t>
            </a:r>
            <a:r>
              <a:rPr dirty="0"/>
              <a:t>learn </a:t>
            </a:r>
            <a:r>
              <a:rPr spc="-15" dirty="0"/>
              <a:t>from </a:t>
            </a:r>
            <a:r>
              <a:rPr spc="-530" dirty="0"/>
              <a:t> </a:t>
            </a:r>
            <a:r>
              <a:rPr spc="-10" dirty="0"/>
              <a:t>outcomes</a:t>
            </a:r>
            <a:r>
              <a:rPr spc="-25" dirty="0"/>
              <a:t> </a:t>
            </a:r>
            <a:r>
              <a:rPr dirty="0"/>
              <a:t>and</a:t>
            </a:r>
            <a:r>
              <a:rPr spc="-5" dirty="0"/>
              <a:t> decide</a:t>
            </a:r>
            <a:r>
              <a:rPr spc="-15" dirty="0"/>
              <a:t> </a:t>
            </a:r>
            <a:r>
              <a:rPr dirty="0"/>
              <a:t>which</a:t>
            </a:r>
            <a:r>
              <a:rPr spc="-10" dirty="0"/>
              <a:t> </a:t>
            </a:r>
            <a:r>
              <a:rPr dirty="0"/>
              <a:t>action</a:t>
            </a:r>
            <a:r>
              <a:rPr spc="-20" dirty="0"/>
              <a:t> </a:t>
            </a:r>
            <a:r>
              <a:rPr spc="-15" dirty="0"/>
              <a:t>to </a:t>
            </a:r>
            <a:r>
              <a:rPr spc="-25" dirty="0"/>
              <a:t>take</a:t>
            </a:r>
            <a:r>
              <a:rPr spc="-20" dirty="0"/>
              <a:t> </a:t>
            </a:r>
            <a:r>
              <a:rPr spc="-10" dirty="0"/>
              <a:t>next.</a:t>
            </a:r>
            <a:endParaRPr spc="-10" dirty="0"/>
          </a:p>
          <a:p>
            <a:pPr marL="191135" marR="5080" indent="-172720" algn="just">
              <a:lnSpc>
                <a:spcPts val="2590"/>
              </a:lnSpc>
              <a:spcBef>
                <a:spcPts val="815"/>
              </a:spcBef>
              <a:buFont typeface="Arial MT"/>
              <a:buChar char="•"/>
              <a:tabLst>
                <a:tab pos="191770" algn="l"/>
              </a:tabLst>
            </a:pPr>
            <a:r>
              <a:rPr spc="-5" dirty="0">
                <a:solidFill>
                  <a:srgbClr val="00AF50"/>
                </a:solidFill>
              </a:rPr>
              <a:t>After </a:t>
            </a:r>
            <a:r>
              <a:rPr dirty="0">
                <a:solidFill>
                  <a:srgbClr val="00AF50"/>
                </a:solidFill>
              </a:rPr>
              <a:t>each action, the </a:t>
            </a:r>
            <a:r>
              <a:rPr spc="-5" dirty="0">
                <a:solidFill>
                  <a:srgbClr val="00AF50"/>
                </a:solidFill>
              </a:rPr>
              <a:t>algorithm </a:t>
            </a:r>
            <a:r>
              <a:rPr spc="-10" dirty="0">
                <a:solidFill>
                  <a:srgbClr val="00AF50"/>
                </a:solidFill>
              </a:rPr>
              <a:t>receives feedback that helps </a:t>
            </a:r>
            <a:r>
              <a:rPr spc="-530" dirty="0">
                <a:solidFill>
                  <a:srgbClr val="00AF50"/>
                </a:solidFill>
              </a:rPr>
              <a:t> </a:t>
            </a:r>
            <a:r>
              <a:rPr dirty="0">
                <a:solidFill>
                  <a:srgbClr val="00AF50"/>
                </a:solidFill>
              </a:rPr>
              <a:t>it</a:t>
            </a:r>
            <a:r>
              <a:rPr spc="-20" dirty="0">
                <a:solidFill>
                  <a:srgbClr val="00AF50"/>
                </a:solidFill>
              </a:rPr>
              <a:t> </a:t>
            </a:r>
            <a:r>
              <a:rPr spc="-5" dirty="0">
                <a:solidFill>
                  <a:srgbClr val="00AF50"/>
                </a:solidFill>
              </a:rPr>
              <a:t>determine</a:t>
            </a:r>
            <a:r>
              <a:rPr spc="-15" dirty="0">
                <a:solidFill>
                  <a:srgbClr val="00AF50"/>
                </a:solidFill>
              </a:rPr>
              <a:t> </a:t>
            </a:r>
            <a:r>
              <a:rPr spc="-5" dirty="0">
                <a:solidFill>
                  <a:srgbClr val="00AF50"/>
                </a:solidFill>
              </a:rPr>
              <a:t>whether</a:t>
            </a:r>
            <a:r>
              <a:rPr spc="-10" dirty="0">
                <a:solidFill>
                  <a:srgbClr val="00AF50"/>
                </a:solidFill>
              </a:rPr>
              <a:t> </a:t>
            </a:r>
            <a:r>
              <a:rPr dirty="0">
                <a:solidFill>
                  <a:srgbClr val="00AF50"/>
                </a:solidFill>
              </a:rPr>
              <a:t>the</a:t>
            </a:r>
            <a:r>
              <a:rPr spc="-5" dirty="0">
                <a:solidFill>
                  <a:srgbClr val="00AF50"/>
                </a:solidFill>
              </a:rPr>
              <a:t> choice</a:t>
            </a:r>
            <a:r>
              <a:rPr spc="-15" dirty="0">
                <a:solidFill>
                  <a:srgbClr val="00AF50"/>
                </a:solidFill>
              </a:rPr>
              <a:t> </a:t>
            </a:r>
            <a:r>
              <a:rPr dirty="0">
                <a:solidFill>
                  <a:srgbClr val="00AF50"/>
                </a:solidFill>
              </a:rPr>
              <a:t>it</a:t>
            </a:r>
            <a:r>
              <a:rPr spc="-20" dirty="0">
                <a:solidFill>
                  <a:srgbClr val="00AF50"/>
                </a:solidFill>
              </a:rPr>
              <a:t> </a:t>
            </a:r>
            <a:r>
              <a:rPr dirty="0">
                <a:solidFill>
                  <a:srgbClr val="00AF50"/>
                </a:solidFill>
              </a:rPr>
              <a:t>made</a:t>
            </a:r>
            <a:r>
              <a:rPr spc="-10" dirty="0">
                <a:solidFill>
                  <a:srgbClr val="00AF50"/>
                </a:solidFill>
              </a:rPr>
              <a:t> was</a:t>
            </a:r>
            <a:r>
              <a:rPr spc="-20" dirty="0">
                <a:solidFill>
                  <a:srgbClr val="00AF50"/>
                </a:solidFill>
              </a:rPr>
              <a:t> </a:t>
            </a:r>
            <a:r>
              <a:rPr spc="-10" dirty="0">
                <a:solidFill>
                  <a:srgbClr val="00AF50"/>
                </a:solidFill>
              </a:rPr>
              <a:t>correct,</a:t>
            </a:r>
            <a:r>
              <a:rPr spc="-15" dirty="0">
                <a:solidFill>
                  <a:srgbClr val="00AF50"/>
                </a:solidFill>
              </a:rPr>
              <a:t> </a:t>
            </a:r>
            <a:r>
              <a:rPr spc="-10" dirty="0">
                <a:solidFill>
                  <a:srgbClr val="00AF50"/>
                </a:solidFill>
              </a:rPr>
              <a:t>neutral </a:t>
            </a:r>
            <a:r>
              <a:rPr spc="-530" dirty="0">
                <a:solidFill>
                  <a:srgbClr val="00AF50"/>
                </a:solidFill>
              </a:rPr>
              <a:t> </a:t>
            </a:r>
            <a:r>
              <a:rPr spc="-5" dirty="0">
                <a:solidFill>
                  <a:srgbClr val="00AF50"/>
                </a:solidFill>
              </a:rPr>
              <a:t>or </a:t>
            </a:r>
            <a:r>
              <a:rPr spc="-10" dirty="0">
                <a:solidFill>
                  <a:srgbClr val="00AF50"/>
                </a:solidFill>
              </a:rPr>
              <a:t>incorrect. </a:t>
            </a:r>
            <a:r>
              <a:rPr dirty="0">
                <a:solidFill>
                  <a:srgbClr val="00AF50"/>
                </a:solidFill>
              </a:rPr>
              <a:t>It is a </a:t>
            </a:r>
            <a:r>
              <a:rPr spc="-10" dirty="0">
                <a:solidFill>
                  <a:srgbClr val="00AF50"/>
                </a:solidFill>
              </a:rPr>
              <a:t>good technique </a:t>
            </a:r>
            <a:r>
              <a:rPr spc="-15" dirty="0">
                <a:solidFill>
                  <a:srgbClr val="00AF50"/>
                </a:solidFill>
              </a:rPr>
              <a:t>to </a:t>
            </a:r>
            <a:r>
              <a:rPr spc="-5" dirty="0">
                <a:solidFill>
                  <a:srgbClr val="00AF50"/>
                </a:solidFill>
              </a:rPr>
              <a:t>use </a:t>
            </a:r>
            <a:r>
              <a:rPr spc="-20" dirty="0">
                <a:solidFill>
                  <a:srgbClr val="00AF50"/>
                </a:solidFill>
              </a:rPr>
              <a:t>for </a:t>
            </a:r>
            <a:r>
              <a:rPr spc="-10" dirty="0">
                <a:solidFill>
                  <a:srgbClr val="00AF50"/>
                </a:solidFill>
              </a:rPr>
              <a:t>automated </a:t>
            </a:r>
            <a:r>
              <a:rPr spc="-5" dirty="0">
                <a:solidFill>
                  <a:srgbClr val="00AF50"/>
                </a:solidFill>
              </a:rPr>
              <a:t> </a:t>
            </a:r>
            <a:r>
              <a:rPr spc="-20" dirty="0">
                <a:solidFill>
                  <a:srgbClr val="00AF50"/>
                </a:solidFill>
              </a:rPr>
              <a:t>systems </a:t>
            </a:r>
            <a:r>
              <a:rPr spc="-10" dirty="0">
                <a:solidFill>
                  <a:srgbClr val="00AF50"/>
                </a:solidFill>
              </a:rPr>
              <a:t>that </a:t>
            </a:r>
            <a:r>
              <a:rPr spc="-20" dirty="0">
                <a:solidFill>
                  <a:srgbClr val="00AF50"/>
                </a:solidFill>
              </a:rPr>
              <a:t>have </a:t>
            </a:r>
            <a:r>
              <a:rPr spc="-15" dirty="0">
                <a:solidFill>
                  <a:srgbClr val="00AF50"/>
                </a:solidFill>
              </a:rPr>
              <a:t>to </a:t>
            </a:r>
            <a:r>
              <a:rPr spc="-20" dirty="0">
                <a:solidFill>
                  <a:srgbClr val="00AF50"/>
                </a:solidFill>
              </a:rPr>
              <a:t>make </a:t>
            </a:r>
            <a:r>
              <a:rPr dirty="0">
                <a:solidFill>
                  <a:srgbClr val="00AF50"/>
                </a:solidFill>
              </a:rPr>
              <a:t>a lot </a:t>
            </a:r>
            <a:r>
              <a:rPr spc="-5" dirty="0">
                <a:solidFill>
                  <a:srgbClr val="00AF50"/>
                </a:solidFill>
              </a:rPr>
              <a:t>of small decisions </a:t>
            </a:r>
            <a:r>
              <a:rPr dirty="0">
                <a:solidFill>
                  <a:srgbClr val="00AF50"/>
                </a:solidFill>
              </a:rPr>
              <a:t>without </a:t>
            </a:r>
            <a:r>
              <a:rPr spc="5" dirty="0">
                <a:solidFill>
                  <a:srgbClr val="00AF50"/>
                </a:solidFill>
              </a:rPr>
              <a:t> </a:t>
            </a:r>
            <a:r>
              <a:rPr spc="-5" dirty="0">
                <a:solidFill>
                  <a:srgbClr val="00AF50"/>
                </a:solidFill>
              </a:rPr>
              <a:t>human</a:t>
            </a:r>
            <a:r>
              <a:rPr spc="-10" dirty="0">
                <a:solidFill>
                  <a:srgbClr val="00AF50"/>
                </a:solidFill>
              </a:rPr>
              <a:t> </a:t>
            </a:r>
            <a:r>
              <a:rPr spc="-5" dirty="0">
                <a:solidFill>
                  <a:srgbClr val="00AF50"/>
                </a:solidFill>
              </a:rPr>
              <a:t>guidance.</a:t>
            </a:r>
            <a:endParaRPr spc="-5" dirty="0">
              <a:solidFill>
                <a:srgbClr val="00AF50"/>
              </a:solidFill>
            </a:endParaRPr>
          </a:p>
          <a:p>
            <a:pPr marL="191135" marR="637540" indent="-172720" algn="just">
              <a:lnSpc>
                <a:spcPts val="2590"/>
              </a:lnSpc>
              <a:spcBef>
                <a:spcPts val="815"/>
              </a:spcBef>
              <a:buFont typeface="Arial MT"/>
              <a:buChar char="•"/>
              <a:tabLst>
                <a:tab pos="191770" algn="l"/>
              </a:tabLst>
            </a:pPr>
            <a:r>
              <a:rPr spc="-15" dirty="0"/>
              <a:t>Reinforcement </a:t>
            </a:r>
            <a:r>
              <a:rPr dirty="0"/>
              <a:t>learning is an </a:t>
            </a:r>
            <a:r>
              <a:rPr spc="-5" dirty="0"/>
              <a:t>autonomous, self-teaching </a:t>
            </a:r>
            <a:r>
              <a:rPr spc="-530" dirty="0"/>
              <a:t> </a:t>
            </a:r>
            <a:r>
              <a:rPr spc="-25" dirty="0"/>
              <a:t>system</a:t>
            </a:r>
            <a:r>
              <a:rPr spc="-15" dirty="0"/>
              <a:t> </a:t>
            </a:r>
            <a:r>
              <a:rPr spc="-10" dirty="0"/>
              <a:t>that</a:t>
            </a:r>
            <a:r>
              <a:rPr spc="-15" dirty="0"/>
              <a:t> </a:t>
            </a:r>
            <a:r>
              <a:rPr spc="-5" dirty="0"/>
              <a:t>essentially</a:t>
            </a:r>
            <a:r>
              <a:rPr spc="-10" dirty="0"/>
              <a:t> </a:t>
            </a:r>
            <a:r>
              <a:rPr dirty="0"/>
              <a:t>learns </a:t>
            </a:r>
            <a:r>
              <a:rPr spc="-10" dirty="0"/>
              <a:t>by </a:t>
            </a:r>
            <a:r>
              <a:rPr dirty="0"/>
              <a:t>trial</a:t>
            </a:r>
            <a:r>
              <a:rPr spc="-10" dirty="0"/>
              <a:t> </a:t>
            </a:r>
            <a:r>
              <a:rPr dirty="0"/>
              <a:t>and</a:t>
            </a:r>
            <a:r>
              <a:rPr spc="-5" dirty="0"/>
              <a:t> </a:t>
            </a:r>
            <a:r>
              <a:rPr spc="-50" dirty="0"/>
              <a:t>error.</a:t>
            </a:r>
            <a:endParaRPr spc="-50" dirty="0"/>
          </a:p>
          <a:p>
            <a:pPr marL="191135" marR="26035" indent="-172720" algn="just">
              <a:lnSpc>
                <a:spcPct val="90000"/>
              </a:lnSpc>
              <a:spcBef>
                <a:spcPts val="755"/>
              </a:spcBef>
              <a:buFont typeface="Arial MT"/>
              <a:buChar char="•"/>
              <a:tabLst>
                <a:tab pos="191770" algn="l"/>
              </a:tabLst>
            </a:pPr>
            <a:r>
              <a:rPr dirty="0">
                <a:solidFill>
                  <a:srgbClr val="00AF50"/>
                </a:solidFill>
              </a:rPr>
              <a:t>It</a:t>
            </a:r>
            <a:r>
              <a:rPr spc="-25" dirty="0">
                <a:solidFill>
                  <a:srgbClr val="00AF50"/>
                </a:solidFill>
              </a:rPr>
              <a:t> </a:t>
            </a:r>
            <a:r>
              <a:rPr spc="-10" dirty="0">
                <a:solidFill>
                  <a:srgbClr val="00AF50"/>
                </a:solidFill>
              </a:rPr>
              <a:t>performs </a:t>
            </a:r>
            <a:r>
              <a:rPr dirty="0">
                <a:solidFill>
                  <a:srgbClr val="00AF50"/>
                </a:solidFill>
              </a:rPr>
              <a:t>actions</a:t>
            </a:r>
            <a:r>
              <a:rPr spc="-25" dirty="0">
                <a:solidFill>
                  <a:srgbClr val="00AF50"/>
                </a:solidFill>
              </a:rPr>
              <a:t> </a:t>
            </a:r>
            <a:r>
              <a:rPr dirty="0">
                <a:solidFill>
                  <a:srgbClr val="00AF50"/>
                </a:solidFill>
              </a:rPr>
              <a:t>with</a:t>
            </a:r>
            <a:r>
              <a:rPr spc="-15" dirty="0">
                <a:solidFill>
                  <a:srgbClr val="00AF50"/>
                </a:solidFill>
              </a:rPr>
              <a:t> </a:t>
            </a:r>
            <a:r>
              <a:rPr dirty="0">
                <a:solidFill>
                  <a:srgbClr val="00AF50"/>
                </a:solidFill>
              </a:rPr>
              <a:t>the</a:t>
            </a:r>
            <a:r>
              <a:rPr spc="-5" dirty="0">
                <a:solidFill>
                  <a:srgbClr val="00AF50"/>
                </a:solidFill>
              </a:rPr>
              <a:t> </a:t>
            </a:r>
            <a:r>
              <a:rPr dirty="0">
                <a:solidFill>
                  <a:srgbClr val="00AF50"/>
                </a:solidFill>
              </a:rPr>
              <a:t>aim</a:t>
            </a:r>
            <a:r>
              <a:rPr spc="-15" dirty="0">
                <a:solidFill>
                  <a:srgbClr val="00AF50"/>
                </a:solidFill>
              </a:rPr>
              <a:t> </a:t>
            </a:r>
            <a:r>
              <a:rPr spc="-5" dirty="0">
                <a:solidFill>
                  <a:srgbClr val="00AF50"/>
                </a:solidFill>
              </a:rPr>
              <a:t>of</a:t>
            </a:r>
            <a:r>
              <a:rPr spc="-10" dirty="0">
                <a:solidFill>
                  <a:srgbClr val="00AF50"/>
                </a:solidFill>
              </a:rPr>
              <a:t> maximizing</a:t>
            </a:r>
            <a:r>
              <a:rPr spc="-30" dirty="0">
                <a:solidFill>
                  <a:srgbClr val="00AF50"/>
                </a:solidFill>
              </a:rPr>
              <a:t> </a:t>
            </a:r>
            <a:r>
              <a:rPr spc="-15" dirty="0">
                <a:solidFill>
                  <a:srgbClr val="00AF50"/>
                </a:solidFill>
              </a:rPr>
              <a:t>rewards,</a:t>
            </a:r>
            <a:r>
              <a:rPr spc="-25" dirty="0">
                <a:solidFill>
                  <a:srgbClr val="00AF50"/>
                </a:solidFill>
              </a:rPr>
              <a:t> </a:t>
            </a:r>
            <a:r>
              <a:rPr spc="-5" dirty="0">
                <a:solidFill>
                  <a:srgbClr val="00AF50"/>
                </a:solidFill>
              </a:rPr>
              <a:t>or </a:t>
            </a:r>
            <a:r>
              <a:rPr dirty="0">
                <a:solidFill>
                  <a:srgbClr val="00AF50"/>
                </a:solidFill>
              </a:rPr>
              <a:t>in </a:t>
            </a:r>
            <a:r>
              <a:rPr spc="-530" dirty="0">
                <a:solidFill>
                  <a:srgbClr val="00AF50"/>
                </a:solidFill>
              </a:rPr>
              <a:t> </a:t>
            </a:r>
            <a:r>
              <a:rPr spc="-5" dirty="0">
                <a:solidFill>
                  <a:srgbClr val="00AF50"/>
                </a:solidFill>
              </a:rPr>
              <a:t>other </a:t>
            </a:r>
            <a:r>
              <a:rPr spc="-15" dirty="0">
                <a:solidFill>
                  <a:srgbClr val="00AF50"/>
                </a:solidFill>
              </a:rPr>
              <a:t>words, </a:t>
            </a:r>
            <a:r>
              <a:rPr dirty="0">
                <a:solidFill>
                  <a:srgbClr val="00AF50"/>
                </a:solidFill>
              </a:rPr>
              <a:t>it is </a:t>
            </a:r>
            <a:r>
              <a:rPr spc="-5" dirty="0">
                <a:solidFill>
                  <a:srgbClr val="00AF50"/>
                </a:solidFill>
              </a:rPr>
              <a:t>learning </a:t>
            </a:r>
            <a:r>
              <a:rPr spc="-10" dirty="0">
                <a:solidFill>
                  <a:srgbClr val="00AF50"/>
                </a:solidFill>
              </a:rPr>
              <a:t>by </a:t>
            </a:r>
            <a:r>
              <a:rPr spc="-5" dirty="0">
                <a:solidFill>
                  <a:srgbClr val="00AF50"/>
                </a:solidFill>
              </a:rPr>
              <a:t>doing </a:t>
            </a:r>
            <a:r>
              <a:rPr dirty="0">
                <a:solidFill>
                  <a:srgbClr val="00AF50"/>
                </a:solidFill>
              </a:rPr>
              <a:t>in </a:t>
            </a:r>
            <a:r>
              <a:rPr spc="-15" dirty="0">
                <a:solidFill>
                  <a:srgbClr val="00AF50"/>
                </a:solidFill>
              </a:rPr>
              <a:t>order to </a:t>
            </a:r>
            <a:r>
              <a:rPr spc="-5" dirty="0">
                <a:solidFill>
                  <a:srgbClr val="00AF50"/>
                </a:solidFill>
              </a:rPr>
              <a:t>achieve </a:t>
            </a:r>
            <a:r>
              <a:rPr dirty="0">
                <a:solidFill>
                  <a:srgbClr val="00AF50"/>
                </a:solidFill>
              </a:rPr>
              <a:t>the </a:t>
            </a:r>
            <a:r>
              <a:rPr spc="5" dirty="0">
                <a:solidFill>
                  <a:srgbClr val="00AF50"/>
                </a:solidFill>
              </a:rPr>
              <a:t> </a:t>
            </a:r>
            <a:r>
              <a:rPr spc="-10" dirty="0">
                <a:solidFill>
                  <a:srgbClr val="00AF50"/>
                </a:solidFill>
              </a:rPr>
              <a:t>best</a:t>
            </a:r>
            <a:r>
              <a:rPr spc="-5" dirty="0">
                <a:solidFill>
                  <a:srgbClr val="00AF50"/>
                </a:solidFill>
              </a:rPr>
              <a:t> </a:t>
            </a:r>
            <a:r>
              <a:rPr spc="-10" dirty="0">
                <a:solidFill>
                  <a:srgbClr val="00AF50"/>
                </a:solidFill>
              </a:rPr>
              <a:t>outcomes.</a:t>
            </a:r>
            <a:endParaRPr spc="-10" dirty="0">
              <a:solidFill>
                <a:srgbClr val="00AF50"/>
              </a:solidFill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818894" y="649935"/>
            <a:ext cx="551878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b="1" spc="-40" dirty="0">
                <a:solidFill>
                  <a:srgbClr val="2E5496"/>
                </a:solidFill>
                <a:latin typeface="Calibri" panose="020F0502020204030204"/>
                <a:cs typeface="Calibri" panose="020F0502020204030204"/>
              </a:rPr>
              <a:t>Reinforcement</a:t>
            </a:r>
            <a:r>
              <a:rPr sz="4400" b="1" spc="-195" dirty="0">
                <a:solidFill>
                  <a:srgbClr val="2E5496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4400" b="1" spc="-5" dirty="0">
                <a:solidFill>
                  <a:srgbClr val="2E5496"/>
                </a:solidFill>
                <a:latin typeface="Calibri" panose="020F0502020204030204"/>
                <a:cs typeface="Calibri" panose="020F0502020204030204"/>
              </a:rPr>
              <a:t>Learning</a:t>
            </a:r>
            <a:endParaRPr sz="4400">
              <a:latin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4135" rIns="0" bIns="0" rtlCol="0">
            <a:spAutoFit/>
          </a:bodyPr>
          <a:lstStyle/>
          <a:p>
            <a:pPr marL="12700" marR="5080" algn="just">
              <a:lnSpc>
                <a:spcPts val="3240"/>
              </a:lnSpc>
              <a:spcBef>
                <a:spcPts val="505"/>
              </a:spcBef>
            </a:pPr>
            <a:r>
              <a:rPr spc="-5" dirty="0"/>
              <a:t>Consider </a:t>
            </a:r>
            <a:r>
              <a:rPr dirty="0"/>
              <a:t>a </a:t>
            </a:r>
            <a:r>
              <a:rPr spc="-5" dirty="0"/>
              <a:t>dog that </a:t>
            </a:r>
            <a:r>
              <a:rPr spc="-15" dirty="0"/>
              <a:t>we </a:t>
            </a:r>
            <a:r>
              <a:rPr spc="-20" dirty="0"/>
              <a:t>have </a:t>
            </a:r>
            <a:r>
              <a:rPr spc="-15" dirty="0"/>
              <a:t>to </a:t>
            </a:r>
            <a:r>
              <a:rPr spc="-5" dirty="0"/>
              <a:t>house </a:t>
            </a:r>
            <a:r>
              <a:rPr spc="-10" dirty="0"/>
              <a:t>train. </a:t>
            </a:r>
            <a:r>
              <a:rPr spc="-15" dirty="0"/>
              <a:t>Here, </a:t>
            </a:r>
            <a:r>
              <a:rPr spc="-665" dirty="0"/>
              <a:t> </a:t>
            </a:r>
            <a:r>
              <a:rPr dirty="0"/>
              <a:t>the </a:t>
            </a:r>
            <a:r>
              <a:rPr spc="-5" dirty="0"/>
              <a:t>dog </a:t>
            </a:r>
            <a:r>
              <a:rPr dirty="0"/>
              <a:t>is the </a:t>
            </a:r>
            <a:r>
              <a:rPr spc="-15" dirty="0"/>
              <a:t>agent </a:t>
            </a:r>
            <a:r>
              <a:rPr dirty="0"/>
              <a:t>and the </a:t>
            </a:r>
            <a:r>
              <a:rPr spc="-10" dirty="0"/>
              <a:t>house, </a:t>
            </a:r>
            <a:r>
              <a:rPr spc="-5" dirty="0"/>
              <a:t>the </a:t>
            </a:r>
            <a:r>
              <a:rPr dirty="0"/>
              <a:t> </a:t>
            </a:r>
            <a:r>
              <a:rPr spc="-15" dirty="0"/>
              <a:t>environment.</a:t>
            </a:r>
            <a:endParaRPr spc="-15" dirty="0"/>
          </a:p>
        </p:txBody>
      </p:sp>
      <p:pic>
        <p:nvPicPr>
          <p:cNvPr id="3" name="object 3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0" y="2229611"/>
            <a:ext cx="9143999" cy="3637788"/>
          </a:xfrm>
          <a:prstGeom prst="rect">
            <a:avLst/>
          </a:prstGeom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4135" rIns="0" bIns="0" rtlCol="0">
            <a:spAutoFit/>
          </a:bodyPr>
          <a:lstStyle/>
          <a:p>
            <a:pPr marL="12700" marR="5080" algn="just">
              <a:lnSpc>
                <a:spcPts val="3240"/>
              </a:lnSpc>
              <a:spcBef>
                <a:spcPts val="505"/>
              </a:spcBef>
            </a:pPr>
            <a:r>
              <a:rPr spc="-60" dirty="0"/>
              <a:t>We</a:t>
            </a:r>
            <a:r>
              <a:rPr spc="-5" dirty="0"/>
              <a:t> </a:t>
            </a:r>
            <a:r>
              <a:rPr spc="-10" dirty="0"/>
              <a:t>can</a:t>
            </a:r>
            <a:r>
              <a:rPr spc="-25" dirty="0"/>
              <a:t> </a:t>
            </a:r>
            <a:r>
              <a:rPr spc="-15" dirty="0"/>
              <a:t>get</a:t>
            </a:r>
            <a:r>
              <a:rPr spc="-20" dirty="0"/>
              <a:t> </a:t>
            </a:r>
            <a:r>
              <a:rPr dirty="0"/>
              <a:t>the</a:t>
            </a:r>
            <a:r>
              <a:rPr spc="-20" dirty="0"/>
              <a:t> </a:t>
            </a:r>
            <a:r>
              <a:rPr spc="-5" dirty="0"/>
              <a:t>dog </a:t>
            </a:r>
            <a:r>
              <a:rPr spc="-15" dirty="0"/>
              <a:t>to</a:t>
            </a:r>
            <a:r>
              <a:rPr spc="-25" dirty="0"/>
              <a:t> </a:t>
            </a:r>
            <a:r>
              <a:rPr spc="-15" dirty="0"/>
              <a:t>perform</a:t>
            </a:r>
            <a:r>
              <a:rPr spc="-5" dirty="0"/>
              <a:t> </a:t>
            </a:r>
            <a:r>
              <a:rPr spc="-10" dirty="0"/>
              <a:t>various</a:t>
            </a:r>
            <a:r>
              <a:rPr spc="5" dirty="0"/>
              <a:t> </a:t>
            </a:r>
            <a:r>
              <a:rPr dirty="0"/>
              <a:t>actions</a:t>
            </a:r>
            <a:r>
              <a:rPr spc="-25" dirty="0"/>
              <a:t> </a:t>
            </a:r>
            <a:r>
              <a:rPr spc="-10" dirty="0"/>
              <a:t>by </a:t>
            </a:r>
            <a:r>
              <a:rPr spc="-665" dirty="0"/>
              <a:t> </a:t>
            </a:r>
            <a:r>
              <a:rPr spc="-20" dirty="0"/>
              <a:t>offering</a:t>
            </a:r>
            <a:r>
              <a:rPr spc="5" dirty="0"/>
              <a:t> </a:t>
            </a:r>
            <a:r>
              <a:rPr spc="-10" dirty="0"/>
              <a:t>incentives</a:t>
            </a:r>
            <a:r>
              <a:rPr spc="-35" dirty="0"/>
              <a:t> </a:t>
            </a:r>
            <a:r>
              <a:rPr spc="-5" dirty="0"/>
              <a:t>such </a:t>
            </a:r>
            <a:r>
              <a:rPr dirty="0"/>
              <a:t>as</a:t>
            </a:r>
            <a:r>
              <a:rPr spc="-5" dirty="0"/>
              <a:t> </a:t>
            </a:r>
            <a:r>
              <a:rPr spc="-10" dirty="0"/>
              <a:t>dog</a:t>
            </a:r>
            <a:r>
              <a:rPr spc="-5" dirty="0"/>
              <a:t> </a:t>
            </a:r>
            <a:r>
              <a:rPr spc="-10" dirty="0"/>
              <a:t>biscuits</a:t>
            </a:r>
            <a:r>
              <a:rPr spc="-5" dirty="0"/>
              <a:t> </a:t>
            </a:r>
            <a:r>
              <a:rPr dirty="0"/>
              <a:t>as</a:t>
            </a:r>
            <a:r>
              <a:rPr spc="-5" dirty="0"/>
              <a:t> </a:t>
            </a:r>
            <a:r>
              <a:rPr dirty="0"/>
              <a:t>a </a:t>
            </a:r>
            <a:r>
              <a:rPr spc="5" dirty="0"/>
              <a:t> </a:t>
            </a:r>
            <a:r>
              <a:rPr spc="-25" dirty="0"/>
              <a:t>reward.</a:t>
            </a:r>
            <a:endParaRPr spc="-25" dirty="0"/>
          </a:p>
        </p:txBody>
      </p:sp>
      <p:pic>
        <p:nvPicPr>
          <p:cNvPr id="3" name="object 3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0" y="1946148"/>
            <a:ext cx="9143999" cy="2965704"/>
          </a:xfrm>
          <a:prstGeom prst="rect">
            <a:avLst/>
          </a:prstGeom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07542" y="122301"/>
            <a:ext cx="7718425" cy="1717675"/>
          </a:xfrm>
          <a:prstGeom prst="rect">
            <a:avLst/>
          </a:prstGeom>
        </p:spPr>
        <p:txBody>
          <a:bodyPr vert="horz" wrap="square" lIns="0" tIns="58419" rIns="0" bIns="0" rtlCol="0">
            <a:spAutoFit/>
          </a:bodyPr>
          <a:lstStyle/>
          <a:p>
            <a:pPr marL="12700" marR="5080" algn="just">
              <a:lnSpc>
                <a:spcPct val="90000"/>
              </a:lnSpc>
              <a:spcBef>
                <a:spcPts val="460"/>
              </a:spcBef>
            </a:pPr>
            <a:r>
              <a:rPr sz="3000" spc="-5" dirty="0">
                <a:latin typeface="Calibri" panose="020F0502020204030204"/>
                <a:cs typeface="Calibri" panose="020F0502020204030204"/>
              </a:rPr>
              <a:t>The</a:t>
            </a:r>
            <a:r>
              <a:rPr sz="3000" spc="25" dirty="0">
                <a:latin typeface="Calibri" panose="020F0502020204030204"/>
                <a:cs typeface="Calibri" panose="020F0502020204030204"/>
              </a:rPr>
              <a:t> </a:t>
            </a:r>
            <a:r>
              <a:rPr sz="3000" spc="-5" dirty="0">
                <a:latin typeface="Calibri" panose="020F0502020204030204"/>
                <a:cs typeface="Calibri" panose="020F0502020204030204"/>
              </a:rPr>
              <a:t>dog</a:t>
            </a:r>
            <a:r>
              <a:rPr sz="3000" spc="45" dirty="0">
                <a:latin typeface="Calibri" panose="020F0502020204030204"/>
                <a:cs typeface="Calibri" panose="020F0502020204030204"/>
              </a:rPr>
              <a:t> </a:t>
            </a:r>
            <a:r>
              <a:rPr sz="3000" dirty="0">
                <a:latin typeface="Calibri" panose="020F0502020204030204"/>
                <a:cs typeface="Calibri" panose="020F0502020204030204"/>
              </a:rPr>
              <a:t>will</a:t>
            </a:r>
            <a:r>
              <a:rPr sz="3000" spc="30" dirty="0">
                <a:latin typeface="Calibri" panose="020F0502020204030204"/>
                <a:cs typeface="Calibri" panose="020F0502020204030204"/>
              </a:rPr>
              <a:t> </a:t>
            </a:r>
            <a:r>
              <a:rPr sz="3000" spc="-15" dirty="0">
                <a:latin typeface="Calibri" panose="020F0502020204030204"/>
                <a:cs typeface="Calibri" panose="020F0502020204030204"/>
              </a:rPr>
              <a:t>follow</a:t>
            </a:r>
            <a:r>
              <a:rPr sz="3000" spc="60" dirty="0">
                <a:latin typeface="Calibri" panose="020F0502020204030204"/>
                <a:cs typeface="Calibri" panose="020F0502020204030204"/>
              </a:rPr>
              <a:t> </a:t>
            </a:r>
            <a:r>
              <a:rPr sz="3000" dirty="0">
                <a:latin typeface="Calibri" panose="020F0502020204030204"/>
                <a:cs typeface="Calibri" panose="020F0502020204030204"/>
              </a:rPr>
              <a:t>a</a:t>
            </a:r>
            <a:r>
              <a:rPr sz="3000" spc="40" dirty="0">
                <a:latin typeface="Calibri" panose="020F0502020204030204"/>
                <a:cs typeface="Calibri" panose="020F0502020204030204"/>
              </a:rPr>
              <a:t> </a:t>
            </a:r>
            <a:r>
              <a:rPr sz="3000" spc="-5" dirty="0">
                <a:latin typeface="Calibri" panose="020F0502020204030204"/>
                <a:cs typeface="Calibri" panose="020F0502020204030204"/>
              </a:rPr>
              <a:t>policy</a:t>
            </a:r>
            <a:r>
              <a:rPr sz="3000" spc="45" dirty="0">
                <a:latin typeface="Calibri" panose="020F0502020204030204"/>
                <a:cs typeface="Calibri" panose="020F0502020204030204"/>
              </a:rPr>
              <a:t> </a:t>
            </a:r>
            <a:r>
              <a:rPr sz="3000" spc="-15" dirty="0">
                <a:latin typeface="Calibri" panose="020F0502020204030204"/>
                <a:cs typeface="Calibri" panose="020F0502020204030204"/>
              </a:rPr>
              <a:t>to</a:t>
            </a:r>
            <a:r>
              <a:rPr sz="3000" spc="25" dirty="0">
                <a:latin typeface="Calibri" panose="020F0502020204030204"/>
                <a:cs typeface="Calibri" panose="020F0502020204030204"/>
              </a:rPr>
              <a:t> </a:t>
            </a:r>
            <a:r>
              <a:rPr sz="3000" spc="-15" dirty="0">
                <a:latin typeface="Calibri" panose="020F0502020204030204"/>
                <a:cs typeface="Calibri" panose="020F0502020204030204"/>
              </a:rPr>
              <a:t>maximize</a:t>
            </a:r>
            <a:r>
              <a:rPr sz="3000" spc="45" dirty="0">
                <a:latin typeface="Calibri" panose="020F0502020204030204"/>
                <a:cs typeface="Calibri" panose="020F0502020204030204"/>
              </a:rPr>
              <a:t> </a:t>
            </a:r>
            <a:r>
              <a:rPr sz="3000" dirty="0">
                <a:latin typeface="Calibri" panose="020F0502020204030204"/>
                <a:cs typeface="Calibri" panose="020F0502020204030204"/>
              </a:rPr>
              <a:t>its </a:t>
            </a:r>
            <a:r>
              <a:rPr sz="3000" spc="5" dirty="0">
                <a:latin typeface="Calibri" panose="020F0502020204030204"/>
                <a:cs typeface="Calibri" panose="020F0502020204030204"/>
              </a:rPr>
              <a:t> </a:t>
            </a:r>
            <a:r>
              <a:rPr sz="3000" spc="-25" dirty="0">
                <a:latin typeface="Calibri" panose="020F0502020204030204"/>
                <a:cs typeface="Calibri" panose="020F0502020204030204"/>
              </a:rPr>
              <a:t>reward </a:t>
            </a:r>
            <a:r>
              <a:rPr sz="3000" dirty="0">
                <a:latin typeface="Calibri" panose="020F0502020204030204"/>
                <a:cs typeface="Calibri" panose="020F0502020204030204"/>
              </a:rPr>
              <a:t>and </a:t>
            </a:r>
            <a:r>
              <a:rPr sz="3000" spc="-5" dirty="0">
                <a:latin typeface="Calibri" panose="020F0502020204030204"/>
                <a:cs typeface="Calibri" panose="020F0502020204030204"/>
              </a:rPr>
              <a:t>hence </a:t>
            </a:r>
            <a:r>
              <a:rPr sz="3000" dirty="0">
                <a:latin typeface="Calibri" panose="020F0502020204030204"/>
                <a:cs typeface="Calibri" panose="020F0502020204030204"/>
              </a:rPr>
              <a:t>will </a:t>
            </a:r>
            <a:r>
              <a:rPr sz="3000" spc="-15" dirty="0">
                <a:latin typeface="Calibri" panose="020F0502020204030204"/>
                <a:cs typeface="Calibri" panose="020F0502020204030204"/>
              </a:rPr>
              <a:t>follow </a:t>
            </a:r>
            <a:r>
              <a:rPr sz="3000" spc="-10" dirty="0">
                <a:latin typeface="Calibri" panose="020F0502020204030204"/>
                <a:cs typeface="Calibri" panose="020F0502020204030204"/>
              </a:rPr>
              <a:t>every </a:t>
            </a:r>
            <a:r>
              <a:rPr sz="3000" spc="-5" dirty="0">
                <a:latin typeface="Calibri" panose="020F0502020204030204"/>
                <a:cs typeface="Calibri" panose="020F0502020204030204"/>
              </a:rPr>
              <a:t>command </a:t>
            </a:r>
            <a:r>
              <a:rPr sz="3000" dirty="0">
                <a:latin typeface="Calibri" panose="020F0502020204030204"/>
                <a:cs typeface="Calibri" panose="020F0502020204030204"/>
              </a:rPr>
              <a:t>and </a:t>
            </a:r>
            <a:r>
              <a:rPr sz="3000" spc="-665" dirty="0">
                <a:latin typeface="Calibri" panose="020F0502020204030204"/>
                <a:cs typeface="Calibri" panose="020F0502020204030204"/>
              </a:rPr>
              <a:t> </a:t>
            </a:r>
            <a:r>
              <a:rPr sz="3000" spc="-10" dirty="0">
                <a:latin typeface="Calibri" panose="020F0502020204030204"/>
                <a:cs typeface="Calibri" panose="020F0502020204030204"/>
              </a:rPr>
              <a:t>might</a:t>
            </a:r>
            <a:r>
              <a:rPr sz="3000" spc="-15" dirty="0">
                <a:latin typeface="Calibri" panose="020F0502020204030204"/>
                <a:cs typeface="Calibri" panose="020F0502020204030204"/>
              </a:rPr>
              <a:t> even </a:t>
            </a:r>
            <a:r>
              <a:rPr sz="3000" spc="-5" dirty="0">
                <a:latin typeface="Calibri" panose="020F0502020204030204"/>
                <a:cs typeface="Calibri" panose="020F0502020204030204"/>
              </a:rPr>
              <a:t>learn </a:t>
            </a:r>
            <a:r>
              <a:rPr sz="3000" dirty="0">
                <a:latin typeface="Calibri" panose="020F0502020204030204"/>
                <a:cs typeface="Calibri" panose="020F0502020204030204"/>
              </a:rPr>
              <a:t>a</a:t>
            </a:r>
            <a:r>
              <a:rPr sz="3000" spc="5" dirty="0">
                <a:latin typeface="Calibri" panose="020F0502020204030204"/>
                <a:cs typeface="Calibri" panose="020F0502020204030204"/>
              </a:rPr>
              <a:t> </a:t>
            </a:r>
            <a:r>
              <a:rPr sz="3000" spc="-15" dirty="0">
                <a:latin typeface="Calibri" panose="020F0502020204030204"/>
                <a:cs typeface="Calibri" panose="020F0502020204030204"/>
              </a:rPr>
              <a:t>new</a:t>
            </a:r>
            <a:r>
              <a:rPr sz="3000" dirty="0">
                <a:latin typeface="Calibri" panose="020F0502020204030204"/>
                <a:cs typeface="Calibri" panose="020F0502020204030204"/>
              </a:rPr>
              <a:t> action,</a:t>
            </a:r>
            <a:r>
              <a:rPr sz="3000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sz="3000" spc="-30" dirty="0">
                <a:latin typeface="Calibri" panose="020F0502020204030204"/>
                <a:cs typeface="Calibri" panose="020F0502020204030204"/>
              </a:rPr>
              <a:t>like</a:t>
            </a:r>
            <a:r>
              <a:rPr sz="3000" spc="-10" dirty="0">
                <a:latin typeface="Calibri" panose="020F0502020204030204"/>
                <a:cs typeface="Calibri" panose="020F0502020204030204"/>
              </a:rPr>
              <a:t> </a:t>
            </a:r>
            <a:r>
              <a:rPr sz="3000" dirty="0">
                <a:latin typeface="Calibri" panose="020F0502020204030204"/>
                <a:cs typeface="Calibri" panose="020F0502020204030204"/>
              </a:rPr>
              <a:t>begging, all</a:t>
            </a:r>
            <a:r>
              <a:rPr sz="3000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sz="3000" spc="-10" dirty="0">
                <a:latin typeface="Calibri" panose="020F0502020204030204"/>
                <a:cs typeface="Calibri" panose="020F0502020204030204"/>
              </a:rPr>
              <a:t>by </a:t>
            </a:r>
            <a:r>
              <a:rPr sz="3000" spc="-665" dirty="0">
                <a:latin typeface="Calibri" panose="020F0502020204030204"/>
                <a:cs typeface="Calibri" panose="020F0502020204030204"/>
              </a:rPr>
              <a:t> </a:t>
            </a:r>
            <a:r>
              <a:rPr sz="3000" spc="-35" dirty="0">
                <a:latin typeface="Calibri" panose="020F0502020204030204"/>
                <a:cs typeface="Calibri" panose="020F0502020204030204"/>
              </a:rPr>
              <a:t>itself.</a:t>
            </a:r>
            <a:endParaRPr sz="3000">
              <a:latin typeface="Calibri" panose="020F0502020204030204"/>
              <a:cs typeface="Calibri" panose="020F0502020204030204"/>
            </a:endParaRPr>
          </a:p>
        </p:txBody>
      </p:sp>
      <p:pic>
        <p:nvPicPr>
          <p:cNvPr id="3" name="object 3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0" y="2566416"/>
            <a:ext cx="9143999" cy="2814827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2685414" y="1988947"/>
            <a:ext cx="3597275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b="1" dirty="0">
                <a:solidFill>
                  <a:srgbClr val="00AF50"/>
                </a:solidFill>
                <a:latin typeface="Calibri" panose="020F0502020204030204"/>
                <a:cs typeface="Calibri" panose="020F0502020204030204"/>
              </a:rPr>
              <a:t>Learning</a:t>
            </a:r>
            <a:r>
              <a:rPr sz="3200" b="1" spc="-60" dirty="0">
                <a:solidFill>
                  <a:srgbClr val="00AF5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3200" b="1" spc="-5" dirty="0">
                <a:solidFill>
                  <a:srgbClr val="00AF50"/>
                </a:solidFill>
                <a:latin typeface="Calibri" panose="020F0502020204030204"/>
                <a:cs typeface="Calibri" panose="020F0502020204030204"/>
              </a:rPr>
              <a:t>new</a:t>
            </a:r>
            <a:r>
              <a:rPr sz="3200" b="1" spc="-35" dirty="0">
                <a:solidFill>
                  <a:srgbClr val="00AF5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3200" b="1" dirty="0">
                <a:solidFill>
                  <a:srgbClr val="00AF50"/>
                </a:solidFill>
                <a:latin typeface="Calibri" panose="020F0502020204030204"/>
                <a:cs typeface="Calibri" panose="020F0502020204030204"/>
              </a:rPr>
              <a:t>actions</a:t>
            </a:r>
            <a:endParaRPr sz="3200">
              <a:latin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5940" y="136016"/>
            <a:ext cx="7807959" cy="1708785"/>
          </a:xfrm>
          <a:prstGeom prst="rect">
            <a:avLst/>
          </a:prstGeom>
        </p:spPr>
        <p:txBody>
          <a:bodyPr vert="horz" wrap="square" lIns="0" tIns="48895" rIns="0" bIns="0" rtlCol="0">
            <a:spAutoFit/>
          </a:bodyPr>
          <a:lstStyle/>
          <a:p>
            <a:pPr marL="12700" marR="5080" algn="just">
              <a:lnSpc>
                <a:spcPct val="90000"/>
              </a:lnSpc>
              <a:spcBef>
                <a:spcPts val="385"/>
              </a:spcBef>
            </a:pPr>
            <a:r>
              <a:rPr sz="2400" spc="-5" dirty="0">
                <a:latin typeface="Calibri" panose="020F0502020204030204"/>
                <a:cs typeface="Calibri" panose="020F0502020204030204"/>
              </a:rPr>
              <a:t>The dog </a:t>
            </a:r>
            <a:r>
              <a:rPr sz="2400" dirty="0">
                <a:latin typeface="Calibri" panose="020F0502020204030204"/>
                <a:cs typeface="Calibri" panose="020F0502020204030204"/>
              </a:rPr>
              <a:t>will also </a:t>
            </a:r>
            <a:r>
              <a:rPr sz="2400" spc="-15" dirty="0">
                <a:latin typeface="Calibri" panose="020F0502020204030204"/>
                <a:cs typeface="Calibri" panose="020F0502020204030204"/>
              </a:rPr>
              <a:t>want to </a:t>
            </a:r>
            <a:r>
              <a:rPr sz="2400" dirty="0">
                <a:latin typeface="Calibri" panose="020F0502020204030204"/>
                <a:cs typeface="Calibri" panose="020F0502020204030204"/>
              </a:rPr>
              <a:t>run </a:t>
            </a:r>
            <a:r>
              <a:rPr sz="2400" spc="-10" dirty="0">
                <a:latin typeface="Calibri" panose="020F0502020204030204"/>
                <a:cs typeface="Calibri" panose="020F0502020204030204"/>
              </a:rPr>
              <a:t>around </a:t>
            </a:r>
            <a:r>
              <a:rPr sz="2400" dirty="0">
                <a:latin typeface="Calibri" panose="020F0502020204030204"/>
                <a:cs typeface="Calibri" panose="020F0502020204030204"/>
              </a:rPr>
              <a:t>and </a:t>
            </a:r>
            <a:r>
              <a:rPr sz="2400" spc="-15" dirty="0">
                <a:latin typeface="Calibri" panose="020F0502020204030204"/>
                <a:cs typeface="Calibri" panose="020F0502020204030204"/>
              </a:rPr>
              <a:t>play </a:t>
            </a:r>
            <a:r>
              <a:rPr sz="2400" dirty="0">
                <a:latin typeface="Calibri" panose="020F0502020204030204"/>
                <a:cs typeface="Calibri" panose="020F0502020204030204"/>
              </a:rPr>
              <a:t>and </a:t>
            </a:r>
            <a:r>
              <a:rPr sz="2400" spc="-15" dirty="0">
                <a:latin typeface="Calibri" panose="020F0502020204030204"/>
                <a:cs typeface="Calibri" panose="020F0502020204030204"/>
              </a:rPr>
              <a:t>explore </a:t>
            </a:r>
            <a:r>
              <a:rPr sz="2400" dirty="0">
                <a:latin typeface="Calibri" panose="020F0502020204030204"/>
                <a:cs typeface="Calibri" panose="020F0502020204030204"/>
              </a:rPr>
              <a:t>its </a:t>
            </a:r>
            <a:r>
              <a:rPr sz="2400" spc="5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spc="-10" dirty="0">
                <a:latin typeface="Calibri" panose="020F0502020204030204"/>
                <a:cs typeface="Calibri" panose="020F0502020204030204"/>
              </a:rPr>
              <a:t>environment. This </a:t>
            </a:r>
            <a:r>
              <a:rPr sz="2400" spc="-5" dirty="0">
                <a:latin typeface="Calibri" panose="020F0502020204030204"/>
                <a:cs typeface="Calibri" panose="020F0502020204030204"/>
              </a:rPr>
              <a:t>quality of </a:t>
            </a:r>
            <a:r>
              <a:rPr sz="2400" dirty="0">
                <a:latin typeface="Calibri" panose="020F0502020204030204"/>
                <a:cs typeface="Calibri" panose="020F0502020204030204"/>
              </a:rPr>
              <a:t>a model is </a:t>
            </a:r>
            <a:r>
              <a:rPr sz="2400" spc="-5" dirty="0">
                <a:latin typeface="Calibri" panose="020F0502020204030204"/>
                <a:cs typeface="Calibri" panose="020F0502020204030204"/>
              </a:rPr>
              <a:t>called </a:t>
            </a:r>
            <a:r>
              <a:rPr sz="2400" spc="-10" dirty="0">
                <a:latin typeface="Calibri" panose="020F0502020204030204"/>
                <a:cs typeface="Calibri" panose="020F0502020204030204"/>
              </a:rPr>
              <a:t>Exploration. </a:t>
            </a:r>
            <a:r>
              <a:rPr sz="2400" spc="-5" dirty="0">
                <a:latin typeface="Calibri" panose="020F0502020204030204"/>
                <a:cs typeface="Calibri" panose="020F0502020204030204"/>
              </a:rPr>
              <a:t>The </a:t>
            </a:r>
            <a:r>
              <a:rPr sz="2400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spc="-5" dirty="0">
                <a:latin typeface="Calibri" panose="020F0502020204030204"/>
                <a:cs typeface="Calibri" panose="020F0502020204030204"/>
              </a:rPr>
              <a:t>tendency of </a:t>
            </a:r>
            <a:r>
              <a:rPr sz="2400" dirty="0">
                <a:latin typeface="Calibri" panose="020F0502020204030204"/>
                <a:cs typeface="Calibri" panose="020F0502020204030204"/>
              </a:rPr>
              <a:t>the</a:t>
            </a:r>
            <a:r>
              <a:rPr sz="2400" spc="5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spc="-5" dirty="0">
                <a:latin typeface="Calibri" panose="020F0502020204030204"/>
                <a:cs typeface="Calibri" panose="020F0502020204030204"/>
              </a:rPr>
              <a:t>dog</a:t>
            </a:r>
            <a:r>
              <a:rPr sz="2400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spc="-20" dirty="0">
                <a:latin typeface="Calibri" panose="020F0502020204030204"/>
                <a:cs typeface="Calibri" panose="020F0502020204030204"/>
              </a:rPr>
              <a:t>to</a:t>
            </a:r>
            <a:r>
              <a:rPr sz="2400" spc="-5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spc="-15" dirty="0">
                <a:latin typeface="Calibri" panose="020F0502020204030204"/>
                <a:cs typeface="Calibri" panose="020F0502020204030204"/>
              </a:rPr>
              <a:t>maximize</a:t>
            </a:r>
            <a:r>
              <a:rPr sz="2400" spc="-30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spc="-20" dirty="0">
                <a:latin typeface="Calibri" panose="020F0502020204030204"/>
                <a:cs typeface="Calibri" panose="020F0502020204030204"/>
              </a:rPr>
              <a:t>rewards</a:t>
            </a:r>
            <a:r>
              <a:rPr sz="2400" dirty="0">
                <a:latin typeface="Calibri" panose="020F0502020204030204"/>
                <a:cs typeface="Calibri" panose="020F0502020204030204"/>
              </a:rPr>
              <a:t> is</a:t>
            </a:r>
            <a:r>
              <a:rPr sz="2400" spc="-20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spc="-5" dirty="0">
                <a:latin typeface="Calibri" panose="020F0502020204030204"/>
                <a:cs typeface="Calibri" panose="020F0502020204030204"/>
              </a:rPr>
              <a:t>called</a:t>
            </a:r>
            <a:r>
              <a:rPr sz="2400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spc="-10" dirty="0">
                <a:latin typeface="Calibri" panose="020F0502020204030204"/>
                <a:cs typeface="Calibri" panose="020F0502020204030204"/>
              </a:rPr>
              <a:t>Exploitation. </a:t>
            </a:r>
            <a:r>
              <a:rPr sz="2400" spc="-525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spc="-10" dirty="0">
                <a:latin typeface="Calibri" panose="020F0502020204030204"/>
                <a:cs typeface="Calibri" panose="020F0502020204030204"/>
              </a:rPr>
              <a:t>There</a:t>
            </a:r>
            <a:r>
              <a:rPr sz="2400" spc="10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dirty="0">
                <a:latin typeface="Calibri" panose="020F0502020204030204"/>
                <a:cs typeface="Calibri" panose="020F0502020204030204"/>
              </a:rPr>
              <a:t>is </a:t>
            </a:r>
            <a:r>
              <a:rPr sz="2400" spc="-20" dirty="0">
                <a:latin typeface="Calibri" panose="020F0502020204030204"/>
                <a:cs typeface="Calibri" panose="020F0502020204030204"/>
              </a:rPr>
              <a:t>always </a:t>
            </a:r>
            <a:r>
              <a:rPr sz="2400" dirty="0">
                <a:latin typeface="Calibri" panose="020F0502020204030204"/>
                <a:cs typeface="Calibri" panose="020F0502020204030204"/>
              </a:rPr>
              <a:t>a</a:t>
            </a:r>
            <a:r>
              <a:rPr sz="2400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spc="-10" dirty="0">
                <a:latin typeface="Calibri" panose="020F0502020204030204"/>
                <a:cs typeface="Calibri" panose="020F0502020204030204"/>
              </a:rPr>
              <a:t>tradeoff</a:t>
            </a:r>
            <a:r>
              <a:rPr sz="2400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spc="-10" dirty="0">
                <a:latin typeface="Calibri" panose="020F0502020204030204"/>
                <a:cs typeface="Calibri" panose="020F0502020204030204"/>
              </a:rPr>
              <a:t>between</a:t>
            </a:r>
            <a:r>
              <a:rPr sz="2400" spc="-5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spc="-15" dirty="0">
                <a:latin typeface="Calibri" panose="020F0502020204030204"/>
                <a:cs typeface="Calibri" panose="020F0502020204030204"/>
              </a:rPr>
              <a:t>exploration</a:t>
            </a:r>
            <a:r>
              <a:rPr sz="2400" spc="-20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dirty="0">
                <a:latin typeface="Calibri" panose="020F0502020204030204"/>
                <a:cs typeface="Calibri" panose="020F0502020204030204"/>
              </a:rPr>
              <a:t>and </a:t>
            </a:r>
            <a:r>
              <a:rPr sz="2400" spc="5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spc="-10" dirty="0">
                <a:latin typeface="Calibri" panose="020F0502020204030204"/>
                <a:cs typeface="Calibri" panose="020F0502020204030204"/>
              </a:rPr>
              <a:t>exploitation,</a:t>
            </a:r>
            <a:r>
              <a:rPr sz="2400" spc="-40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dirty="0">
                <a:latin typeface="Calibri" panose="020F0502020204030204"/>
                <a:cs typeface="Calibri" panose="020F0502020204030204"/>
              </a:rPr>
              <a:t>as</a:t>
            </a:r>
            <a:r>
              <a:rPr sz="2400" spc="-10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spc="-15" dirty="0">
                <a:latin typeface="Calibri" panose="020F0502020204030204"/>
                <a:cs typeface="Calibri" panose="020F0502020204030204"/>
              </a:rPr>
              <a:t>exploration</a:t>
            </a:r>
            <a:r>
              <a:rPr sz="2400" spc="-25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dirty="0">
                <a:latin typeface="Calibri" panose="020F0502020204030204"/>
                <a:cs typeface="Calibri" panose="020F0502020204030204"/>
              </a:rPr>
              <a:t>actions</a:t>
            </a:r>
            <a:r>
              <a:rPr sz="2400" spc="-30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spc="-15" dirty="0">
                <a:latin typeface="Calibri" panose="020F0502020204030204"/>
                <a:cs typeface="Calibri" panose="020F0502020204030204"/>
              </a:rPr>
              <a:t>may </a:t>
            </a:r>
            <a:r>
              <a:rPr sz="2400" dirty="0">
                <a:latin typeface="Calibri" panose="020F0502020204030204"/>
                <a:cs typeface="Calibri" panose="020F0502020204030204"/>
              </a:rPr>
              <a:t>lead</a:t>
            </a:r>
            <a:r>
              <a:rPr sz="2400" spc="-10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spc="-15" dirty="0">
                <a:latin typeface="Calibri" panose="020F0502020204030204"/>
                <a:cs typeface="Calibri" panose="020F0502020204030204"/>
              </a:rPr>
              <a:t>to </a:t>
            </a:r>
            <a:r>
              <a:rPr sz="2400" dirty="0">
                <a:latin typeface="Calibri" panose="020F0502020204030204"/>
                <a:cs typeface="Calibri" panose="020F0502020204030204"/>
              </a:rPr>
              <a:t>lesser</a:t>
            </a:r>
            <a:r>
              <a:rPr sz="2400" spc="-15" dirty="0">
                <a:latin typeface="Calibri" panose="020F0502020204030204"/>
                <a:cs typeface="Calibri" panose="020F0502020204030204"/>
              </a:rPr>
              <a:t> rewards.</a:t>
            </a:r>
            <a:endParaRPr sz="2400">
              <a:latin typeface="Calibri" panose="020F0502020204030204"/>
              <a:cs typeface="Calibri" panose="020F0502020204030204"/>
            </a:endParaRPr>
          </a:p>
        </p:txBody>
      </p:sp>
      <p:pic>
        <p:nvPicPr>
          <p:cNvPr id="3" name="object 3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0" y="2980944"/>
            <a:ext cx="9143999" cy="3038855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2898775" y="2372994"/>
            <a:ext cx="396176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spc="-10" dirty="0">
                <a:solidFill>
                  <a:srgbClr val="00AF50"/>
                </a:solidFill>
                <a:latin typeface="Calibri" panose="020F0502020204030204"/>
                <a:cs typeface="Calibri" panose="020F0502020204030204"/>
              </a:rPr>
              <a:t>Exploration</a:t>
            </a:r>
            <a:r>
              <a:rPr sz="2800" b="1" spc="-30" dirty="0">
                <a:solidFill>
                  <a:srgbClr val="00AF5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800" b="1" spc="-5" dirty="0">
                <a:solidFill>
                  <a:srgbClr val="00AF50"/>
                </a:solidFill>
                <a:latin typeface="Calibri" panose="020F0502020204030204"/>
                <a:cs typeface="Calibri" panose="020F0502020204030204"/>
              </a:rPr>
              <a:t>vs</a:t>
            </a:r>
            <a:r>
              <a:rPr sz="2800" b="1" spc="-20" dirty="0">
                <a:solidFill>
                  <a:srgbClr val="00AF5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800" b="1" spc="-10" dirty="0">
                <a:solidFill>
                  <a:srgbClr val="00AF50"/>
                </a:solidFill>
                <a:latin typeface="Calibri" panose="020F0502020204030204"/>
                <a:cs typeface="Calibri" panose="020F0502020204030204"/>
              </a:rPr>
              <a:t>Exploitation</a:t>
            </a:r>
            <a:endParaRPr sz="2800">
              <a:latin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17369</Words>
  <Application>WPS Presentation</Application>
  <PresentationFormat>On-screen Show (4:3)</PresentationFormat>
  <Paragraphs>361</Paragraphs>
  <Slides>49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49</vt:i4>
      </vt:variant>
    </vt:vector>
  </HeadingPairs>
  <TitlesOfParts>
    <vt:vector size="60" baseType="lpstr">
      <vt:lpstr>Arial</vt:lpstr>
      <vt:lpstr>SimSun</vt:lpstr>
      <vt:lpstr>Wingdings</vt:lpstr>
      <vt:lpstr>Calibri</vt:lpstr>
      <vt:lpstr>Arial MT</vt:lpstr>
      <vt:lpstr>Microsoft YaHei</vt:lpstr>
      <vt:lpstr>Arial Unicode MS</vt:lpstr>
      <vt:lpstr>Cambria Math</vt:lpstr>
      <vt:lpstr>Trebuchet MS</vt:lpstr>
      <vt:lpstr>Lucida Console</vt:lpstr>
      <vt:lpstr>Office Theme</vt:lpstr>
      <vt:lpstr>Introduction to Machine Learning</vt:lpstr>
      <vt:lpstr>Syllabus</vt:lpstr>
      <vt:lpstr>Syllabus</vt:lpstr>
      <vt:lpstr>Syllabus</vt:lpstr>
      <vt:lpstr>BOOKS</vt:lpstr>
      <vt:lpstr>Outline</vt:lpstr>
      <vt:lpstr>Programs vs learning algorithms</vt:lpstr>
      <vt:lpstr>Machine Learning : Definition</vt:lpstr>
      <vt:lpstr>Machine Learning : Definition</vt:lpstr>
      <vt:lpstr>Why use Machine Learning?</vt:lpstr>
      <vt:lpstr>Why use Machine Learning?</vt:lpstr>
      <vt:lpstr>The traditional approach</vt:lpstr>
      <vt:lpstr>Why use Machine Learning?</vt:lpstr>
      <vt:lpstr>The Machine Learning Approach</vt:lpstr>
      <vt:lpstr>Machine Learning</vt:lpstr>
      <vt:lpstr>Machine Learning</vt:lpstr>
      <vt:lpstr>ML is useful for problems that either are too  complex for traditional approaches or have  no known algorithm</vt:lpstr>
      <vt:lpstr>ML can help humans learn</vt:lpstr>
      <vt:lpstr>ML can help humans learn</vt:lpstr>
      <vt:lpstr>Why and where to use ML?</vt:lpstr>
      <vt:lpstr>Applications of Machine Learning</vt:lpstr>
      <vt:lpstr>Applications of Machine Learning</vt:lpstr>
      <vt:lpstr>Applications of Machine Learning</vt:lpstr>
      <vt:lpstr>Applications of Machine Learning</vt:lpstr>
      <vt:lpstr>Broad types of Machine Learning</vt:lpstr>
      <vt:lpstr>Supervised Learning</vt:lpstr>
      <vt:lpstr>Supervised Learning</vt:lpstr>
      <vt:lpstr>Classification</vt:lpstr>
      <vt:lpstr>Regression</vt:lpstr>
      <vt:lpstr>Most Important Supervised                                                                                                                                                                                                                                                   L  earning Algorithms</vt:lpstr>
      <vt:lpstr>Unsupervised Learning</vt:lpstr>
      <vt:lpstr>most important unsupervised  learning algorithms</vt:lpstr>
      <vt:lpstr>Unsupervised learning  algorithms: Clustering</vt:lpstr>
      <vt:lpstr>Clustering algorithm</vt:lpstr>
      <vt:lpstr>Unsupervised learning algorithms:  Visualization algorithms</vt:lpstr>
      <vt:lpstr>Visualization algorithms</vt:lpstr>
      <vt:lpstr>Unsupervised learning algorithms:  Dimensionality reduction</vt:lpstr>
      <vt:lpstr>Unsupervised learning algorithms:  anomaly detection</vt:lpstr>
      <vt:lpstr>anomaly detection</vt:lpstr>
      <vt:lpstr>Unsupervised learning algorithms:  association rule learning</vt:lpstr>
      <vt:lpstr>Semi-supervised learning</vt:lpstr>
      <vt:lpstr>Semi-supervised learning</vt:lpstr>
      <vt:lpstr>Semi-supervised learning</vt:lpstr>
      <vt:lpstr>Reinforcement Learning-Need</vt:lpstr>
      <vt:lpstr>Reinforcement Learning</vt:lpstr>
      <vt:lpstr>Consider a dog that we have to house train. Here,  the dog is the agent and the house, the  environment.</vt:lpstr>
      <vt:lpstr>We can get the dog to perform various actions by  offering incentives such as dog biscuits as a  reward.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Machine Learning</dc:title>
  <dc:creator>Dr Kavita Pabreja</dc:creator>
  <cp:lastModifiedBy>tarunim sharma</cp:lastModifiedBy>
  <cp:revision>17</cp:revision>
  <dcterms:created xsi:type="dcterms:W3CDTF">2024-08-17T10:59:00Z</dcterms:created>
  <dcterms:modified xsi:type="dcterms:W3CDTF">2024-08-20T09:02:46Z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2023-09-25T22:00:00Z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2024-08-17T22:00:00Z</vt:filetime>
  </property>
  <property fmtid="{D5CDD505-2E9C-101B-9397-08002B2CF9AE}" pid="5" name="ICV">
    <vt:lpwstr>AB2BE36383424042B4500D5FDE57E31B_13</vt:lpwstr>
  </property>
  <property fmtid="{D5CDD505-2E9C-101B-9397-08002B2CF9AE}" pid="6" name="KSOProductBuildVer">
    <vt:lpwstr>1033-12.2.0.17562</vt:lpwstr>
  </property>
</Properties>
</file>